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83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9"/>
  </p:normalViewPr>
  <p:slideViewPr>
    <p:cSldViewPr snapToGrid="0">
      <p:cViewPr varScale="1">
        <p:scale>
          <a:sx n="167" d="100"/>
          <a:sy n="167" d="100"/>
        </p:scale>
        <p:origin x="15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prototípus ESP32 és DS18B20 szenzorokra épült. A rézcső és a gyógyszeres doboz csillapította a gyors reakciót, de a szenzor továbbra is túl erősen követte a helyi légáramlatokat. A lakótéri megjelenést a rendszer használója nem fogadta el. A képek a projekt saját fotói: images/DS18B20.jpeg és images/ESP32-panel.jpeg.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75D24-6EA4-A559-0818-98D5EC3ED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55CFFB-BEE5-A988-1DBA-A6F866D83A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58F378-AC68-A034-DBEB-A6BC1A2F43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81965E-6378-FDA2-3844-15626F9A491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631514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C610D3-A8A5-4FDB-9653-0B65678C21CE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6673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35B"/>
                </a:solidFill>
                <a:latin typeface="Aptos"/>
                <a:ea typeface="Aptos"/>
                <a:cs typeface="Aptos"/>
              </a:rPr>
              <a:t>EMBER × AI × ENERGIA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D690D5-1567-4EA7-AD61-8EF85DE02CAD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8763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405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Amikor az AI nem asszisztens,</a:t>
            </a:r>
          </a:p>
          <a:p>
            <a:pPr algn="l">
              <a:buNone/>
              <a:defRPr sz="405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hanem projektpartner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95D2FD-3817-4224-B874-37198B786734}"/>
              </a:ext>
            </a:extLst>
          </p:cNvPr>
          <p:cNvSpPr>
            <a:spLocks noGrp="1"/>
          </p:cNvSpPr>
          <p:nvPr/>
        </p:nvSpPr>
        <p:spPr>
          <a:xfrm>
            <a:off x="685800" y="3543300"/>
            <a:ext cx="6191250" cy="76200"/>
          </a:xfrm>
          <a:prstGeom prst="rect">
            <a:avLst/>
          </a:prstGeom>
          <a:solidFill>
            <a:srgbClr val="F2B70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A85EC4-2CC4-47D7-9902-C9D4320EF11A}"/>
              </a:ext>
            </a:extLst>
          </p:cNvPr>
          <p:cNvSpPr>
            <a:spLocks noGrp="1"/>
          </p:cNvSpPr>
          <p:nvPr/>
        </p:nvSpPr>
        <p:spPr>
          <a:xfrm>
            <a:off x="685800" y="3810000"/>
            <a:ext cx="7715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0">
                <a:solidFill>
                  <a:srgbClr val="6E716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Egy komplex otthoni energiaoptimalizálási projekt története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11298A-32A9-4CE6-A2D1-7937903B4EFA}"/>
              </a:ext>
            </a:extLst>
          </p:cNvPr>
          <p:cNvSpPr>
            <a:spLocks noGrp="1"/>
          </p:cNvSpPr>
          <p:nvPr/>
        </p:nvSpPr>
        <p:spPr>
          <a:xfrm>
            <a:off x="685800" y="59626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6673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35B"/>
                </a:solidFill>
                <a:latin typeface="Aptos"/>
                <a:ea typeface="Aptos"/>
                <a:cs typeface="Aptos"/>
              </a:rPr>
              <a:t>Peter Bajan  ·  business analyst közösség  ·  2026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1F903C8-BDA3-4E1D-A8A0-FAF9FE0FEFC9}"/>
              </a:ext>
            </a:extLst>
          </p:cNvPr>
          <p:cNvSpPr>
            <a:spLocks noGrp="1"/>
          </p:cNvSpPr>
          <p:nvPr/>
        </p:nvSpPr>
        <p:spPr>
          <a:xfrm>
            <a:off x="9667875" y="1952625"/>
            <a:ext cx="895350" cy="895350"/>
          </a:xfrm>
          <a:prstGeom prst="ellipse">
            <a:avLst/>
          </a:prstGeom>
          <a:solidFill>
            <a:srgbClr val="292A26"/>
          </a:solidFill>
          <a:ln w="0">
            <a:solidFill>
              <a:srgbClr val="292A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14E47D2-3C19-4F9F-AA82-824E6866B194}"/>
              </a:ext>
            </a:extLst>
          </p:cNvPr>
          <p:cNvSpPr>
            <a:spLocks noGrp="1"/>
          </p:cNvSpPr>
          <p:nvPr/>
        </p:nvSpPr>
        <p:spPr>
          <a:xfrm>
            <a:off x="10334625" y="2619375"/>
            <a:ext cx="895350" cy="895350"/>
          </a:xfrm>
          <a:prstGeom prst="ellipse">
            <a:avLst/>
          </a:prstGeom>
          <a:solidFill>
            <a:srgbClr val="F2B705"/>
          </a:solidFill>
          <a:ln w="0">
            <a:solidFill>
              <a:srgbClr val="F2B705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25" name="Straight Arrow Connector 7"/>
          <p:cNvCxnSpPr>
            <a:stCxn id="6" idx="4"/>
            <a:endCxn id="7" idx="0"/>
          </p:cNvCxnSpPr>
          <p:nvPr/>
        </p:nvCxnSpPr>
        <p:spPr>
          <a:xfrm flipV="1">
            <a:off x="10115550" y="2619375"/>
            <a:ext cx="666750" cy="228600"/>
          </a:xfrm>
          <a:prstGeom prst="straightConnector1">
            <a:avLst/>
          </a:prstGeom>
          <a:ln w="19050">
            <a:solidFill>
              <a:srgbClr val="C96845"/>
            </a:solidFill>
            <a:prstDash val="soli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888145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48CAD253-B0DD-457D-8976-7A5DA16F7DD7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6673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35B"/>
                </a:solidFill>
                <a:latin typeface="Aptos"/>
                <a:ea typeface="Aptos"/>
                <a:cs typeface="Aptos"/>
              </a:rPr>
              <a:t>MIÉRT INDULT EL?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8D5812-5B38-4890-9B51-2F3A3E36F12D}"/>
              </a:ext>
            </a:extLst>
          </p:cNvPr>
          <p:cNvSpPr>
            <a:spLocks noGrp="1"/>
          </p:cNvSpPr>
          <p:nvPr/>
        </p:nvSpPr>
        <p:spPr>
          <a:xfrm>
            <a:off x="11144250" y="36195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6E716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E716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1F61A6-D1C4-462C-83BC-A3FCEC661202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Az energiaköltség egyre inkább kezelendő kockázat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94A202-42A5-4250-8BE9-0368FFF0C0A2}"/>
              </a:ext>
            </a:extLst>
          </p:cNvPr>
          <p:cNvSpPr>
            <a:spLocks noGrp="1"/>
          </p:cNvSpPr>
          <p:nvPr/>
        </p:nvSpPr>
        <p:spPr>
          <a:xfrm>
            <a:off x="8858250" y="40005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C9684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6845"/>
                </a:solidFill>
                <a:latin typeface="Aptos"/>
                <a:ea typeface="Aptos"/>
                <a:cs typeface="Aptos"/>
              </a:rPr>
              <a:t>PROJEKTFELTEVÉSEK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7ADA4E-F14D-4E57-BA22-CE2DF0836CCC}"/>
              </a:ext>
            </a:extLst>
          </p:cNvPr>
          <p:cNvSpPr>
            <a:spLocks noGrp="1"/>
          </p:cNvSpPr>
          <p:nvPr/>
        </p:nvSpPr>
        <p:spPr>
          <a:xfrm>
            <a:off x="8724900" y="571500"/>
            <a:ext cx="2419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825" b="0">
                <a:solidFill>
                  <a:srgbClr val="6E716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nem biztos előrejelzések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DC85A0-FB6B-4B83-8F75-9BA775F4225F}"/>
              </a:ext>
            </a:extLst>
          </p:cNvPr>
          <p:cNvSpPr>
            <a:spLocks noGrp="1"/>
          </p:cNvSpPr>
          <p:nvPr/>
        </p:nvSpPr>
        <p:spPr>
          <a:xfrm>
            <a:off x="723900" y="2038350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F2B705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2B705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E9027D-6455-4422-8BFF-08D5BC5818B4}"/>
              </a:ext>
            </a:extLst>
          </p:cNvPr>
          <p:cNvSpPr>
            <a:spLocks noGrp="1"/>
          </p:cNvSpPr>
          <p:nvPr/>
        </p:nvSpPr>
        <p:spPr>
          <a:xfrm>
            <a:off x="1428750" y="2105025"/>
            <a:ext cx="19050" cy="609600"/>
          </a:xfrm>
          <a:prstGeom prst="rect">
            <a:avLst/>
          </a:prstGeom>
          <a:solidFill>
            <a:srgbClr val="C9C2B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1B9406-DB3E-40FC-B691-4A044AA2697A}"/>
              </a:ext>
            </a:extLst>
          </p:cNvPr>
          <p:cNvSpPr>
            <a:spLocks noGrp="1"/>
          </p:cNvSpPr>
          <p:nvPr/>
        </p:nvSpPr>
        <p:spPr>
          <a:xfrm>
            <a:off x="1752600" y="203835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Geopolitikai kitettség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FA3BA7-C12F-4C2A-AAFB-AB160202B4F4}"/>
              </a:ext>
            </a:extLst>
          </p:cNvPr>
          <p:cNvSpPr>
            <a:spLocks noGrp="1"/>
          </p:cNvSpPr>
          <p:nvPr/>
        </p:nvSpPr>
        <p:spPr>
          <a:xfrm>
            <a:off x="5715000" y="2038350"/>
            <a:ext cx="5219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E716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Az energiaellátás és az árak külső sokkokra érzékenyek.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915209-BF8B-4BBE-854B-60656732DBD9}"/>
              </a:ext>
            </a:extLst>
          </p:cNvPr>
          <p:cNvSpPr>
            <a:spLocks noGrp="1"/>
          </p:cNvSpPr>
          <p:nvPr/>
        </p:nvSpPr>
        <p:spPr>
          <a:xfrm>
            <a:off x="1752600" y="2705100"/>
            <a:ext cx="9182100" cy="9525"/>
          </a:xfrm>
          <a:prstGeom prst="rect">
            <a:avLst/>
          </a:prstGeom>
          <a:solidFill>
            <a:srgbClr val="C9C2B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FBDE1D-7517-47CA-96F7-73211172C939}"/>
              </a:ext>
            </a:extLst>
          </p:cNvPr>
          <p:cNvSpPr>
            <a:spLocks noGrp="1"/>
          </p:cNvSpPr>
          <p:nvPr/>
        </p:nvSpPr>
        <p:spPr>
          <a:xfrm>
            <a:off x="723900" y="3028950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F2B705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2B705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A2130C-BC2F-49DB-A939-543C2CE3CBC3}"/>
              </a:ext>
            </a:extLst>
          </p:cNvPr>
          <p:cNvSpPr>
            <a:spLocks noGrp="1"/>
          </p:cNvSpPr>
          <p:nvPr/>
        </p:nvSpPr>
        <p:spPr>
          <a:xfrm>
            <a:off x="1428750" y="3095625"/>
            <a:ext cx="19050" cy="609600"/>
          </a:xfrm>
          <a:prstGeom prst="rect">
            <a:avLst/>
          </a:prstGeom>
          <a:solidFill>
            <a:srgbClr val="C9C2B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55345F3-2117-4530-AEE8-1CF0CB20A400}"/>
              </a:ext>
            </a:extLst>
          </p:cNvPr>
          <p:cNvSpPr>
            <a:spLocks noGrp="1"/>
          </p:cNvSpPr>
          <p:nvPr/>
        </p:nvSpPr>
        <p:spPr>
          <a:xfrm>
            <a:off x="1752600" y="302895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Növekvő költségnyomás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00B206-9849-4777-B1D9-BB988F9B9253}"/>
              </a:ext>
            </a:extLst>
          </p:cNvPr>
          <p:cNvSpPr>
            <a:spLocks noGrp="1"/>
          </p:cNvSpPr>
          <p:nvPr/>
        </p:nvSpPr>
        <p:spPr>
          <a:xfrm>
            <a:off x="5715000" y="3028950"/>
            <a:ext cx="5219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E716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A háztartási döntésekben felértékelődik a fogyasztás időzítése.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EE07990-5F30-4B22-9343-505CA5E7B3AA}"/>
              </a:ext>
            </a:extLst>
          </p:cNvPr>
          <p:cNvSpPr>
            <a:spLocks noGrp="1"/>
          </p:cNvSpPr>
          <p:nvPr/>
        </p:nvSpPr>
        <p:spPr>
          <a:xfrm>
            <a:off x="1752600" y="3695700"/>
            <a:ext cx="9182100" cy="9525"/>
          </a:xfrm>
          <a:prstGeom prst="rect">
            <a:avLst/>
          </a:prstGeom>
          <a:solidFill>
            <a:srgbClr val="C9C2B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7C3EBC4-F34E-4C9D-862C-0565DDA39032}"/>
              </a:ext>
            </a:extLst>
          </p:cNvPr>
          <p:cNvSpPr>
            <a:spLocks noGrp="1"/>
          </p:cNvSpPr>
          <p:nvPr/>
        </p:nvSpPr>
        <p:spPr>
          <a:xfrm>
            <a:off x="723900" y="4019550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F2B705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2B705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35CE6C2-A729-41C4-89E0-2FC2DF244FD8}"/>
              </a:ext>
            </a:extLst>
          </p:cNvPr>
          <p:cNvSpPr>
            <a:spLocks noGrp="1"/>
          </p:cNvSpPr>
          <p:nvPr/>
        </p:nvSpPr>
        <p:spPr>
          <a:xfrm>
            <a:off x="1428750" y="4086225"/>
            <a:ext cx="19050" cy="609600"/>
          </a:xfrm>
          <a:prstGeom prst="rect">
            <a:avLst/>
          </a:prstGeom>
          <a:solidFill>
            <a:srgbClr val="C9C2B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32F79F4-9C5C-4467-AF91-8DDCAAAF8E66}"/>
              </a:ext>
            </a:extLst>
          </p:cNvPr>
          <p:cNvSpPr>
            <a:spLocks noGrp="1"/>
          </p:cNvSpPr>
          <p:nvPr/>
        </p:nvSpPr>
        <p:spPr>
          <a:xfrm>
            <a:off x="1752600" y="401955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Támogatási bizonytalanság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EEC068-9CD6-46ED-AF19-682B3959D1CB}"/>
              </a:ext>
            </a:extLst>
          </p:cNvPr>
          <p:cNvSpPr>
            <a:spLocks noGrp="1"/>
          </p:cNvSpPr>
          <p:nvPr/>
        </p:nvSpPr>
        <p:spPr>
          <a:xfrm>
            <a:off x="5715000" y="4019550"/>
            <a:ext cx="5219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E716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A kedvezményes rezsim tartóssága nem kezelhető adottságként.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B37E909-E887-4D69-ADFE-F2A7C677FC91}"/>
              </a:ext>
            </a:extLst>
          </p:cNvPr>
          <p:cNvSpPr>
            <a:spLocks noGrp="1"/>
          </p:cNvSpPr>
          <p:nvPr/>
        </p:nvSpPr>
        <p:spPr>
          <a:xfrm>
            <a:off x="1752600" y="4686300"/>
            <a:ext cx="9182100" cy="9525"/>
          </a:xfrm>
          <a:prstGeom prst="rect">
            <a:avLst/>
          </a:prstGeom>
          <a:solidFill>
            <a:srgbClr val="C9C2B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54012F0-1E82-484A-91CA-DB4987C60595}"/>
              </a:ext>
            </a:extLst>
          </p:cNvPr>
          <p:cNvSpPr>
            <a:spLocks noGrp="1"/>
          </p:cNvSpPr>
          <p:nvPr/>
        </p:nvSpPr>
        <p:spPr>
          <a:xfrm>
            <a:off x="723900" y="5010150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F2B705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2B705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B222B1E-B7ED-4142-83BC-BCABFD18813E}"/>
              </a:ext>
            </a:extLst>
          </p:cNvPr>
          <p:cNvSpPr>
            <a:spLocks noGrp="1"/>
          </p:cNvSpPr>
          <p:nvPr/>
        </p:nvSpPr>
        <p:spPr>
          <a:xfrm>
            <a:off x="1428750" y="5076825"/>
            <a:ext cx="19050" cy="609600"/>
          </a:xfrm>
          <a:prstGeom prst="rect">
            <a:avLst/>
          </a:prstGeom>
          <a:solidFill>
            <a:srgbClr val="C9C2B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F56F8A2-AF44-4F84-BDA9-8CB3EB151C1C}"/>
              </a:ext>
            </a:extLst>
          </p:cNvPr>
          <p:cNvSpPr>
            <a:spLocks noGrp="1"/>
          </p:cNvSpPr>
          <p:nvPr/>
        </p:nvSpPr>
        <p:spPr>
          <a:xfrm>
            <a:off x="1752600" y="501015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Időalapú árazás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DAB2EF8-1FFF-41D4-8731-E89AD3F97C0C}"/>
              </a:ext>
            </a:extLst>
          </p:cNvPr>
          <p:cNvSpPr>
            <a:spLocks noGrp="1"/>
          </p:cNvSpPr>
          <p:nvPr/>
        </p:nvSpPr>
        <p:spPr>
          <a:xfrm>
            <a:off x="5715000" y="5010150"/>
            <a:ext cx="5219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E716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Az okosmérés és a dinamikus tarifák új optimalizációs teret nyitnak.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8710C7B-AA0C-43C1-8617-1AF7A0FCCFB9}"/>
              </a:ext>
            </a:extLst>
          </p:cNvPr>
          <p:cNvSpPr>
            <a:spLocks noGrp="1"/>
          </p:cNvSpPr>
          <p:nvPr/>
        </p:nvSpPr>
        <p:spPr>
          <a:xfrm>
            <a:off x="1752600" y="5676900"/>
            <a:ext cx="9182100" cy="9525"/>
          </a:xfrm>
          <a:prstGeom prst="rect">
            <a:avLst/>
          </a:prstGeom>
          <a:solidFill>
            <a:srgbClr val="C9C2B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7905ED9-ABC9-48FE-B008-C9DAE56A7BD6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675" b="0">
                <a:solidFill>
                  <a:srgbClr val="6E71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Megjegyzés: a jövőre vonatkozó elemek a projekt tervezési szcenáriói; a hatályos szabályozást külön kell validálni.</a:t>
            </a:r>
          </a:p>
        </p:txBody>
      </p:sp>
    </p:spTree>
    <p:extLst>
      <p:ext uri="{BB962C8B-B14F-4D97-AF65-F5344CB8AC3E}">
        <p14:creationId xmlns:p14="http://schemas.microsoft.com/office/powerpoint/2010/main" val="1144494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73AE62A-7765-41DD-A559-772F6B78D921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6673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35B"/>
                </a:solidFill>
                <a:latin typeface="Aptos"/>
                <a:ea typeface="Aptos"/>
                <a:cs typeface="Aptos"/>
              </a:rPr>
              <a:t>SZEMÉLYES KIINDULÓPONT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BF4CA20-4046-457E-B868-F605AA80C978}"/>
              </a:ext>
            </a:extLst>
          </p:cNvPr>
          <p:cNvSpPr>
            <a:spLocks noGrp="1"/>
          </p:cNvSpPr>
          <p:nvPr/>
        </p:nvSpPr>
        <p:spPr>
          <a:xfrm>
            <a:off x="11144250" y="36195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6E716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E716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4116BB-2218-4DC3-9FD5-ABA94150823F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A saját ház már eleve többváltozós energiarendszer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901350D-9F85-4D34-B9C1-84777FFD3249}"/>
              </a:ext>
            </a:extLst>
          </p:cNvPr>
          <p:cNvSpPr>
            <a:spLocks noGrp="1"/>
          </p:cNvSpPr>
          <p:nvPr/>
        </p:nvSpPr>
        <p:spPr>
          <a:xfrm>
            <a:off x="4972050" y="2495550"/>
            <a:ext cx="2266950" cy="1657350"/>
          </a:xfrm>
          <a:prstGeom prst="ellipse">
            <a:avLst/>
          </a:prstGeom>
          <a:solidFill>
            <a:srgbClr val="292A26"/>
          </a:solidFill>
          <a:ln w="0">
            <a:solidFill>
              <a:srgbClr val="292A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ADEE7D-3775-416C-B42C-8EAC4F770C2E}"/>
              </a:ext>
            </a:extLst>
          </p:cNvPr>
          <p:cNvSpPr>
            <a:spLocks noGrp="1"/>
          </p:cNvSpPr>
          <p:nvPr/>
        </p:nvSpPr>
        <p:spPr>
          <a:xfrm>
            <a:off x="5219700" y="2809875"/>
            <a:ext cx="17716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OTTHONI</a:t>
            </a:r>
          </a:p>
          <a:p>
            <a:pPr algn="ctr">
              <a:buNone/>
              <a:defRPr sz="165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ENERGIA-</a:t>
            </a:r>
          </a:p>
          <a:p>
            <a:pPr algn="ctr">
              <a:buNone/>
              <a:defRPr sz="165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RENDSZER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E507FCE-5291-4BB6-9158-1554FFA60D94}"/>
              </a:ext>
            </a:extLst>
          </p:cNvPr>
          <p:cNvSpPr>
            <a:spLocks noGrp="1"/>
          </p:cNvSpPr>
          <p:nvPr/>
        </p:nvSpPr>
        <p:spPr>
          <a:xfrm>
            <a:off x="819150" y="2152650"/>
            <a:ext cx="209550" cy="209550"/>
          </a:xfrm>
          <a:prstGeom prst="ellipse">
            <a:avLst/>
          </a:prstGeom>
          <a:solidFill>
            <a:srgbClr val="F2B705"/>
          </a:solidFill>
          <a:ln w="0">
            <a:solidFill>
              <a:srgbClr val="F2B70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3E8030-953B-43DE-8FAC-1EF881EFC949}"/>
              </a:ext>
            </a:extLst>
          </p:cNvPr>
          <p:cNvSpPr>
            <a:spLocks noGrp="1"/>
          </p:cNvSpPr>
          <p:nvPr/>
        </p:nvSpPr>
        <p:spPr>
          <a:xfrm>
            <a:off x="1200150" y="213360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NAGY HÁZ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B423DE-69E5-4050-8ECC-97656CACE12E}"/>
              </a:ext>
            </a:extLst>
          </p:cNvPr>
          <p:cNvSpPr>
            <a:spLocks noGrp="1"/>
          </p:cNvSpPr>
          <p:nvPr/>
        </p:nvSpPr>
        <p:spPr>
          <a:xfrm>
            <a:off x="1200150" y="255270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6E71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több tér, több hőigény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49E124D-A190-436B-932A-BED41BDA7647}"/>
              </a:ext>
            </a:extLst>
          </p:cNvPr>
          <p:cNvSpPr>
            <a:spLocks noGrp="1"/>
          </p:cNvSpPr>
          <p:nvPr/>
        </p:nvSpPr>
        <p:spPr>
          <a:xfrm>
            <a:off x="819150" y="3867150"/>
            <a:ext cx="209550" cy="209550"/>
          </a:xfrm>
          <a:prstGeom prst="ellipse">
            <a:avLst/>
          </a:prstGeom>
          <a:solidFill>
            <a:srgbClr val="F2B705"/>
          </a:solidFill>
          <a:ln w="0">
            <a:solidFill>
              <a:srgbClr val="F2B70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94AEF2-E29B-4D36-B00D-8C5C6B0F954E}"/>
              </a:ext>
            </a:extLst>
          </p:cNvPr>
          <p:cNvSpPr>
            <a:spLocks noGrp="1"/>
          </p:cNvSpPr>
          <p:nvPr/>
        </p:nvSpPr>
        <p:spPr>
          <a:xfrm>
            <a:off x="1200150" y="384810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KERT + MEDENCE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CE905E-A679-482E-ACA8-B02C3AA0BD37}"/>
              </a:ext>
            </a:extLst>
          </p:cNvPr>
          <p:cNvSpPr>
            <a:spLocks noGrp="1"/>
          </p:cNvSpPr>
          <p:nvPr/>
        </p:nvSpPr>
        <p:spPr>
          <a:xfrm>
            <a:off x="1200150" y="426720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6E71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kút, locsolás, szezonális terhelés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4A98D1B-2F8C-40ED-BC29-224D0365D7B9}"/>
              </a:ext>
            </a:extLst>
          </p:cNvPr>
          <p:cNvSpPr>
            <a:spLocks noGrp="1"/>
          </p:cNvSpPr>
          <p:nvPr/>
        </p:nvSpPr>
        <p:spPr>
          <a:xfrm>
            <a:off x="8591550" y="2152650"/>
            <a:ext cx="209550" cy="209550"/>
          </a:xfrm>
          <a:prstGeom prst="ellipse">
            <a:avLst/>
          </a:prstGeom>
          <a:solidFill>
            <a:srgbClr val="F2B705"/>
          </a:solidFill>
          <a:ln w="0">
            <a:solidFill>
              <a:srgbClr val="F2B70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A9F911C-35F7-4252-9D46-424838487CD6}"/>
              </a:ext>
            </a:extLst>
          </p:cNvPr>
          <p:cNvSpPr>
            <a:spLocks noGrp="1"/>
          </p:cNvSpPr>
          <p:nvPr/>
        </p:nvSpPr>
        <p:spPr>
          <a:xfrm>
            <a:off x="8972550" y="213360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VÁLTOZÓ ÉLETHELYZET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6BDA3AA-E841-426C-A4A6-FF4CC65EFB37}"/>
              </a:ext>
            </a:extLst>
          </p:cNvPr>
          <p:cNvSpPr>
            <a:spLocks noGrp="1"/>
          </p:cNvSpPr>
          <p:nvPr/>
        </p:nvSpPr>
        <p:spPr>
          <a:xfrm>
            <a:off x="8972550" y="255270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6E71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a gyerekek már elköltöztek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BC381CB-A133-4846-AFF9-ADA480D9460F}"/>
              </a:ext>
            </a:extLst>
          </p:cNvPr>
          <p:cNvSpPr>
            <a:spLocks noGrp="1"/>
          </p:cNvSpPr>
          <p:nvPr/>
        </p:nvSpPr>
        <p:spPr>
          <a:xfrm>
            <a:off x="8591550" y="3867150"/>
            <a:ext cx="209550" cy="209550"/>
          </a:xfrm>
          <a:prstGeom prst="ellipse">
            <a:avLst/>
          </a:prstGeom>
          <a:solidFill>
            <a:srgbClr val="F2B705"/>
          </a:solidFill>
          <a:ln w="0">
            <a:solidFill>
              <a:srgbClr val="F2B70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C8F3C0-16A8-404D-86DA-4C62C850A65C}"/>
              </a:ext>
            </a:extLst>
          </p:cNvPr>
          <p:cNvSpPr>
            <a:spLocks noGrp="1"/>
          </p:cNvSpPr>
          <p:nvPr/>
        </p:nvSpPr>
        <p:spPr>
          <a:xfrm>
            <a:off x="8972550" y="384810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TÖBB HŐFORRÁS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DE1D49-3622-48C9-928C-D82367A9D197}"/>
              </a:ext>
            </a:extLst>
          </p:cNvPr>
          <p:cNvSpPr>
            <a:spLocks noGrp="1"/>
          </p:cNvSpPr>
          <p:nvPr/>
        </p:nvSpPr>
        <p:spPr>
          <a:xfrm>
            <a:off x="8972550" y="426720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6E71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gáz, klímák, cserépkályhák</a:t>
            </a:r>
          </a:p>
        </p:txBody>
      </p:sp>
      <p:cxnSp>
        <p:nvCxnSpPr>
          <p:cNvPr id="66" name="Straight Arrow Connector 18"/>
          <p:cNvCxnSpPr>
            <a:stCxn id="7" idx="6"/>
            <a:endCxn id="5" idx="2"/>
          </p:cNvCxnSpPr>
          <p:nvPr/>
        </p:nvCxnSpPr>
        <p:spPr>
          <a:xfrm>
            <a:off x="1028700" y="2257425"/>
            <a:ext cx="3943350" cy="1066800"/>
          </a:xfrm>
          <a:prstGeom prst="straightConnector1">
            <a:avLst/>
          </a:prstGeom>
          <a:ln w="19050">
            <a:solidFill>
              <a:srgbClr val="C9C2B5"/>
            </a:solidFill>
            <a:prstDash val="solid"/>
            <a:tailEnd type="none" w="med" len="med"/>
          </a:ln>
        </p:spPr>
      </p:cxnSp>
      <p:cxnSp>
        <p:nvCxnSpPr>
          <p:cNvPr id="67" name="Straight Arrow Connector 19"/>
          <p:cNvCxnSpPr>
            <a:stCxn id="10" idx="6"/>
            <a:endCxn id="5" idx="2"/>
          </p:cNvCxnSpPr>
          <p:nvPr/>
        </p:nvCxnSpPr>
        <p:spPr>
          <a:xfrm flipV="1">
            <a:off x="1028700" y="3324225"/>
            <a:ext cx="3943350" cy="647700"/>
          </a:xfrm>
          <a:prstGeom prst="straightConnector1">
            <a:avLst/>
          </a:prstGeom>
          <a:ln w="19050">
            <a:solidFill>
              <a:srgbClr val="C9C2B5"/>
            </a:solidFill>
            <a:prstDash val="solid"/>
            <a:tailEnd type="none" w="med" len="med"/>
          </a:ln>
        </p:spPr>
      </p:cxnSp>
      <p:cxnSp>
        <p:nvCxnSpPr>
          <p:cNvPr id="68" name="Straight Arrow Connector 20"/>
          <p:cNvCxnSpPr>
            <a:stCxn id="5" idx="6"/>
            <a:endCxn id="13" idx="2"/>
          </p:cNvCxnSpPr>
          <p:nvPr/>
        </p:nvCxnSpPr>
        <p:spPr>
          <a:xfrm flipV="1">
            <a:off x="7239000" y="2257425"/>
            <a:ext cx="1352550" cy="1066800"/>
          </a:xfrm>
          <a:prstGeom prst="straightConnector1">
            <a:avLst/>
          </a:prstGeom>
          <a:ln w="19050">
            <a:solidFill>
              <a:srgbClr val="C9C2B5"/>
            </a:solidFill>
            <a:prstDash val="solid"/>
            <a:tailEnd type="none" w="med" len="med"/>
          </a:ln>
        </p:spPr>
      </p:cxnSp>
      <p:cxnSp>
        <p:nvCxnSpPr>
          <p:cNvPr id="69" name="Straight Arrow Connector 21"/>
          <p:cNvCxnSpPr>
            <a:stCxn id="5" idx="6"/>
            <a:endCxn id="16" idx="2"/>
          </p:cNvCxnSpPr>
          <p:nvPr/>
        </p:nvCxnSpPr>
        <p:spPr>
          <a:xfrm>
            <a:off x="7239000" y="3324225"/>
            <a:ext cx="1352550" cy="647700"/>
          </a:xfrm>
          <a:prstGeom prst="straightConnector1">
            <a:avLst/>
          </a:prstGeom>
          <a:ln w="19050">
            <a:solidFill>
              <a:srgbClr val="C9C2B5"/>
            </a:solidFill>
            <a:prstDash val="solid"/>
            <a:tailEnd type="none" w="med" len="med"/>
          </a:ln>
        </p:spPr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02ABF2D1-F79E-4F58-89E5-1727BCF5B807}"/>
              </a:ext>
            </a:extLst>
          </p:cNvPr>
          <p:cNvSpPr>
            <a:spLocks noGrp="1"/>
          </p:cNvSpPr>
          <p:nvPr/>
        </p:nvSpPr>
        <p:spPr>
          <a:xfrm>
            <a:off x="2095500" y="5467350"/>
            <a:ext cx="800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C96845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C96845"/>
                </a:solidFill>
                <a:latin typeface="Aptos Display"/>
                <a:ea typeface="Aptos Display"/>
                <a:cs typeface="Aptos Display"/>
              </a:rPr>
              <a:t>A probléma nem egy eszköz vezérlése, hanem a teljes rendszer összehangolása.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55C9315-21D2-4188-9CD3-478A0753A56A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675" b="0">
                <a:solidFill>
                  <a:srgbClr val="6E71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Forrás: projektgazdai leírás, 2026. szeptember.</a:t>
            </a:r>
          </a:p>
        </p:txBody>
      </p:sp>
    </p:spTree>
    <p:extLst>
      <p:ext uri="{BB962C8B-B14F-4D97-AF65-F5344CB8AC3E}">
        <p14:creationId xmlns:p14="http://schemas.microsoft.com/office/powerpoint/2010/main" val="1989156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B8C236CC-3B9B-4082-B906-4CF298112FC2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6673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35B"/>
                </a:solidFill>
                <a:latin typeface="Aptos"/>
                <a:ea typeface="Aptos"/>
                <a:cs typeface="Aptos"/>
              </a:rPr>
              <a:t>RENDSZERHATÁR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BDB41E-C106-4B51-8653-D70B96EE7BFE}"/>
              </a:ext>
            </a:extLst>
          </p:cNvPr>
          <p:cNvSpPr>
            <a:spLocks noGrp="1"/>
          </p:cNvSpPr>
          <p:nvPr/>
        </p:nvSpPr>
        <p:spPr>
          <a:xfrm>
            <a:off x="11144250" y="36195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6E716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E716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BA5A10-54CC-426D-8A44-599CA978FDB7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A napelem új optimalizációs kérdéssé tette a fűtést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4F906A-6FD5-4CE8-B4CE-B4D2A950FFB7}"/>
              </a:ext>
            </a:extLst>
          </p:cNvPr>
          <p:cNvSpPr>
            <a:spLocks noGrp="1"/>
          </p:cNvSpPr>
          <p:nvPr/>
        </p:nvSpPr>
        <p:spPr>
          <a:xfrm>
            <a:off x="742950" y="2076450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6673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35B"/>
                </a:solidFill>
                <a:latin typeface="Aptos"/>
                <a:ea typeface="Aptos"/>
                <a:cs typeface="Aptos"/>
              </a:rPr>
              <a:t>KEZDETTŐL ADOTT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346D0E-6181-42EC-A7B1-63AA7B39A635}"/>
              </a:ext>
            </a:extLst>
          </p:cNvPr>
          <p:cNvSpPr>
            <a:spLocks noGrp="1"/>
          </p:cNvSpPr>
          <p:nvPr/>
        </p:nvSpPr>
        <p:spPr>
          <a:xfrm>
            <a:off x="742950" y="2457450"/>
            <a:ext cx="666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435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5258D9-A998-44EE-8545-94F6B9537358}"/>
              </a:ext>
            </a:extLst>
          </p:cNvPr>
          <p:cNvSpPr>
            <a:spLocks noGrp="1"/>
          </p:cNvSpPr>
          <p:nvPr/>
        </p:nvSpPr>
        <p:spPr>
          <a:xfrm>
            <a:off x="1485900" y="25717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Computherm termosztát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CC8520-E0F8-4E82-AA53-EEE8EAFBB8F6}"/>
              </a:ext>
            </a:extLst>
          </p:cNvPr>
          <p:cNvSpPr>
            <a:spLocks noGrp="1"/>
          </p:cNvSpPr>
          <p:nvPr/>
        </p:nvSpPr>
        <p:spPr>
          <a:xfrm>
            <a:off x="1485900" y="291465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6E71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két gázfűtési zóna külön vezérléssel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E640FB-3FED-46D8-9268-9F78735F6719}"/>
              </a:ext>
            </a:extLst>
          </p:cNvPr>
          <p:cNvSpPr>
            <a:spLocks noGrp="1"/>
          </p:cNvSpPr>
          <p:nvPr/>
        </p:nvSpPr>
        <p:spPr>
          <a:xfrm>
            <a:off x="742950" y="3524250"/>
            <a:ext cx="3848100" cy="9525"/>
          </a:xfrm>
          <a:prstGeom prst="rect">
            <a:avLst/>
          </a:prstGeom>
          <a:solidFill>
            <a:srgbClr val="C9C2B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7C297D-987A-46B7-B34E-42F0C7757E75}"/>
              </a:ext>
            </a:extLst>
          </p:cNvPr>
          <p:cNvSpPr>
            <a:spLocks noGrp="1"/>
          </p:cNvSpPr>
          <p:nvPr/>
        </p:nvSpPr>
        <p:spPr>
          <a:xfrm>
            <a:off x="742950" y="3810000"/>
            <a:ext cx="666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435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044ACD-A82A-41E8-9F76-B30AFF0ABD65}"/>
              </a:ext>
            </a:extLst>
          </p:cNvPr>
          <p:cNvSpPr>
            <a:spLocks noGrp="1"/>
          </p:cNvSpPr>
          <p:nvPr/>
        </p:nvSpPr>
        <p:spPr>
          <a:xfrm>
            <a:off x="1485900" y="39243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HiSense klíma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2779FE-BD7F-463C-BC33-5F899AC20DC3}"/>
              </a:ext>
            </a:extLst>
          </p:cNvPr>
          <p:cNvSpPr>
            <a:spLocks noGrp="1"/>
          </p:cNvSpPr>
          <p:nvPr/>
        </p:nvSpPr>
        <p:spPr>
          <a:xfrm>
            <a:off x="1485900" y="42672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6E71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saját hőmérővel, hűtésre és fűtésre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4D6B3B3-CACA-4DB9-A4DD-5F2A76D24E71}"/>
              </a:ext>
            </a:extLst>
          </p:cNvPr>
          <p:cNvSpPr>
            <a:spLocks noGrp="1"/>
          </p:cNvSpPr>
          <p:nvPr/>
        </p:nvSpPr>
        <p:spPr>
          <a:xfrm>
            <a:off x="5162550" y="2190750"/>
            <a:ext cx="19050" cy="2724150"/>
          </a:xfrm>
          <a:prstGeom prst="rect">
            <a:avLst/>
          </a:prstGeom>
          <a:solidFill>
            <a:srgbClr val="C9C2B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8F2FA7-DBC8-4DBF-9C04-509E4CD4BB84}"/>
              </a:ext>
            </a:extLst>
          </p:cNvPr>
          <p:cNvSpPr>
            <a:spLocks noGrp="1"/>
          </p:cNvSpPr>
          <p:nvPr/>
        </p:nvSpPr>
        <p:spPr>
          <a:xfrm>
            <a:off x="5867400" y="20764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C9684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6845"/>
                </a:solidFill>
                <a:latin typeface="Aptos"/>
                <a:ea typeface="Aptos"/>
                <a:cs typeface="Aptos"/>
              </a:rPr>
              <a:t>ÚJ ELEM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7F689DD-985A-468D-ABD8-DBEE2CDC8D9B}"/>
              </a:ext>
            </a:extLst>
          </p:cNvPr>
          <p:cNvSpPr>
            <a:spLocks noGrp="1"/>
          </p:cNvSpPr>
          <p:nvPr/>
        </p:nvSpPr>
        <p:spPr>
          <a:xfrm>
            <a:off x="5867400" y="2457450"/>
            <a:ext cx="1219200" cy="1219200"/>
          </a:xfrm>
          <a:prstGeom prst="ellipse">
            <a:avLst/>
          </a:prstGeom>
          <a:solidFill>
            <a:srgbClr val="F2B705"/>
          </a:solidFill>
          <a:ln w="0">
            <a:solidFill>
              <a:srgbClr val="F2B70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670DEC-22B8-416E-A96D-1F5C5EF35C28}"/>
              </a:ext>
            </a:extLst>
          </p:cNvPr>
          <p:cNvSpPr>
            <a:spLocks noGrp="1"/>
          </p:cNvSpPr>
          <p:nvPr/>
        </p:nvSpPr>
        <p:spPr>
          <a:xfrm>
            <a:off x="6115050" y="2800350"/>
            <a:ext cx="723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55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PV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720AFB5-064C-45B6-BA0A-9D34AA115219}"/>
              </a:ext>
            </a:extLst>
          </p:cNvPr>
          <p:cNvSpPr>
            <a:spLocks noGrp="1"/>
          </p:cNvSpPr>
          <p:nvPr/>
        </p:nvSpPr>
        <p:spPr>
          <a:xfrm>
            <a:off x="7429500" y="2571750"/>
            <a:ext cx="3333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Folyamatban lévő</a:t>
            </a:r>
          </a:p>
          <a:p>
            <a:pPr algn="l">
              <a:buNone/>
              <a:defRPr sz="21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napelemes rendszer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297ACCF-8643-41BF-B43C-1A3B1460EBCF}"/>
              </a:ext>
            </a:extLst>
          </p:cNvPr>
          <p:cNvSpPr>
            <a:spLocks noGrp="1"/>
          </p:cNvSpPr>
          <p:nvPr/>
        </p:nvSpPr>
        <p:spPr>
          <a:xfrm>
            <a:off x="7429500" y="3543300"/>
            <a:ext cx="3333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6E716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A termelés időbeli profilja belép a fűtési és hűtési döntésekbe.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E26661F-3317-4D37-97B5-6ECE88DC8783}"/>
              </a:ext>
            </a:extLst>
          </p:cNvPr>
          <p:cNvSpPr>
            <a:spLocks noGrp="1"/>
          </p:cNvSpPr>
          <p:nvPr/>
        </p:nvSpPr>
        <p:spPr>
          <a:xfrm>
            <a:off x="1562100" y="5391150"/>
            <a:ext cx="90678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A kérdés többé nem az, hogy „mivel fűtsünk?”, hanem hogy mikor, mivel és milyen áron.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F46526B-3DAE-4A2A-8526-E2D16C100E96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675" b="0">
                <a:solidFill>
                  <a:srgbClr val="6E71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Forrás: projektgazdai rendszerleltár, 2026. szeptember.</a:t>
            </a:r>
          </a:p>
        </p:txBody>
      </p:sp>
    </p:spTree>
    <p:extLst>
      <p:ext uri="{BB962C8B-B14F-4D97-AF65-F5344CB8AC3E}">
        <p14:creationId xmlns:p14="http://schemas.microsoft.com/office/powerpoint/2010/main" val="1830016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A8D4EF3F-A706-4046-8B0E-99CAFB18354A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6673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35B"/>
                </a:solidFill>
                <a:latin typeface="Aptos"/>
                <a:ea typeface="Aptos"/>
                <a:cs typeface="Aptos"/>
              </a:rPr>
              <a:t>CÉLRENDSZER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74F0D6-42F9-440D-BC89-89A913BBD850}"/>
              </a:ext>
            </a:extLst>
          </p:cNvPr>
          <p:cNvSpPr>
            <a:spLocks noGrp="1"/>
          </p:cNvSpPr>
          <p:nvPr/>
        </p:nvSpPr>
        <p:spPr>
          <a:xfrm>
            <a:off x="11144250" y="36195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6E716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E716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1B3639-5F79-4747-8818-176F91DC7E1E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Nem termosztátot automatizálunk: napi költségminimumot keresünk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7972B0-4F99-4E33-AFB8-3A8213F8ABC1}"/>
              </a:ext>
            </a:extLst>
          </p:cNvPr>
          <p:cNvSpPr>
            <a:spLocks noGrp="1"/>
          </p:cNvSpPr>
          <p:nvPr/>
        </p:nvSpPr>
        <p:spPr>
          <a:xfrm>
            <a:off x="723900" y="2019300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6673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35B"/>
                </a:solidFill>
                <a:latin typeface="Aptos"/>
                <a:ea typeface="Aptos"/>
                <a:cs typeface="Aptos"/>
              </a:rPr>
              <a:t>BEMENETEK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63528C3-B65E-4540-AB81-F475AE0A869D}"/>
              </a:ext>
            </a:extLst>
          </p:cNvPr>
          <p:cNvSpPr>
            <a:spLocks noGrp="1"/>
          </p:cNvSpPr>
          <p:nvPr/>
        </p:nvSpPr>
        <p:spPr>
          <a:xfrm>
            <a:off x="762000" y="2447925"/>
            <a:ext cx="133350" cy="133350"/>
          </a:xfrm>
          <a:prstGeom prst="ellipse">
            <a:avLst/>
          </a:prstGeom>
          <a:solidFill>
            <a:srgbClr val="F2B705"/>
          </a:solidFill>
          <a:ln w="0">
            <a:solidFill>
              <a:srgbClr val="F2B70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82F272-B429-4223-A6D4-C85847AA7F67}"/>
              </a:ext>
            </a:extLst>
          </p:cNvPr>
          <p:cNvSpPr>
            <a:spLocks noGrp="1"/>
          </p:cNvSpPr>
          <p:nvPr/>
        </p:nvSpPr>
        <p:spPr>
          <a:xfrm>
            <a:off x="1047750" y="2400300"/>
            <a:ext cx="2800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292A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92A26"/>
                </a:solidFill>
                <a:latin typeface="Aptos"/>
                <a:ea typeface="Aptos"/>
                <a:cs typeface="Aptos"/>
              </a:rPr>
              <a:t>energiaár / tarifa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47077E1-F0B2-4CDC-803F-3BB508274347}"/>
              </a:ext>
            </a:extLst>
          </p:cNvPr>
          <p:cNvSpPr>
            <a:spLocks noGrp="1"/>
          </p:cNvSpPr>
          <p:nvPr/>
        </p:nvSpPr>
        <p:spPr>
          <a:xfrm>
            <a:off x="762000" y="2905125"/>
            <a:ext cx="133350" cy="133350"/>
          </a:xfrm>
          <a:prstGeom prst="ellipse">
            <a:avLst/>
          </a:prstGeom>
          <a:solidFill>
            <a:srgbClr val="F2B705"/>
          </a:solidFill>
          <a:ln w="0">
            <a:solidFill>
              <a:srgbClr val="F2B70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658810-1AAE-4B1D-B2C8-EAB6F036C296}"/>
              </a:ext>
            </a:extLst>
          </p:cNvPr>
          <p:cNvSpPr>
            <a:spLocks noGrp="1"/>
          </p:cNvSpPr>
          <p:nvPr/>
        </p:nvSpPr>
        <p:spPr>
          <a:xfrm>
            <a:off x="1047750" y="2857500"/>
            <a:ext cx="2800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292A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92A26"/>
                </a:solidFill>
                <a:latin typeface="Aptos"/>
                <a:ea typeface="Aptos"/>
                <a:cs typeface="Aptos"/>
              </a:rPr>
              <a:t>PV-termelési előrejelzés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23393C5-BE53-4BEB-806A-2965A9DC3E2A}"/>
              </a:ext>
            </a:extLst>
          </p:cNvPr>
          <p:cNvSpPr>
            <a:spLocks noGrp="1"/>
          </p:cNvSpPr>
          <p:nvPr/>
        </p:nvSpPr>
        <p:spPr>
          <a:xfrm>
            <a:off x="762000" y="3362325"/>
            <a:ext cx="133350" cy="133350"/>
          </a:xfrm>
          <a:prstGeom prst="ellipse">
            <a:avLst/>
          </a:prstGeom>
          <a:solidFill>
            <a:srgbClr val="F2B705"/>
          </a:solidFill>
          <a:ln w="0">
            <a:solidFill>
              <a:srgbClr val="F2B70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7B11D3-5593-4AC3-93D1-8AAEC33864B5}"/>
              </a:ext>
            </a:extLst>
          </p:cNvPr>
          <p:cNvSpPr>
            <a:spLocks noGrp="1"/>
          </p:cNvSpPr>
          <p:nvPr/>
        </p:nvSpPr>
        <p:spPr>
          <a:xfrm>
            <a:off x="1047750" y="3314700"/>
            <a:ext cx="2800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292A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92A26"/>
                </a:solidFill>
                <a:latin typeface="Aptos"/>
                <a:ea typeface="Aptos"/>
                <a:cs typeface="Aptos"/>
              </a:rPr>
              <a:t>külső és belső hőmérséklet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9E5D044-1C5E-451D-9447-CE8E679BA982}"/>
              </a:ext>
            </a:extLst>
          </p:cNvPr>
          <p:cNvSpPr>
            <a:spLocks noGrp="1"/>
          </p:cNvSpPr>
          <p:nvPr/>
        </p:nvSpPr>
        <p:spPr>
          <a:xfrm>
            <a:off x="762000" y="3819525"/>
            <a:ext cx="133350" cy="133350"/>
          </a:xfrm>
          <a:prstGeom prst="ellipse">
            <a:avLst/>
          </a:prstGeom>
          <a:solidFill>
            <a:srgbClr val="F2B705"/>
          </a:solidFill>
          <a:ln w="0">
            <a:solidFill>
              <a:srgbClr val="F2B70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B74EAF0-5FED-4842-BC8D-F88CAB429F1C}"/>
              </a:ext>
            </a:extLst>
          </p:cNvPr>
          <p:cNvSpPr>
            <a:spLocks noGrp="1"/>
          </p:cNvSpPr>
          <p:nvPr/>
        </p:nvSpPr>
        <p:spPr>
          <a:xfrm>
            <a:off x="1047750" y="3771900"/>
            <a:ext cx="2800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292A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92A26"/>
                </a:solidFill>
                <a:latin typeface="Aptos"/>
                <a:ea typeface="Aptos"/>
                <a:cs typeface="Aptos"/>
              </a:rPr>
              <a:t>komfort- és használati igény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696B3CD-F570-40B7-8A7F-ED2EDD52933A}"/>
              </a:ext>
            </a:extLst>
          </p:cNvPr>
          <p:cNvSpPr>
            <a:spLocks noGrp="1"/>
          </p:cNvSpPr>
          <p:nvPr/>
        </p:nvSpPr>
        <p:spPr>
          <a:xfrm>
            <a:off x="762000" y="4276725"/>
            <a:ext cx="133350" cy="133350"/>
          </a:xfrm>
          <a:prstGeom prst="ellipse">
            <a:avLst/>
          </a:prstGeom>
          <a:solidFill>
            <a:srgbClr val="F2B705"/>
          </a:solidFill>
          <a:ln w="0">
            <a:solidFill>
              <a:srgbClr val="F2B70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64B202-54FB-41C4-A488-2F529714E379}"/>
              </a:ext>
            </a:extLst>
          </p:cNvPr>
          <p:cNvSpPr>
            <a:spLocks noGrp="1"/>
          </p:cNvSpPr>
          <p:nvPr/>
        </p:nvSpPr>
        <p:spPr>
          <a:xfrm>
            <a:off x="1047750" y="4229100"/>
            <a:ext cx="2800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292A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92A26"/>
                </a:solidFill>
                <a:latin typeface="Aptos"/>
                <a:ea typeface="Aptos"/>
                <a:cs typeface="Aptos"/>
              </a:rPr>
              <a:t>eszközök állapota és fogyasztása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44319C4-EB3E-4BA7-B832-0F9A2CA8BC77}"/>
              </a:ext>
            </a:extLst>
          </p:cNvPr>
          <p:cNvSpPr>
            <a:spLocks noGrp="1"/>
          </p:cNvSpPr>
          <p:nvPr/>
        </p:nvSpPr>
        <p:spPr>
          <a:xfrm>
            <a:off x="4552950" y="2324100"/>
            <a:ext cx="2857500" cy="2857500"/>
          </a:xfrm>
          <a:prstGeom prst="ellipse">
            <a:avLst/>
          </a:prstGeom>
          <a:solidFill>
            <a:srgbClr val="292A26"/>
          </a:solidFill>
          <a:ln w="0">
            <a:solidFill>
              <a:srgbClr val="292A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909BC5-02C9-455E-8DF6-AAD5C0737EFC}"/>
              </a:ext>
            </a:extLst>
          </p:cNvPr>
          <p:cNvSpPr>
            <a:spLocks noGrp="1"/>
          </p:cNvSpPr>
          <p:nvPr/>
        </p:nvSpPr>
        <p:spPr>
          <a:xfrm>
            <a:off x="5095875" y="3048000"/>
            <a:ext cx="17716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25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NAPI</a:t>
            </a:r>
          </a:p>
          <a:p>
            <a:pPr algn="ctr">
              <a:buNone/>
              <a:defRPr sz="225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KÖLTSÉG</a:t>
            </a:r>
          </a:p>
          <a:p>
            <a:pPr algn="ctr">
              <a:buNone/>
              <a:defRPr sz="225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MODELL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0B77F0-D081-4685-9FEE-A1E2E46083B6}"/>
              </a:ext>
            </a:extLst>
          </p:cNvPr>
          <p:cNvSpPr>
            <a:spLocks noGrp="1"/>
          </p:cNvSpPr>
          <p:nvPr/>
        </p:nvSpPr>
        <p:spPr>
          <a:xfrm>
            <a:off x="5067300" y="4457700"/>
            <a:ext cx="1847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F2B70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2B705"/>
                </a:solidFill>
                <a:latin typeface="Aptos"/>
                <a:ea typeface="Aptos"/>
                <a:cs typeface="Aptos"/>
              </a:rPr>
              <a:t>DÖNTÉSI LOGIKA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5172F40-2AE0-453D-A82F-F8CC5155BFE4}"/>
              </a:ext>
            </a:extLst>
          </p:cNvPr>
          <p:cNvSpPr>
            <a:spLocks noGrp="1"/>
          </p:cNvSpPr>
          <p:nvPr/>
        </p:nvSpPr>
        <p:spPr>
          <a:xfrm>
            <a:off x="8305800" y="20193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C9684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6845"/>
                </a:solidFill>
                <a:latin typeface="Aptos"/>
                <a:ea typeface="Aptos"/>
                <a:cs typeface="Aptos"/>
              </a:rPr>
              <a:t>KIMENETEK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E1C6DD5-6107-40A0-AF68-B956EB6D6BE7}"/>
              </a:ext>
            </a:extLst>
          </p:cNvPr>
          <p:cNvSpPr>
            <a:spLocks noGrp="1"/>
          </p:cNvSpPr>
          <p:nvPr/>
        </p:nvSpPr>
        <p:spPr>
          <a:xfrm>
            <a:off x="8324850" y="2514600"/>
            <a:ext cx="171450" cy="171450"/>
          </a:xfrm>
          <a:prstGeom prst="ellipse">
            <a:avLst/>
          </a:prstGeom>
          <a:solidFill>
            <a:srgbClr val="C96845"/>
          </a:solidFill>
          <a:ln w="0">
            <a:solidFill>
              <a:srgbClr val="C968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8164DF1-0ED2-4ED8-9AB8-6CB0BD08A91B}"/>
              </a:ext>
            </a:extLst>
          </p:cNvPr>
          <p:cNvSpPr>
            <a:spLocks noGrp="1"/>
          </p:cNvSpPr>
          <p:nvPr/>
        </p:nvSpPr>
        <p:spPr>
          <a:xfrm>
            <a:off x="8667750" y="24574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STRATÉGIA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36717CE-AA2A-4FAE-BE32-03C071D746AA}"/>
              </a:ext>
            </a:extLst>
          </p:cNvPr>
          <p:cNvSpPr>
            <a:spLocks noGrp="1"/>
          </p:cNvSpPr>
          <p:nvPr/>
        </p:nvSpPr>
        <p:spPr>
          <a:xfrm>
            <a:off x="8667750" y="2743200"/>
            <a:ext cx="2571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6E71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mikor melyik hőforrás dolgozzon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8A75D8D-486C-4E35-8953-F7C13FAEC878}"/>
              </a:ext>
            </a:extLst>
          </p:cNvPr>
          <p:cNvSpPr>
            <a:spLocks noGrp="1"/>
          </p:cNvSpPr>
          <p:nvPr/>
        </p:nvSpPr>
        <p:spPr>
          <a:xfrm>
            <a:off x="8324850" y="3638550"/>
            <a:ext cx="171450" cy="171450"/>
          </a:xfrm>
          <a:prstGeom prst="ellipse">
            <a:avLst/>
          </a:prstGeom>
          <a:solidFill>
            <a:srgbClr val="C96845"/>
          </a:solidFill>
          <a:ln w="0">
            <a:solidFill>
              <a:srgbClr val="C968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DC93A70-A983-48E9-B87C-A98F04AD65EE}"/>
              </a:ext>
            </a:extLst>
          </p:cNvPr>
          <p:cNvSpPr>
            <a:spLocks noGrp="1"/>
          </p:cNvSpPr>
          <p:nvPr/>
        </p:nvSpPr>
        <p:spPr>
          <a:xfrm>
            <a:off x="8667750" y="35814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JAVASLAT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442E865-9C1F-4A54-BBD7-9523EBACF4B2}"/>
              </a:ext>
            </a:extLst>
          </p:cNvPr>
          <p:cNvSpPr>
            <a:spLocks noGrp="1"/>
          </p:cNvSpPr>
          <p:nvPr/>
        </p:nvSpPr>
        <p:spPr>
          <a:xfrm>
            <a:off x="8667750" y="3867150"/>
            <a:ext cx="2571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6E71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következő napi fűtési/hűtési terv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08B738C-D014-4CA1-9150-BA65FCC03924}"/>
              </a:ext>
            </a:extLst>
          </p:cNvPr>
          <p:cNvSpPr>
            <a:spLocks noGrp="1"/>
          </p:cNvSpPr>
          <p:nvPr/>
        </p:nvSpPr>
        <p:spPr>
          <a:xfrm>
            <a:off x="8324850" y="4762500"/>
            <a:ext cx="171450" cy="171450"/>
          </a:xfrm>
          <a:prstGeom prst="ellipse">
            <a:avLst/>
          </a:prstGeom>
          <a:solidFill>
            <a:srgbClr val="C96845"/>
          </a:solidFill>
          <a:ln w="0">
            <a:solidFill>
              <a:srgbClr val="C968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1488F89-4A8A-4C9F-950F-2A1B8EEC29F1}"/>
              </a:ext>
            </a:extLst>
          </p:cNvPr>
          <p:cNvSpPr>
            <a:spLocks noGrp="1"/>
          </p:cNvSpPr>
          <p:nvPr/>
        </p:nvSpPr>
        <p:spPr>
          <a:xfrm>
            <a:off x="8667750" y="47053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VEZÉRLÉS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18A66FA-C7BE-4ED6-B2E4-F8B8EDA7CF74}"/>
              </a:ext>
            </a:extLst>
          </p:cNvPr>
          <p:cNvSpPr>
            <a:spLocks noGrp="1"/>
          </p:cNvSpPr>
          <p:nvPr/>
        </p:nvSpPr>
        <p:spPr>
          <a:xfrm>
            <a:off x="8667750" y="4991100"/>
            <a:ext cx="2571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6E71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jóváhagyott beavatkozások végrehajtása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D7FBA45-388F-44A1-8196-4CC9AAAB6992}"/>
              </a:ext>
            </a:extLst>
          </p:cNvPr>
          <p:cNvSpPr>
            <a:spLocks noGrp="1"/>
          </p:cNvSpPr>
          <p:nvPr/>
        </p:nvSpPr>
        <p:spPr>
          <a:xfrm>
            <a:off x="4095750" y="3676650"/>
            <a:ext cx="114300" cy="114300"/>
          </a:xfrm>
          <a:prstGeom prst="ellipse">
            <a:avLst/>
          </a:prstGeom>
          <a:solidFill>
            <a:srgbClr val="F2B705"/>
          </a:solidFill>
          <a:ln w="0">
            <a:solidFill>
              <a:srgbClr val="F2B705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94" name="Straight Arrow Connector 29"/>
          <p:cNvCxnSpPr>
            <a:stCxn id="29" idx="6"/>
            <a:endCxn id="16" idx="2"/>
          </p:cNvCxnSpPr>
          <p:nvPr/>
        </p:nvCxnSpPr>
        <p:spPr>
          <a:xfrm>
            <a:off x="4210050" y="3733800"/>
            <a:ext cx="342900" cy="19050"/>
          </a:xfrm>
          <a:prstGeom prst="straightConnector1">
            <a:avLst/>
          </a:prstGeom>
          <a:ln w="19050">
            <a:solidFill>
              <a:srgbClr val="C9C2B5"/>
            </a:solidFill>
            <a:prstDash val="solid"/>
            <a:tailEnd type="triangle" w="sm" len="sm"/>
          </a:ln>
        </p:spPr>
      </p:cxnSp>
      <p:cxnSp>
        <p:nvCxnSpPr>
          <p:cNvPr id="95" name="Straight Arrow Connector 30"/>
          <p:cNvCxnSpPr>
            <a:stCxn id="16" idx="6"/>
            <a:endCxn id="23" idx="2"/>
          </p:cNvCxnSpPr>
          <p:nvPr/>
        </p:nvCxnSpPr>
        <p:spPr>
          <a:xfrm flipV="1">
            <a:off x="7410450" y="3724275"/>
            <a:ext cx="914400" cy="28575"/>
          </a:xfrm>
          <a:prstGeom prst="straightConnector1">
            <a:avLst/>
          </a:prstGeom>
          <a:ln w="19050">
            <a:solidFill>
              <a:srgbClr val="C96845"/>
            </a:solidFill>
            <a:prstDash val="solid"/>
            <a:tailEnd type="triangle" w="sm" len="sm"/>
          </a:ln>
        </p:spPr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72CB8C0F-39B9-40F5-A460-19751C2467DB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675" b="0">
                <a:solidFill>
                  <a:srgbClr val="6E71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Cél: fogyasztás- és árérzékeny, költséghatékony fűtési–hűtési stratégia javaslata és vezérlése.</a:t>
            </a:r>
          </a:p>
        </p:txBody>
      </p:sp>
    </p:spTree>
    <p:extLst>
      <p:ext uri="{BB962C8B-B14F-4D97-AF65-F5344CB8AC3E}">
        <p14:creationId xmlns:p14="http://schemas.microsoft.com/office/powerpoint/2010/main" val="1922144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18828BB3-34BB-4F5E-BB48-CCA0FDF8F497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6673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35B"/>
                </a:solidFill>
                <a:latin typeface="Aptos"/>
                <a:ea typeface="Aptos"/>
                <a:cs typeface="Aptos"/>
              </a:rPr>
              <a:t>AI A TELJES ÉLETCIKLUSBAN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0BB493-FE17-4F6D-89DE-09E2524FDC37}"/>
              </a:ext>
            </a:extLst>
          </p:cNvPr>
          <p:cNvSpPr>
            <a:spLocks noGrp="1"/>
          </p:cNvSpPr>
          <p:nvPr/>
        </p:nvSpPr>
        <p:spPr>
          <a:xfrm>
            <a:off x="11144250" y="36195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6E716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E716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630627-D6F9-49DB-A2EC-980D8D7EDA92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Az AI már a kód előtt belépett a projektbe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EA9C6D-DDE1-4465-8F33-F8E24608FD56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723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6673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35B"/>
                </a:solidFill>
                <a:latin typeface="Aptos"/>
                <a:ea typeface="Aptos"/>
                <a:cs typeface="Aptos"/>
              </a:rPr>
              <a:t>NAPELEM-AJÁNLAT → SZERZŐDÉSKÖTÉS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CBD473-31C8-4694-AA74-D19B2464510D}"/>
              </a:ext>
            </a:extLst>
          </p:cNvPr>
          <p:cNvSpPr>
            <a:spLocks noGrp="1"/>
          </p:cNvSpPr>
          <p:nvPr/>
        </p:nvSpPr>
        <p:spPr>
          <a:xfrm>
            <a:off x="685800" y="2552700"/>
            <a:ext cx="10287000" cy="28575"/>
          </a:xfrm>
          <a:prstGeom prst="rect">
            <a:avLst/>
          </a:prstGeom>
          <a:solidFill>
            <a:srgbClr val="C9C2B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5380FD6-0C84-41FA-B85A-9F7DB6B274F6}"/>
              </a:ext>
            </a:extLst>
          </p:cNvPr>
          <p:cNvSpPr>
            <a:spLocks noGrp="1"/>
          </p:cNvSpPr>
          <p:nvPr/>
        </p:nvSpPr>
        <p:spPr>
          <a:xfrm>
            <a:off x="1028700" y="2333625"/>
            <a:ext cx="457200" cy="457200"/>
          </a:xfrm>
          <a:prstGeom prst="ellipse">
            <a:avLst/>
          </a:prstGeom>
          <a:solidFill>
            <a:srgbClr val="F2B705"/>
          </a:solidFill>
          <a:ln w="0">
            <a:solidFill>
              <a:srgbClr val="F2B70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5F83A1-63B2-430B-BF0A-4C4230EEEE1D}"/>
              </a:ext>
            </a:extLst>
          </p:cNvPr>
          <p:cNvSpPr>
            <a:spLocks noGrp="1"/>
          </p:cNvSpPr>
          <p:nvPr/>
        </p:nvSpPr>
        <p:spPr>
          <a:xfrm>
            <a:off x="1104900" y="2447925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292A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92A2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588409-E56E-4D05-B86C-B3ED6151927C}"/>
              </a:ext>
            </a:extLst>
          </p:cNvPr>
          <p:cNvSpPr>
            <a:spLocks noGrp="1"/>
          </p:cNvSpPr>
          <p:nvPr/>
        </p:nvSpPr>
        <p:spPr>
          <a:xfrm>
            <a:off x="1028700" y="310515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Műszaki tartalom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6012F5-492A-4D67-A00F-60894B1275A5}"/>
              </a:ext>
            </a:extLst>
          </p:cNvPr>
          <p:cNvSpPr>
            <a:spLocks noGrp="1"/>
          </p:cNvSpPr>
          <p:nvPr/>
        </p:nvSpPr>
        <p:spPr>
          <a:xfrm>
            <a:off x="1028700" y="3638550"/>
            <a:ext cx="2667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E716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komponensek, méretezés, kompatibilitás, vállalások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17A2D76-FDD6-4157-9A09-36F852EA3938}"/>
              </a:ext>
            </a:extLst>
          </p:cNvPr>
          <p:cNvSpPr>
            <a:spLocks noGrp="1"/>
          </p:cNvSpPr>
          <p:nvPr/>
        </p:nvSpPr>
        <p:spPr>
          <a:xfrm>
            <a:off x="4305300" y="2333625"/>
            <a:ext cx="457200" cy="457200"/>
          </a:xfrm>
          <a:prstGeom prst="ellipse">
            <a:avLst/>
          </a:prstGeom>
          <a:solidFill>
            <a:srgbClr val="66735B"/>
          </a:solidFill>
          <a:ln w="0">
            <a:solidFill>
              <a:srgbClr val="66735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6A3045-AFF9-4C3E-9C2F-14D4352D0321}"/>
              </a:ext>
            </a:extLst>
          </p:cNvPr>
          <p:cNvSpPr>
            <a:spLocks noGrp="1"/>
          </p:cNvSpPr>
          <p:nvPr/>
        </p:nvSpPr>
        <p:spPr>
          <a:xfrm>
            <a:off x="4381500" y="2447925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19C612-4D08-4DA0-AB3F-23E3E923128F}"/>
              </a:ext>
            </a:extLst>
          </p:cNvPr>
          <p:cNvSpPr>
            <a:spLocks noGrp="1"/>
          </p:cNvSpPr>
          <p:nvPr/>
        </p:nvSpPr>
        <p:spPr>
          <a:xfrm>
            <a:off x="4305300" y="310515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Kivitelezési folyamat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842128-D20E-4CF8-8722-77AA98FD603A}"/>
              </a:ext>
            </a:extLst>
          </p:cNvPr>
          <p:cNvSpPr>
            <a:spLocks noGrp="1"/>
          </p:cNvSpPr>
          <p:nvPr/>
        </p:nvSpPr>
        <p:spPr>
          <a:xfrm>
            <a:off x="4305300" y="3638550"/>
            <a:ext cx="2667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E716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lépések, felelősségek, függőségek, átadás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38D589F-1B5B-4A66-923F-1C42BD078258}"/>
              </a:ext>
            </a:extLst>
          </p:cNvPr>
          <p:cNvSpPr>
            <a:spLocks noGrp="1"/>
          </p:cNvSpPr>
          <p:nvPr/>
        </p:nvSpPr>
        <p:spPr>
          <a:xfrm>
            <a:off x="7581900" y="2333625"/>
            <a:ext cx="457200" cy="457200"/>
          </a:xfrm>
          <a:prstGeom prst="ellipse">
            <a:avLst/>
          </a:prstGeom>
          <a:solidFill>
            <a:srgbClr val="C96845"/>
          </a:solidFill>
          <a:ln w="0">
            <a:solidFill>
              <a:srgbClr val="C968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CD08261-3EC3-4381-A4FE-697F5F50904A}"/>
              </a:ext>
            </a:extLst>
          </p:cNvPr>
          <p:cNvSpPr>
            <a:spLocks noGrp="1"/>
          </p:cNvSpPr>
          <p:nvPr/>
        </p:nvSpPr>
        <p:spPr>
          <a:xfrm>
            <a:off x="7658100" y="2447925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C272AAE-A2A2-49F1-B3FF-D5775D7133E3}"/>
              </a:ext>
            </a:extLst>
          </p:cNvPr>
          <p:cNvSpPr>
            <a:spLocks noGrp="1"/>
          </p:cNvSpPr>
          <p:nvPr/>
        </p:nvSpPr>
        <p:spPr>
          <a:xfrm>
            <a:off x="7581900" y="310515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Jogi és egyéb feltételek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C1B02E-4D53-4C88-8CA2-8801CF173207}"/>
              </a:ext>
            </a:extLst>
          </p:cNvPr>
          <p:cNvSpPr>
            <a:spLocks noGrp="1"/>
          </p:cNvSpPr>
          <p:nvPr/>
        </p:nvSpPr>
        <p:spPr>
          <a:xfrm>
            <a:off x="7581900" y="3638550"/>
            <a:ext cx="2667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E716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kockázatok, garanciák, határidők, elfogadási pontok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CAC21F-36DB-42AE-BB82-12DCBD957F5C}"/>
              </a:ext>
            </a:extLst>
          </p:cNvPr>
          <p:cNvSpPr>
            <a:spLocks noGrp="1"/>
          </p:cNvSpPr>
          <p:nvPr/>
        </p:nvSpPr>
        <p:spPr>
          <a:xfrm>
            <a:off x="685800" y="5105400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C9684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6845"/>
                </a:solidFill>
                <a:latin typeface="Aptos"/>
                <a:ea typeface="Aptos"/>
                <a:cs typeface="Aptos"/>
              </a:rPr>
              <a:t>AI szerepe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9434218-894A-4DCC-8360-CD36B948BBD4}"/>
              </a:ext>
            </a:extLst>
          </p:cNvPr>
          <p:cNvSpPr>
            <a:spLocks noGrp="1"/>
          </p:cNvSpPr>
          <p:nvPr/>
        </p:nvSpPr>
        <p:spPr>
          <a:xfrm>
            <a:off x="2000250" y="5029200"/>
            <a:ext cx="8953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ellenőrző kérdések  •  hiányok feltárása  •  döntési szempontok strukturálása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BC6F66D-BE05-4016-B36B-6704BB3E8955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675" b="0">
                <a:solidFill>
                  <a:srgbClr val="6E71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A végső értelmezés és döntés a projektgazdánál maradt; az AI strukturált felülvizsgálati partnerként működött.</a:t>
            </a:r>
          </a:p>
        </p:txBody>
      </p:sp>
    </p:spTree>
    <p:extLst>
      <p:ext uri="{BB962C8B-B14F-4D97-AF65-F5344CB8AC3E}">
        <p14:creationId xmlns:p14="http://schemas.microsoft.com/office/powerpoint/2010/main" val="489711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5FFED548-6FAA-46EA-BD35-4AE40E08AEF7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6673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35B"/>
                </a:solidFill>
                <a:latin typeface="Aptos"/>
                <a:ea typeface="Aptos"/>
                <a:cs typeface="Aptos"/>
              </a:rPr>
              <a:t>EGYÜTTMŰKÖDÉSI MODELL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1E7148-909A-4292-81F3-F62F0ED38787}"/>
              </a:ext>
            </a:extLst>
          </p:cNvPr>
          <p:cNvSpPr>
            <a:spLocks noGrp="1"/>
          </p:cNvSpPr>
          <p:nvPr/>
        </p:nvSpPr>
        <p:spPr>
          <a:xfrm>
            <a:off x="11144250" y="36195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6E716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E716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A4E316-A284-403A-B8F0-252DDBCB5FE8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Mindketten több szerepet vittünk — más felelősséggel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F03881-C0B1-41AE-B95C-7C3026091F41}"/>
              </a:ext>
            </a:extLst>
          </p:cNvPr>
          <p:cNvSpPr>
            <a:spLocks noGrp="1"/>
          </p:cNvSpPr>
          <p:nvPr/>
        </p:nvSpPr>
        <p:spPr>
          <a:xfrm>
            <a:off x="800100" y="203835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6673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35B"/>
                </a:solidFill>
                <a:latin typeface="Aptos"/>
                <a:ea typeface="Aptos"/>
                <a:cs typeface="Aptos"/>
              </a:rPr>
              <a:t>EMBER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A6BEE0-6D0D-487A-845B-160DF6B616C1}"/>
              </a:ext>
            </a:extLst>
          </p:cNvPr>
          <p:cNvSpPr>
            <a:spLocks noGrp="1"/>
          </p:cNvSpPr>
          <p:nvPr/>
        </p:nvSpPr>
        <p:spPr>
          <a:xfrm>
            <a:off x="800100" y="2343150"/>
            <a:ext cx="3238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15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 dirty="0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P</a:t>
            </a:r>
            <a:r>
              <a:rPr lang="hu-HU" sz="3150" b="1" dirty="0" err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é</a:t>
            </a:r>
            <a:r>
              <a:rPr sz="3150" b="1" dirty="0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ter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876E7A-BCA1-49AC-A084-BFF759C59767}"/>
              </a:ext>
            </a:extLst>
          </p:cNvPr>
          <p:cNvSpPr>
            <a:spLocks noGrp="1"/>
          </p:cNvSpPr>
          <p:nvPr/>
        </p:nvSpPr>
        <p:spPr>
          <a:xfrm>
            <a:off x="800100" y="3105150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PRODUCT OWNER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8DCE07-4BA9-4BBA-B3DD-55A5394B2116}"/>
              </a:ext>
            </a:extLst>
          </p:cNvPr>
          <p:cNvSpPr>
            <a:spLocks noGrp="1"/>
          </p:cNvSpPr>
          <p:nvPr/>
        </p:nvSpPr>
        <p:spPr>
          <a:xfrm>
            <a:off x="800100" y="336232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6E71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cél, prioritás, döntés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9B32D2-8369-4EA2-8A28-3CC1A801786C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BUSINESS USER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035E23-99D7-40B3-861D-AAA9A5E80678}"/>
              </a:ext>
            </a:extLst>
          </p:cNvPr>
          <p:cNvSpPr>
            <a:spLocks noGrp="1"/>
          </p:cNvSpPr>
          <p:nvPr/>
        </p:nvSpPr>
        <p:spPr>
          <a:xfrm>
            <a:off x="800100" y="410527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6E71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valós igény és kontextus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B818A1-F43C-493E-976D-F8FA710C476A}"/>
              </a:ext>
            </a:extLst>
          </p:cNvPr>
          <p:cNvSpPr>
            <a:spLocks noGrp="1"/>
          </p:cNvSpPr>
          <p:nvPr/>
        </p:nvSpPr>
        <p:spPr>
          <a:xfrm>
            <a:off x="800100" y="4591050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TESZTELŐ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C1A3AF-93EE-4BC3-9BE3-843051EF6F79}"/>
              </a:ext>
            </a:extLst>
          </p:cNvPr>
          <p:cNvSpPr>
            <a:spLocks noGrp="1"/>
          </p:cNvSpPr>
          <p:nvPr/>
        </p:nvSpPr>
        <p:spPr>
          <a:xfrm>
            <a:off x="800100" y="484822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6E71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eredmény, kivétel, elfogadás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8B3001-ED90-4EDE-BB8B-02127C0123BF}"/>
              </a:ext>
            </a:extLst>
          </p:cNvPr>
          <p:cNvSpPr>
            <a:spLocks noGrp="1"/>
          </p:cNvSpPr>
          <p:nvPr/>
        </p:nvSpPr>
        <p:spPr>
          <a:xfrm>
            <a:off x="4457700" y="2114550"/>
            <a:ext cx="38100" cy="3409950"/>
          </a:xfrm>
          <a:prstGeom prst="rect">
            <a:avLst/>
          </a:prstGeom>
          <a:solidFill>
            <a:srgbClr val="F2B70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6927A5-6A13-4F88-BFE3-BF791F08C328}"/>
              </a:ext>
            </a:extLst>
          </p:cNvPr>
          <p:cNvSpPr>
            <a:spLocks noGrp="1"/>
          </p:cNvSpPr>
          <p:nvPr/>
        </p:nvSpPr>
        <p:spPr>
          <a:xfrm>
            <a:off x="4857750" y="23431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C9684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6845"/>
                </a:solidFill>
                <a:latin typeface="Aptos"/>
                <a:ea typeface="Aptos"/>
                <a:cs typeface="Aptos"/>
              </a:rPr>
              <a:t>KÖZÖS TÉR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9426758-E15B-490C-AF94-19F8E8325E3C}"/>
              </a:ext>
            </a:extLst>
          </p:cNvPr>
          <p:cNvSpPr>
            <a:spLocks noGrp="1"/>
          </p:cNvSpPr>
          <p:nvPr/>
        </p:nvSpPr>
        <p:spPr>
          <a:xfrm>
            <a:off x="4857750" y="28956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kérdés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20E22F6-0DFD-4AED-B954-25BC931C5188}"/>
              </a:ext>
            </a:extLst>
          </p:cNvPr>
          <p:cNvSpPr>
            <a:spLocks noGrp="1"/>
          </p:cNvSpPr>
          <p:nvPr/>
        </p:nvSpPr>
        <p:spPr>
          <a:xfrm>
            <a:off x="5905500" y="3257550"/>
            <a:ext cx="38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950" b="1">
                <a:solidFill>
                  <a:srgbClr val="F2B705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2B705"/>
                </a:solidFill>
                <a:latin typeface="Aptos Display"/>
                <a:ea typeface="Aptos Display"/>
                <a:cs typeface="Aptos Display"/>
              </a:rPr>
              <a:t>↓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7619C6-C9AA-4682-8A36-B3DDF9EB1BCE}"/>
              </a:ext>
            </a:extLst>
          </p:cNvPr>
          <p:cNvSpPr>
            <a:spLocks noGrp="1"/>
          </p:cNvSpPr>
          <p:nvPr/>
        </p:nvSpPr>
        <p:spPr>
          <a:xfrm>
            <a:off x="4857750" y="36195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javaslat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099BC2D-3809-4BA9-9550-159D33A545D3}"/>
              </a:ext>
            </a:extLst>
          </p:cNvPr>
          <p:cNvSpPr>
            <a:spLocks noGrp="1"/>
          </p:cNvSpPr>
          <p:nvPr/>
        </p:nvSpPr>
        <p:spPr>
          <a:xfrm>
            <a:off x="5905500" y="3981450"/>
            <a:ext cx="38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950" b="1">
                <a:solidFill>
                  <a:srgbClr val="F2B705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2B705"/>
                </a:solidFill>
                <a:latin typeface="Aptos Display"/>
                <a:ea typeface="Aptos Display"/>
                <a:cs typeface="Aptos Display"/>
              </a:rPr>
              <a:t>↓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46F7DB-036B-42DE-9B7D-49A82B06899D}"/>
              </a:ext>
            </a:extLst>
          </p:cNvPr>
          <p:cNvSpPr>
            <a:spLocks noGrp="1"/>
          </p:cNvSpPr>
          <p:nvPr/>
        </p:nvSpPr>
        <p:spPr>
          <a:xfrm>
            <a:off x="4857750" y="43434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teszt + döntés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2B05C90-A15F-4181-8A8D-AE8F707402B9}"/>
              </a:ext>
            </a:extLst>
          </p:cNvPr>
          <p:cNvSpPr>
            <a:spLocks noGrp="1"/>
          </p:cNvSpPr>
          <p:nvPr/>
        </p:nvSpPr>
        <p:spPr>
          <a:xfrm>
            <a:off x="7696200" y="2114550"/>
            <a:ext cx="38100" cy="3409950"/>
          </a:xfrm>
          <a:prstGeom prst="rect">
            <a:avLst/>
          </a:prstGeom>
          <a:solidFill>
            <a:srgbClr val="F2B70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0C10FA0-67EC-4E9F-AF32-805D85D8EA67}"/>
              </a:ext>
            </a:extLst>
          </p:cNvPr>
          <p:cNvSpPr>
            <a:spLocks noGrp="1"/>
          </p:cNvSpPr>
          <p:nvPr/>
        </p:nvSpPr>
        <p:spPr>
          <a:xfrm>
            <a:off x="8153400" y="203835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C9684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6845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C2BB8DA-74E5-4CD4-9F26-231B7A958EFD}"/>
              </a:ext>
            </a:extLst>
          </p:cNvPr>
          <p:cNvSpPr>
            <a:spLocks noGrp="1"/>
          </p:cNvSpPr>
          <p:nvPr/>
        </p:nvSpPr>
        <p:spPr>
          <a:xfrm>
            <a:off x="8153400" y="2343150"/>
            <a:ext cx="3333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Projektpartner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5BAA1D0-6BAF-45C7-9121-EAB8B7A0FFC9}"/>
              </a:ext>
            </a:extLst>
          </p:cNvPr>
          <p:cNvSpPr>
            <a:spLocks noGrp="1"/>
          </p:cNvSpPr>
          <p:nvPr/>
        </p:nvSpPr>
        <p:spPr>
          <a:xfrm>
            <a:off x="8153400" y="31051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ARCHITEKT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D50F5BF-5D02-4ECF-AEAE-EFCA914A8C43}"/>
              </a:ext>
            </a:extLst>
          </p:cNvPr>
          <p:cNvSpPr>
            <a:spLocks noGrp="1"/>
          </p:cNvSpPr>
          <p:nvPr/>
        </p:nvSpPr>
        <p:spPr>
          <a:xfrm>
            <a:off x="8153400" y="336232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6E71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rendszerkép és alternatívák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F306234-313D-45B4-8BA6-D65ABCB1EF76}"/>
              </a:ext>
            </a:extLst>
          </p:cNvPr>
          <p:cNvSpPr>
            <a:spLocks noGrp="1"/>
          </p:cNvSpPr>
          <p:nvPr/>
        </p:nvSpPr>
        <p:spPr>
          <a:xfrm>
            <a:off x="8153400" y="38481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FEJLESZTŐ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2184912-D693-4D65-AA70-7E383D71DB9C}"/>
              </a:ext>
            </a:extLst>
          </p:cNvPr>
          <p:cNvSpPr>
            <a:spLocks noGrp="1"/>
          </p:cNvSpPr>
          <p:nvPr/>
        </p:nvSpPr>
        <p:spPr>
          <a:xfrm>
            <a:off x="8153400" y="410527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6E71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gyors prototípus és módosítás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9788727-DC1A-484B-A27B-2B8FD356C6DB}"/>
              </a:ext>
            </a:extLst>
          </p:cNvPr>
          <p:cNvSpPr>
            <a:spLocks noGrp="1"/>
          </p:cNvSpPr>
          <p:nvPr/>
        </p:nvSpPr>
        <p:spPr>
          <a:xfrm>
            <a:off x="8153400" y="45910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REVIEWER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AFC03D4-9D14-42AF-915F-447031B9E698}"/>
              </a:ext>
            </a:extLst>
          </p:cNvPr>
          <p:cNvSpPr>
            <a:spLocks noGrp="1"/>
          </p:cNvSpPr>
          <p:nvPr/>
        </p:nvSpPr>
        <p:spPr>
          <a:xfrm>
            <a:off x="8153400" y="484822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6E71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ellentmondások és kockázatok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64469DF-9D29-4D7F-AA60-A30226A764A6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675" b="0">
                <a:solidFill>
                  <a:srgbClr val="6E71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A szerepek rugalmasak voltak; a felelősségi határ nem: az ember adta a célt és fogadta el az eredményt.</a:t>
            </a:r>
          </a:p>
        </p:txBody>
      </p:sp>
    </p:spTree>
    <p:extLst>
      <p:ext uri="{BB962C8B-B14F-4D97-AF65-F5344CB8AC3E}">
        <p14:creationId xmlns:p14="http://schemas.microsoft.com/office/powerpoint/2010/main" val="1710920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DBDD55EA-352A-4056-966B-B87F059E1796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6673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35B"/>
                </a:solidFill>
                <a:latin typeface="Aptos"/>
                <a:ea typeface="Aptos"/>
                <a:cs typeface="Aptos"/>
              </a:rPr>
              <a:t>MUNKAMÓD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B3A9C7-969F-4F4C-8E87-6AB7EB7D8680}"/>
              </a:ext>
            </a:extLst>
          </p:cNvPr>
          <p:cNvSpPr>
            <a:spLocks noGrp="1"/>
          </p:cNvSpPr>
          <p:nvPr/>
        </p:nvSpPr>
        <p:spPr>
          <a:xfrm>
            <a:off x="11144250" y="36195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6E716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E716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0AD5C4-ED87-4CD5-8178-D9295DBB4567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A rövid iterációk egyszerre gyorsították a fejlesztést és a tanulást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2A01180-A2F7-4729-97CF-311D6C4D222A}"/>
              </a:ext>
            </a:extLst>
          </p:cNvPr>
          <p:cNvSpPr>
            <a:spLocks noGrp="1"/>
          </p:cNvSpPr>
          <p:nvPr/>
        </p:nvSpPr>
        <p:spPr>
          <a:xfrm>
            <a:off x="704850" y="2781300"/>
            <a:ext cx="704850" cy="704850"/>
          </a:xfrm>
          <a:prstGeom prst="ellipse">
            <a:avLst/>
          </a:prstGeom>
          <a:solidFill>
            <a:srgbClr val="FBF8F1"/>
          </a:solidFill>
          <a:ln w="19050">
            <a:solidFill>
              <a:srgbClr val="C9C2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42A982-C467-44F9-A4E5-9BEC8FD4783D}"/>
              </a:ext>
            </a:extLst>
          </p:cNvPr>
          <p:cNvSpPr>
            <a:spLocks noGrp="1"/>
          </p:cNvSpPr>
          <p:nvPr/>
        </p:nvSpPr>
        <p:spPr>
          <a:xfrm>
            <a:off x="895350" y="292417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1A8B38-2B6C-400E-A10F-F39B421D173B}"/>
              </a:ext>
            </a:extLst>
          </p:cNvPr>
          <p:cNvSpPr>
            <a:spLocks noGrp="1"/>
          </p:cNvSpPr>
          <p:nvPr/>
        </p:nvSpPr>
        <p:spPr>
          <a:xfrm>
            <a:off x="152400" y="37909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FELTEVÉS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2E0ABD-7F4E-4325-BCBD-7E4AE4F300BE}"/>
              </a:ext>
            </a:extLst>
          </p:cNvPr>
          <p:cNvSpPr>
            <a:spLocks noGrp="1"/>
          </p:cNvSpPr>
          <p:nvPr/>
        </p:nvSpPr>
        <p:spPr>
          <a:xfrm>
            <a:off x="152400" y="41910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6E716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üzleti kérdés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4E2C43A-FEBA-48F9-82D2-60D679BF6304}"/>
              </a:ext>
            </a:extLst>
          </p:cNvPr>
          <p:cNvSpPr>
            <a:spLocks noGrp="1"/>
          </p:cNvSpPr>
          <p:nvPr/>
        </p:nvSpPr>
        <p:spPr>
          <a:xfrm>
            <a:off x="2914650" y="2781300"/>
            <a:ext cx="704850" cy="704850"/>
          </a:xfrm>
          <a:prstGeom prst="ellipse">
            <a:avLst/>
          </a:prstGeom>
          <a:solidFill>
            <a:srgbClr val="FBF8F1"/>
          </a:solidFill>
          <a:ln w="19050">
            <a:solidFill>
              <a:srgbClr val="C9C2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A00C4F-BFDC-4AD8-A1F3-9E87D0A16065}"/>
              </a:ext>
            </a:extLst>
          </p:cNvPr>
          <p:cNvSpPr>
            <a:spLocks noGrp="1"/>
          </p:cNvSpPr>
          <p:nvPr/>
        </p:nvSpPr>
        <p:spPr>
          <a:xfrm>
            <a:off x="3105150" y="292417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FEB36C-EC13-42CE-AFE4-D3DFD9AA21AB}"/>
              </a:ext>
            </a:extLst>
          </p:cNvPr>
          <p:cNvSpPr>
            <a:spLocks noGrp="1"/>
          </p:cNvSpPr>
          <p:nvPr/>
        </p:nvSpPr>
        <p:spPr>
          <a:xfrm>
            <a:off x="2362200" y="37909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ARCHITEKTÚRA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5DA3E5-F528-4F59-8E99-42145CCEDA79}"/>
              </a:ext>
            </a:extLst>
          </p:cNvPr>
          <p:cNvSpPr>
            <a:spLocks noGrp="1"/>
          </p:cNvSpPr>
          <p:nvPr/>
        </p:nvSpPr>
        <p:spPr>
          <a:xfrm>
            <a:off x="2362200" y="41910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6E716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modell és határ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41A6C9A-DCDD-48CC-86C9-6BC1D10CBE45}"/>
              </a:ext>
            </a:extLst>
          </p:cNvPr>
          <p:cNvSpPr>
            <a:spLocks noGrp="1"/>
          </p:cNvSpPr>
          <p:nvPr/>
        </p:nvSpPr>
        <p:spPr>
          <a:xfrm>
            <a:off x="5124450" y="2781300"/>
            <a:ext cx="704850" cy="704850"/>
          </a:xfrm>
          <a:prstGeom prst="ellipse">
            <a:avLst/>
          </a:prstGeom>
          <a:solidFill>
            <a:srgbClr val="F2B705"/>
          </a:solidFill>
          <a:ln w="19050">
            <a:solidFill>
              <a:srgbClr val="F2B70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C3BA99-0DE3-4BB8-A3B5-75C9F049F828}"/>
              </a:ext>
            </a:extLst>
          </p:cNvPr>
          <p:cNvSpPr>
            <a:spLocks noGrp="1"/>
          </p:cNvSpPr>
          <p:nvPr/>
        </p:nvSpPr>
        <p:spPr>
          <a:xfrm>
            <a:off x="5314950" y="292417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5E79168-6FD4-4E78-A92D-EC34DC04F534}"/>
              </a:ext>
            </a:extLst>
          </p:cNvPr>
          <p:cNvSpPr>
            <a:spLocks noGrp="1"/>
          </p:cNvSpPr>
          <p:nvPr/>
        </p:nvSpPr>
        <p:spPr>
          <a:xfrm>
            <a:off x="4572000" y="37909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PROTOTÍPUS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488F32-5C8A-4737-87C5-A935DDF3F6D5}"/>
              </a:ext>
            </a:extLst>
          </p:cNvPr>
          <p:cNvSpPr>
            <a:spLocks noGrp="1"/>
          </p:cNvSpPr>
          <p:nvPr/>
        </p:nvSpPr>
        <p:spPr>
          <a:xfrm>
            <a:off x="4572000" y="41910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6E716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működő részlet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273699F-B2D6-4E7C-BB68-39BEAA031C97}"/>
              </a:ext>
            </a:extLst>
          </p:cNvPr>
          <p:cNvSpPr>
            <a:spLocks noGrp="1"/>
          </p:cNvSpPr>
          <p:nvPr/>
        </p:nvSpPr>
        <p:spPr>
          <a:xfrm>
            <a:off x="7334250" y="2781300"/>
            <a:ext cx="704850" cy="704850"/>
          </a:xfrm>
          <a:prstGeom prst="ellipse">
            <a:avLst/>
          </a:prstGeom>
          <a:solidFill>
            <a:srgbClr val="FBF8F1"/>
          </a:solidFill>
          <a:ln w="19050">
            <a:solidFill>
              <a:srgbClr val="C9C2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67C5A4C-F9A6-4728-B723-1A3B93ACFCA3}"/>
              </a:ext>
            </a:extLst>
          </p:cNvPr>
          <p:cNvSpPr>
            <a:spLocks noGrp="1"/>
          </p:cNvSpPr>
          <p:nvPr/>
        </p:nvSpPr>
        <p:spPr>
          <a:xfrm>
            <a:off x="7524750" y="292417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D96F1E8-264B-43DD-ACCC-38F2670DB6A2}"/>
              </a:ext>
            </a:extLst>
          </p:cNvPr>
          <p:cNvSpPr>
            <a:spLocks noGrp="1"/>
          </p:cNvSpPr>
          <p:nvPr/>
        </p:nvSpPr>
        <p:spPr>
          <a:xfrm>
            <a:off x="6781800" y="37909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TESZT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03F614-87B5-401E-A304-FEE7D45F2134}"/>
              </a:ext>
            </a:extLst>
          </p:cNvPr>
          <p:cNvSpPr>
            <a:spLocks noGrp="1"/>
          </p:cNvSpPr>
          <p:nvPr/>
        </p:nvSpPr>
        <p:spPr>
          <a:xfrm>
            <a:off x="6781800" y="41910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6E716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valós viselkedés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F4CFCC9-2879-49CC-B008-01E2B13CF62C}"/>
              </a:ext>
            </a:extLst>
          </p:cNvPr>
          <p:cNvSpPr>
            <a:spLocks noGrp="1"/>
          </p:cNvSpPr>
          <p:nvPr/>
        </p:nvSpPr>
        <p:spPr>
          <a:xfrm>
            <a:off x="9544050" y="2781300"/>
            <a:ext cx="704850" cy="704850"/>
          </a:xfrm>
          <a:prstGeom prst="ellipse">
            <a:avLst/>
          </a:prstGeom>
          <a:solidFill>
            <a:srgbClr val="FBF8F1"/>
          </a:solidFill>
          <a:ln w="19050">
            <a:solidFill>
              <a:srgbClr val="C9C2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6CA295D-1848-44C6-B5E5-74DCE902B1A2}"/>
              </a:ext>
            </a:extLst>
          </p:cNvPr>
          <p:cNvSpPr>
            <a:spLocks noGrp="1"/>
          </p:cNvSpPr>
          <p:nvPr/>
        </p:nvSpPr>
        <p:spPr>
          <a:xfrm>
            <a:off x="9734550" y="292417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EFAD18-1B1E-4DEB-B439-89A6070E3ABB}"/>
              </a:ext>
            </a:extLst>
          </p:cNvPr>
          <p:cNvSpPr>
            <a:spLocks noGrp="1"/>
          </p:cNvSpPr>
          <p:nvPr/>
        </p:nvSpPr>
        <p:spPr>
          <a:xfrm>
            <a:off x="8991600" y="37909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FINOMÍTÁS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36C04DB-E66F-4786-8CCE-AEE1BAB075AA}"/>
              </a:ext>
            </a:extLst>
          </p:cNvPr>
          <p:cNvSpPr>
            <a:spLocks noGrp="1"/>
          </p:cNvSpPr>
          <p:nvPr/>
        </p:nvSpPr>
        <p:spPr>
          <a:xfrm>
            <a:off x="8991600" y="41910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6E716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új szabály / kérdés</a:t>
            </a:r>
          </a:p>
        </p:txBody>
      </p:sp>
      <p:cxnSp>
        <p:nvCxnSpPr>
          <p:cNvPr id="85" name="Straight Arrow Connector 24"/>
          <p:cNvCxnSpPr>
            <a:stCxn id="5" idx="6"/>
            <a:endCxn id="9" idx="2"/>
          </p:cNvCxnSpPr>
          <p:nvPr/>
        </p:nvCxnSpPr>
        <p:spPr>
          <a:xfrm>
            <a:off x="1409700" y="3133725"/>
            <a:ext cx="1504950" cy="0"/>
          </a:xfrm>
          <a:prstGeom prst="straightConnector1">
            <a:avLst/>
          </a:prstGeom>
          <a:ln w="19050">
            <a:solidFill>
              <a:srgbClr val="C9C2B5"/>
            </a:solidFill>
            <a:prstDash val="solid"/>
            <a:tailEnd type="triangle" w="sm" len="sm"/>
          </a:ln>
        </p:spPr>
      </p:cxnSp>
      <p:cxnSp>
        <p:nvCxnSpPr>
          <p:cNvPr id="86" name="Straight Arrow Connector 25"/>
          <p:cNvCxnSpPr>
            <a:stCxn id="9" idx="6"/>
            <a:endCxn id="13" idx="2"/>
          </p:cNvCxnSpPr>
          <p:nvPr/>
        </p:nvCxnSpPr>
        <p:spPr>
          <a:xfrm>
            <a:off x="3619500" y="3133725"/>
            <a:ext cx="1504950" cy="0"/>
          </a:xfrm>
          <a:prstGeom prst="straightConnector1">
            <a:avLst/>
          </a:prstGeom>
          <a:ln w="19050">
            <a:solidFill>
              <a:srgbClr val="C9C2B5"/>
            </a:solidFill>
            <a:prstDash val="solid"/>
            <a:tailEnd type="triangle" w="sm" len="sm"/>
          </a:ln>
        </p:spPr>
      </p:cxnSp>
      <p:cxnSp>
        <p:nvCxnSpPr>
          <p:cNvPr id="87" name="Straight Arrow Connector 26"/>
          <p:cNvCxnSpPr>
            <a:stCxn id="13" idx="6"/>
            <a:endCxn id="17" idx="2"/>
          </p:cNvCxnSpPr>
          <p:nvPr/>
        </p:nvCxnSpPr>
        <p:spPr>
          <a:xfrm>
            <a:off x="5829300" y="3133725"/>
            <a:ext cx="1504950" cy="0"/>
          </a:xfrm>
          <a:prstGeom prst="straightConnector1">
            <a:avLst/>
          </a:prstGeom>
          <a:ln w="19050">
            <a:solidFill>
              <a:srgbClr val="C96845"/>
            </a:solidFill>
            <a:prstDash val="solid"/>
            <a:tailEnd type="triangle" w="sm" len="sm"/>
          </a:ln>
        </p:spPr>
      </p:cxnSp>
      <p:cxnSp>
        <p:nvCxnSpPr>
          <p:cNvPr id="88" name="Straight Arrow Connector 27"/>
          <p:cNvCxnSpPr>
            <a:stCxn id="17" idx="6"/>
            <a:endCxn id="21" idx="2"/>
          </p:cNvCxnSpPr>
          <p:nvPr/>
        </p:nvCxnSpPr>
        <p:spPr>
          <a:xfrm>
            <a:off x="8039100" y="3133725"/>
            <a:ext cx="1504950" cy="0"/>
          </a:xfrm>
          <a:prstGeom prst="straightConnector1">
            <a:avLst/>
          </a:prstGeom>
          <a:ln w="19050">
            <a:solidFill>
              <a:srgbClr val="C9C2B5"/>
            </a:solidFill>
            <a:prstDash val="solid"/>
            <a:tailEnd type="triangle" w="sm" len="sm"/>
          </a:ln>
        </p:spPr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693D4FC6-5797-41B0-A56E-F443C4331592}"/>
              </a:ext>
            </a:extLst>
          </p:cNvPr>
          <p:cNvSpPr>
            <a:spLocks noGrp="1"/>
          </p:cNvSpPr>
          <p:nvPr/>
        </p:nvSpPr>
        <p:spPr>
          <a:xfrm>
            <a:off x="704850" y="4819650"/>
            <a:ext cx="9544050" cy="9525"/>
          </a:xfrm>
          <a:prstGeom prst="rect">
            <a:avLst/>
          </a:prstGeom>
          <a:solidFill>
            <a:srgbClr val="C9C2B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0AD009E-B7FB-4AF2-9752-546A4C8CB28B}"/>
              </a:ext>
            </a:extLst>
          </p:cNvPr>
          <p:cNvSpPr>
            <a:spLocks noGrp="1"/>
          </p:cNvSpPr>
          <p:nvPr/>
        </p:nvSpPr>
        <p:spPr>
          <a:xfrm>
            <a:off x="1562100" y="5105400"/>
            <a:ext cx="9067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Minden körben nőtt a közös kontextus — ezért a következő kérdés már pontosabb volt.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CE09E03-D8F6-4DF5-92AF-49ACD0840232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675" b="0">
                <a:solidFill>
                  <a:srgbClr val="6E71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Iterációs elv: kis lépés, látható eredmény, emberi teszt, majd célzott korrekció.</a:t>
            </a:r>
          </a:p>
        </p:txBody>
      </p:sp>
    </p:spTree>
    <p:extLst>
      <p:ext uri="{BB962C8B-B14F-4D97-AF65-F5344CB8AC3E}">
        <p14:creationId xmlns:p14="http://schemas.microsoft.com/office/powerpoint/2010/main" val="107082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D617795-21F0-4918-8D89-AB0189D0714D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F2B70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2B705"/>
                </a:solidFill>
                <a:latin typeface="Aptos"/>
                <a:ea typeface="Aptos"/>
                <a:cs typeface="Aptos"/>
              </a:rPr>
              <a:t>BA-TANULSÁG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3C8B38-B134-4464-85AF-3EF62B8696B8}"/>
              </a:ext>
            </a:extLst>
          </p:cNvPr>
          <p:cNvSpPr>
            <a:spLocks noGrp="1"/>
          </p:cNvSpPr>
          <p:nvPr/>
        </p:nvSpPr>
        <p:spPr>
          <a:xfrm>
            <a:off x="685800" y="1123950"/>
            <a:ext cx="9620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60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Az AI a komplexitást közös,</a:t>
            </a:r>
          </a:p>
          <a:p>
            <a:pPr algn="l">
              <a:buNone/>
              <a:defRPr sz="360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tesztelhető modellé alakítja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11FF77-7574-4355-885B-B8E224AE7499}"/>
              </a:ext>
            </a:extLst>
          </p:cNvPr>
          <p:cNvSpPr>
            <a:spLocks noGrp="1"/>
          </p:cNvSpPr>
          <p:nvPr/>
        </p:nvSpPr>
        <p:spPr>
          <a:xfrm>
            <a:off x="685800" y="2628900"/>
            <a:ext cx="10820400" cy="19050"/>
          </a:xfrm>
          <a:prstGeom prst="rect">
            <a:avLst/>
          </a:prstGeom>
          <a:solidFill>
            <a:srgbClr val="F2B70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0932BB-6169-453D-A50F-35E84110EADF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66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F2B705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2B705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76D2BA-0C1A-4EE7-8F9D-3AC149D73331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295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Az ember tartja a célt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C7D5EC-ACF4-4009-9B06-6088050C5E92}"/>
              </a:ext>
            </a:extLst>
          </p:cNvPr>
          <p:cNvSpPr>
            <a:spLocks noGrp="1"/>
          </p:cNvSpPr>
          <p:nvPr/>
        </p:nvSpPr>
        <p:spPr>
          <a:xfrm>
            <a:off x="685800" y="4438650"/>
            <a:ext cx="2857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C9C7C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9C7C0"/>
                </a:solidFill>
                <a:latin typeface="Aptos"/>
                <a:ea typeface="Aptos"/>
                <a:cs typeface="Aptos"/>
              </a:rPr>
              <a:t>A prioritás, a kontextus és az elfogadás nem delegálható.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EF164F-A456-4A28-B13B-9FE7BF4EDE9D}"/>
              </a:ext>
            </a:extLst>
          </p:cNvPr>
          <p:cNvSpPr>
            <a:spLocks noGrp="1"/>
          </p:cNvSpPr>
          <p:nvPr/>
        </p:nvSpPr>
        <p:spPr>
          <a:xfrm>
            <a:off x="4305300" y="3143250"/>
            <a:ext cx="66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F2B705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2B705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06F519-6309-4F65-8593-529916064328}"/>
              </a:ext>
            </a:extLst>
          </p:cNvPr>
          <p:cNvSpPr>
            <a:spLocks noGrp="1"/>
          </p:cNvSpPr>
          <p:nvPr/>
        </p:nvSpPr>
        <p:spPr>
          <a:xfrm>
            <a:off x="4305300" y="3638550"/>
            <a:ext cx="295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Az AI gyorsítja a formálást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17F476-E9B6-4B5F-87B7-C2AAE69F7168}"/>
              </a:ext>
            </a:extLst>
          </p:cNvPr>
          <p:cNvSpPr>
            <a:spLocks noGrp="1"/>
          </p:cNvSpPr>
          <p:nvPr/>
        </p:nvSpPr>
        <p:spPr>
          <a:xfrm>
            <a:off x="4305300" y="4438650"/>
            <a:ext cx="2857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C9C7C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9C7C0"/>
                </a:solidFill>
                <a:latin typeface="Aptos"/>
                <a:ea typeface="Aptos"/>
                <a:cs typeface="Aptos"/>
              </a:rPr>
              <a:t>Alternatívát, struktúrát és működő változatot ad rövid ciklusokban.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47B13E-B277-472C-BD35-5EE6865F58B6}"/>
              </a:ext>
            </a:extLst>
          </p:cNvPr>
          <p:cNvSpPr>
            <a:spLocks noGrp="1"/>
          </p:cNvSpPr>
          <p:nvPr/>
        </p:nvSpPr>
        <p:spPr>
          <a:xfrm>
            <a:off x="7924800" y="3143250"/>
            <a:ext cx="66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F2B705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2B705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E4F4FA-5794-47CB-A01A-AF42177C9549}"/>
              </a:ext>
            </a:extLst>
          </p:cNvPr>
          <p:cNvSpPr>
            <a:spLocks noGrp="1"/>
          </p:cNvSpPr>
          <p:nvPr/>
        </p:nvSpPr>
        <p:spPr>
          <a:xfrm>
            <a:off x="7924800" y="3638550"/>
            <a:ext cx="295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A közös modell a termék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3F69C3-B6F5-483E-B830-2D1CE6AD737C}"/>
              </a:ext>
            </a:extLst>
          </p:cNvPr>
          <p:cNvSpPr>
            <a:spLocks noGrp="1"/>
          </p:cNvSpPr>
          <p:nvPr/>
        </p:nvSpPr>
        <p:spPr>
          <a:xfrm>
            <a:off x="7924800" y="4438650"/>
            <a:ext cx="2857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C9C7C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9C7C0"/>
                </a:solidFill>
                <a:latin typeface="Aptos"/>
                <a:ea typeface="Aptos"/>
                <a:cs typeface="Aptos"/>
              </a:rPr>
              <a:t>Nem egy chatválasz: tesztelhető döntési logika és vezérelhető rendszer.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7C5EC6-71FF-411C-85AB-E6EA47CA9F98}"/>
              </a:ext>
            </a:extLst>
          </p:cNvPr>
          <p:cNvSpPr>
            <a:spLocks noGrp="1"/>
          </p:cNvSpPr>
          <p:nvPr/>
        </p:nvSpPr>
        <p:spPr>
          <a:xfrm>
            <a:off x="685800" y="5981700"/>
            <a:ext cx="1000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F2B70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B705"/>
                </a:solidFill>
                <a:latin typeface="Aptos"/>
                <a:ea typeface="Aptos"/>
                <a:cs typeface="Aptos"/>
              </a:rPr>
              <a:t>Következő rész: hogyan lett ebből architektúra, prototípus és működő automatizálás?</a:t>
            </a:r>
          </a:p>
        </p:txBody>
      </p:sp>
    </p:spTree>
    <p:extLst>
      <p:ext uri="{BB962C8B-B14F-4D97-AF65-F5344CB8AC3E}">
        <p14:creationId xmlns:p14="http://schemas.microsoft.com/office/powerpoint/2010/main" val="650373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3AE35F-711F-419A-9425-7E3374B82FC8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2B705"/>
                </a:solidFill>
                <a:latin typeface="Aptos"/>
                <a:ea typeface="Aptos"/>
                <a:cs typeface="Aptos"/>
              </a:rPr>
              <a:t>02  ·  A RENDSZER KIALAKÍTÁSA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714615-6A55-4372-A8ED-4B34B083AC40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9239250" cy="1200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80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A helyiségek hőtérképétől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80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egy helyi energiaplatformig</a:t>
            </a:r>
          </a:p>
        </p:txBody>
      </p:sp>
      <p:sp>
        <p:nvSpPr>
          <p:cNvPr id="4" name="Connector 3">
            <a:extLst>
              <a:ext uri="{FF2B5EF4-FFF2-40B4-BE49-F238E27FC236}">
                <a16:creationId xmlns:a16="http://schemas.microsoft.com/office/drawing/2014/main" id="{F8BF9AD3-21FB-4D74-B53F-CEFD192A6B97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10820400" cy="0"/>
          </a:xfrm>
          <a:prstGeom prst="line">
            <a:avLst/>
          </a:prstGeom>
          <a:ln w="25400">
            <a:solidFill>
              <a:srgbClr val="F2B7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7595E2-812D-4626-8F81-14C55FD14DE5}"/>
              </a:ext>
            </a:extLst>
          </p:cNvPr>
          <p:cNvSpPr>
            <a:spLocks noGrp="1"/>
          </p:cNvSpPr>
          <p:nvPr/>
        </p:nvSpPr>
        <p:spPr>
          <a:xfrm>
            <a:off x="685800" y="3409950"/>
            <a:ext cx="24765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2B705"/>
                </a:solidFill>
                <a:latin typeface="Aptos"/>
                <a:ea typeface="Aptos"/>
                <a:cs typeface="Aptos"/>
              </a:rPr>
              <a:t>Kiinduló elv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60EBC9-F6CE-4E45-8A9D-4C9B9EBDDA25}"/>
              </a:ext>
            </a:extLst>
          </p:cNvPr>
          <p:cNvSpPr>
            <a:spLocks noGrp="1"/>
          </p:cNvSpPr>
          <p:nvPr/>
        </p:nvSpPr>
        <p:spPr>
          <a:xfrm>
            <a:off x="685800" y="3810000"/>
            <a:ext cx="85725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A rendszer akkor irányítható, ha előbb helyben, megbízhatóan mérhetővé válik.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17461E-9FF7-4011-B104-A8010D60E887}"/>
              </a:ext>
            </a:extLst>
          </p:cNvPr>
          <p:cNvSpPr>
            <a:spLocks noGrp="1"/>
          </p:cNvSpPr>
          <p:nvPr/>
        </p:nvSpPr>
        <p:spPr>
          <a:xfrm>
            <a:off x="685800" y="6000750"/>
            <a:ext cx="72390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C9C7C0"/>
                </a:solidFill>
                <a:latin typeface="Aptos"/>
                <a:ea typeface="Aptos"/>
                <a:cs typeface="Aptos"/>
              </a:rPr>
              <a:t>NO CLOUD  ·  SAJÁT FEJLESZTÉS  ·  HELYI ELÉRÉS</a:t>
            </a:r>
          </a:p>
        </p:txBody>
      </p:sp>
    </p:spTree>
    <p:extLst>
      <p:ext uri="{BB962C8B-B14F-4D97-AF65-F5344CB8AC3E}">
        <p14:creationId xmlns:p14="http://schemas.microsoft.com/office/powerpoint/2010/main" val="330142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C01EEC-1E3A-48F4-B2E6-BB70F159D51C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57150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66735B"/>
                </a:solidFill>
                <a:latin typeface="Aptos"/>
                <a:ea typeface="Aptos"/>
                <a:cs typeface="Aptos"/>
              </a:rPr>
              <a:t>PROBLÉMA → ALAPELV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4C3D88-1D47-41A5-833A-AEC6B06D4491}"/>
              </a:ext>
            </a:extLst>
          </p:cNvPr>
          <p:cNvSpPr>
            <a:spLocks noGrp="1"/>
          </p:cNvSpPr>
          <p:nvPr/>
        </p:nvSpPr>
        <p:spPr>
          <a:xfrm>
            <a:off x="11144250" y="361950"/>
            <a:ext cx="36195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6E716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A3A339-355E-4BB5-BBBE-245F320734CC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838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A két fűtési zóna nem követte a ház valós hőtérképét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8C318D-DEE0-4127-B6D4-9B3AD0592DFB}"/>
              </a:ext>
            </a:extLst>
          </p:cNvPr>
          <p:cNvSpPr>
            <a:spLocks noGrp="1"/>
          </p:cNvSpPr>
          <p:nvPr/>
        </p:nvSpPr>
        <p:spPr>
          <a:xfrm>
            <a:off x="857250" y="2381250"/>
            <a:ext cx="3848099" cy="2305050"/>
          </a:xfrm>
          <a:prstGeom prst="rect">
            <a:avLst/>
          </a:prstGeom>
          <a:solidFill>
            <a:srgbClr val="FBF8F1"/>
          </a:solidFill>
          <a:ln w="15240">
            <a:solidFill>
              <a:srgbClr val="C9C2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Connector 6">
            <a:extLst>
              <a:ext uri="{FF2B5EF4-FFF2-40B4-BE49-F238E27FC236}">
                <a16:creationId xmlns:a16="http://schemas.microsoft.com/office/drawing/2014/main" id="{614D52BE-B40B-4B3E-8379-C4F4092B4D1E}"/>
              </a:ext>
            </a:extLst>
          </p:cNvPr>
          <p:cNvSpPr>
            <a:spLocks noGrp="1"/>
          </p:cNvSpPr>
          <p:nvPr/>
        </p:nvSpPr>
        <p:spPr>
          <a:xfrm>
            <a:off x="857250" y="3533775"/>
            <a:ext cx="3848100" cy="0"/>
          </a:xfrm>
          <a:prstGeom prst="line">
            <a:avLst/>
          </a:prstGeom>
          <a:ln w="15240">
            <a:solidFill>
              <a:srgbClr val="C9C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C073A8-0568-42D4-BF2D-1DB03C7CB947}"/>
              </a:ext>
            </a:extLst>
          </p:cNvPr>
          <p:cNvSpPr>
            <a:spLocks noGrp="1"/>
          </p:cNvSpPr>
          <p:nvPr/>
        </p:nvSpPr>
        <p:spPr>
          <a:xfrm>
            <a:off x="1028700" y="2628900"/>
            <a:ext cx="11430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66735B"/>
                </a:solidFill>
                <a:latin typeface="Aptos"/>
                <a:ea typeface="Aptos"/>
                <a:cs typeface="Aptos"/>
              </a:rPr>
              <a:t>EMELET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DCC2E6-90A9-401C-A082-65D77696E170}"/>
              </a:ext>
            </a:extLst>
          </p:cNvPr>
          <p:cNvSpPr>
            <a:spLocks noGrp="1"/>
          </p:cNvSpPr>
          <p:nvPr/>
        </p:nvSpPr>
        <p:spPr>
          <a:xfrm>
            <a:off x="1028700" y="3781425"/>
            <a:ext cx="11430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66735B"/>
                </a:solidFill>
                <a:latin typeface="Aptos"/>
                <a:ea typeface="Aptos"/>
                <a:cs typeface="Aptos"/>
              </a:rPr>
              <a:t>FÖLDSZINT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55BB70-6B05-43A9-B565-2C3CD7F6712C}"/>
              </a:ext>
            </a:extLst>
          </p:cNvPr>
          <p:cNvSpPr>
            <a:spLocks noGrp="1"/>
          </p:cNvSpPr>
          <p:nvPr/>
        </p:nvSpPr>
        <p:spPr>
          <a:xfrm>
            <a:off x="857250" y="2381250"/>
            <a:ext cx="1924049" cy="2305050"/>
          </a:xfrm>
          <a:prstGeom prst="rect">
            <a:avLst/>
          </a:prstGeom>
          <a:solidFill>
            <a:srgbClr val="F8D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B49B5C-60DB-45EC-9268-334AFE76B14C}"/>
              </a:ext>
            </a:extLst>
          </p:cNvPr>
          <p:cNvSpPr>
            <a:spLocks noGrp="1"/>
          </p:cNvSpPr>
          <p:nvPr/>
        </p:nvSpPr>
        <p:spPr>
          <a:xfrm>
            <a:off x="2781300" y="2381250"/>
            <a:ext cx="1924049" cy="2305050"/>
          </a:xfrm>
          <a:prstGeom prst="rect">
            <a:avLst/>
          </a:prstGeom>
          <a:solidFill>
            <a:srgbClr val="E8E1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Connector 11">
            <a:extLst>
              <a:ext uri="{FF2B5EF4-FFF2-40B4-BE49-F238E27FC236}">
                <a16:creationId xmlns:a16="http://schemas.microsoft.com/office/drawing/2014/main" id="{AC4A4C20-2F97-417D-B9C5-13F00D8510A0}"/>
              </a:ext>
            </a:extLst>
          </p:cNvPr>
          <p:cNvSpPr>
            <a:spLocks noGrp="1"/>
          </p:cNvSpPr>
          <p:nvPr/>
        </p:nvSpPr>
        <p:spPr>
          <a:xfrm>
            <a:off x="2781300" y="2381250"/>
            <a:ext cx="0" cy="0"/>
          </a:xfrm>
          <a:prstGeom prst="line">
            <a:avLst/>
          </a:prstGeom>
          <a:ln w="12700">
            <a:solidFill>
              <a:srgbClr val="C9C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F586E4-A0B9-4438-8E15-88287B860BF9}"/>
              </a:ext>
            </a:extLst>
          </p:cNvPr>
          <p:cNvSpPr>
            <a:spLocks noGrp="1"/>
          </p:cNvSpPr>
          <p:nvPr/>
        </p:nvSpPr>
        <p:spPr>
          <a:xfrm>
            <a:off x="1181100" y="3076575"/>
            <a:ext cx="1295400" cy="342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D–DNY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61447B-B013-4A64-8BCA-0AEEB993DCF6}"/>
              </a:ext>
            </a:extLst>
          </p:cNvPr>
          <p:cNvSpPr>
            <a:spLocks noGrp="1"/>
          </p:cNvSpPr>
          <p:nvPr/>
        </p:nvSpPr>
        <p:spPr>
          <a:xfrm>
            <a:off x="3105150" y="3076575"/>
            <a:ext cx="1295400" cy="342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É–ÉK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E64E09-0A85-4050-90C6-9442E234EC23}"/>
              </a:ext>
            </a:extLst>
          </p:cNvPr>
          <p:cNvSpPr>
            <a:spLocks noGrp="1"/>
          </p:cNvSpPr>
          <p:nvPr/>
        </p:nvSpPr>
        <p:spPr>
          <a:xfrm>
            <a:off x="1143000" y="4229100"/>
            <a:ext cx="13716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292A26"/>
                </a:solidFill>
                <a:latin typeface="Aptos"/>
                <a:ea typeface="Aptos"/>
                <a:cs typeface="Aptos"/>
              </a:rPr>
              <a:t>melegebb zónák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3B8BF7-7586-430B-950D-0EE1B6E30788}"/>
              </a:ext>
            </a:extLst>
          </p:cNvPr>
          <p:cNvSpPr>
            <a:spLocks noGrp="1"/>
          </p:cNvSpPr>
          <p:nvPr/>
        </p:nvSpPr>
        <p:spPr>
          <a:xfrm>
            <a:off x="3048000" y="4229100"/>
            <a:ext cx="142875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hűvösebb zónák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04BF77-1AEB-4521-817D-8CFE5F87D20E}"/>
              </a:ext>
            </a:extLst>
          </p:cNvPr>
          <p:cNvSpPr>
            <a:spLocks noGrp="1"/>
          </p:cNvSpPr>
          <p:nvPr/>
        </p:nvSpPr>
        <p:spPr>
          <a:xfrm>
            <a:off x="5429250" y="2343150"/>
            <a:ext cx="542925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A két zóna csak a szinteket választotta szét.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5CDFF8-1843-4124-A6EB-9CC3FC5A8EA8}"/>
              </a:ext>
            </a:extLst>
          </p:cNvPr>
          <p:cNvSpPr>
            <a:spLocks noGrp="1"/>
          </p:cNvSpPr>
          <p:nvPr/>
        </p:nvSpPr>
        <p:spPr>
          <a:xfrm>
            <a:off x="5429250" y="2933700"/>
            <a:ext cx="539115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A leghidegebb és a legmelegebb helyiség között most 2,0 °C a különbség.</a:t>
            </a:r>
          </a:p>
        </p:txBody>
      </p:sp>
      <p:sp>
        <p:nvSpPr>
          <p:cNvPr id="19" name="Connector 18">
            <a:extLst>
              <a:ext uri="{FF2B5EF4-FFF2-40B4-BE49-F238E27FC236}">
                <a16:creationId xmlns:a16="http://schemas.microsoft.com/office/drawing/2014/main" id="{7EA1FEB7-ECD7-48CE-93DF-5FCC24EF74AD}"/>
              </a:ext>
            </a:extLst>
          </p:cNvPr>
          <p:cNvSpPr>
            <a:spLocks noGrp="1"/>
          </p:cNvSpPr>
          <p:nvPr/>
        </p:nvSpPr>
        <p:spPr>
          <a:xfrm>
            <a:off x="5429250" y="3876674"/>
            <a:ext cx="5391150" cy="0"/>
          </a:xfrm>
          <a:prstGeom prst="line">
            <a:avLst/>
          </a:prstGeom>
          <a:ln w="12700">
            <a:solidFill>
              <a:srgbClr val="C9C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7F3E5A0-42FE-4CAB-A246-CD5DD6CDD5FE}"/>
              </a:ext>
            </a:extLst>
          </p:cNvPr>
          <p:cNvSpPr>
            <a:spLocks noGrp="1"/>
          </p:cNvSpPr>
          <p:nvPr/>
        </p:nvSpPr>
        <p:spPr>
          <a:xfrm>
            <a:off x="5467350" y="4171950"/>
            <a:ext cx="171450" cy="17145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D422164-9630-47BE-82DF-1E5F594168F1}"/>
              </a:ext>
            </a:extLst>
          </p:cNvPr>
          <p:cNvSpPr>
            <a:spLocks noGrp="1"/>
          </p:cNvSpPr>
          <p:nvPr/>
        </p:nvSpPr>
        <p:spPr>
          <a:xfrm>
            <a:off x="5810250" y="4076699"/>
            <a:ext cx="4953000" cy="476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Kritikus helyiségenként külön mérés és termosztát szükséges.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F16532D-A484-4401-A9A1-ECAF77F40BEF}"/>
              </a:ext>
            </a:extLst>
          </p:cNvPr>
          <p:cNvSpPr>
            <a:spLocks noGrp="1"/>
          </p:cNvSpPr>
          <p:nvPr/>
        </p:nvSpPr>
        <p:spPr>
          <a:xfrm>
            <a:off x="5467350" y="4895850"/>
            <a:ext cx="171450" cy="171450"/>
          </a:xfrm>
          <a:prstGeom prst="ellipse">
            <a:avLst/>
          </a:prstGeom>
          <a:solidFill>
            <a:srgbClr val="C96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273E21-9682-4969-A5E0-B1D2F39B2120}"/>
              </a:ext>
            </a:extLst>
          </p:cNvPr>
          <p:cNvSpPr>
            <a:spLocks noGrp="1"/>
          </p:cNvSpPr>
          <p:nvPr/>
        </p:nvSpPr>
        <p:spPr>
          <a:xfrm>
            <a:off x="5810250" y="4800600"/>
            <a:ext cx="4953000" cy="552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A mérési és adatkezelési mag helyi; a Hisense klímák jelenleg ConnectLife-függők.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10E1C2-B3EB-4E30-BD88-CEC22EC7C5AD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Forrás: projektgazdai megfigyelés és tervezési döntés, 2026. szeptember.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30C281F-9A7E-4142-8859-EF7DA5F339AE}"/>
              </a:ext>
            </a:extLst>
          </p:cNvPr>
          <p:cNvSpPr>
            <a:spLocks noGrp="1"/>
          </p:cNvSpPr>
          <p:nvPr/>
        </p:nvSpPr>
        <p:spPr>
          <a:xfrm>
            <a:off x="1905000" y="3600450"/>
            <a:ext cx="17526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2100" b="1">
                <a:solidFill>
                  <a:srgbClr val="CE6843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CE6843"/>
                </a:solidFill>
                <a:latin typeface="Aptos Display"/>
                <a:ea typeface="Aptos Display"/>
                <a:cs typeface="Aptos Display"/>
              </a:rPr>
              <a:t>Δ 2,0 °C</a:t>
            </a:r>
          </a:p>
        </p:txBody>
      </p:sp>
    </p:spTree>
    <p:extLst>
      <p:ext uri="{BB962C8B-B14F-4D97-AF65-F5344CB8AC3E}">
        <p14:creationId xmlns:p14="http://schemas.microsoft.com/office/powerpoint/2010/main" val="181628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4E8E03-0169-4FE3-B1A8-D7CDA096B32D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57150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66735B"/>
                </a:solidFill>
                <a:latin typeface="Aptos"/>
                <a:ea typeface="Aptos"/>
                <a:cs typeface="Aptos"/>
              </a:rPr>
              <a:t>VEZÉRELHETŐSÉG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0AAD54-211D-4FBA-B148-E8D84C55CB98}"/>
              </a:ext>
            </a:extLst>
          </p:cNvPr>
          <p:cNvSpPr>
            <a:spLocks noGrp="1"/>
          </p:cNvSpPr>
          <p:nvPr/>
        </p:nvSpPr>
        <p:spPr>
          <a:xfrm>
            <a:off x="11144250" y="361950"/>
            <a:ext cx="36195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6E716A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F970D9-34C5-4DAB-948D-B5332AF4DF76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838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dirty="0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A </a:t>
            </a:r>
            <a:r>
              <a:rPr sz="3600" b="1" dirty="0" err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meglévő</a:t>
            </a:r>
            <a:r>
              <a:rPr sz="3600" b="1" dirty="0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3600" b="1" dirty="0" err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eszközöket</a:t>
            </a:r>
            <a:r>
              <a:rPr sz="3600" b="1" dirty="0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3600" b="1" dirty="0" err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előbb</a:t>
            </a:r>
            <a:r>
              <a:rPr sz="3600" b="1" dirty="0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 „meg </a:t>
            </a:r>
            <a:r>
              <a:rPr sz="3600" b="1" dirty="0" err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kellett</a:t>
            </a:r>
            <a:r>
              <a:rPr sz="3600" b="1" dirty="0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3600" b="1" dirty="0" err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tanítani</a:t>
            </a:r>
            <a:r>
              <a:rPr sz="3600" b="1" dirty="0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” </a:t>
            </a:r>
            <a:r>
              <a:rPr sz="3600" b="1" dirty="0" err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együttműködni</a:t>
            </a:r>
            <a:endParaRPr sz="3600" b="1" dirty="0">
              <a:solidFill>
                <a:srgbClr val="292A26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8BAC4B-BDBD-48B6-8F0A-C11D426E5EE6}"/>
              </a:ext>
            </a:extLst>
          </p:cNvPr>
          <p:cNvSpPr>
            <a:spLocks noGrp="1"/>
          </p:cNvSpPr>
          <p:nvPr/>
        </p:nvSpPr>
        <p:spPr>
          <a:xfrm>
            <a:off x="704850" y="2095499"/>
            <a:ext cx="22860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66735B"/>
                </a:solidFill>
                <a:latin typeface="Aptos"/>
                <a:ea typeface="Aptos"/>
                <a:cs typeface="Aptos"/>
              </a:rPr>
              <a:t>VISSZAFEJTÉS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E1DCBB-23DB-48E8-BE45-68756A3284D4}"/>
              </a:ext>
            </a:extLst>
          </p:cNvPr>
          <p:cNvSpPr>
            <a:spLocks noGrp="1"/>
          </p:cNvSpPr>
          <p:nvPr/>
        </p:nvSpPr>
        <p:spPr>
          <a:xfrm>
            <a:off x="857250" y="2647950"/>
            <a:ext cx="257175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Hisense klímák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D8DCA2-C803-4F0B-8ECB-EADCC6473FEC}"/>
              </a:ext>
            </a:extLst>
          </p:cNvPr>
          <p:cNvSpPr>
            <a:spLocks noGrp="1"/>
          </p:cNvSpPr>
          <p:nvPr/>
        </p:nvSpPr>
        <p:spPr>
          <a:xfrm>
            <a:off x="857250" y="3067050"/>
            <a:ext cx="25717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ConnectLife állapot- és vezérlési API</a:t>
            </a:r>
          </a:p>
        </p:txBody>
      </p:sp>
      <p:sp>
        <p:nvSpPr>
          <p:cNvPr id="9" name="Connector 8">
            <a:extLst>
              <a:ext uri="{FF2B5EF4-FFF2-40B4-BE49-F238E27FC236}">
                <a16:creationId xmlns:a16="http://schemas.microsoft.com/office/drawing/2014/main" id="{A2261EC5-D63C-425F-A843-E7E09CC2A049}"/>
              </a:ext>
            </a:extLst>
          </p:cNvPr>
          <p:cNvSpPr>
            <a:spLocks noGrp="1"/>
          </p:cNvSpPr>
          <p:nvPr/>
        </p:nvSpPr>
        <p:spPr>
          <a:xfrm>
            <a:off x="3676649" y="3067050"/>
            <a:ext cx="4095751" cy="0"/>
          </a:xfrm>
          <a:prstGeom prst="line">
            <a:avLst/>
          </a:prstGeom>
          <a:ln w="25400">
            <a:solidFill>
              <a:srgbClr val="C9C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4BC3B08-C9E2-4506-9CCC-2DD9AADF9AD3}"/>
              </a:ext>
            </a:extLst>
          </p:cNvPr>
          <p:cNvSpPr>
            <a:spLocks noGrp="1"/>
          </p:cNvSpPr>
          <p:nvPr/>
        </p:nvSpPr>
        <p:spPr>
          <a:xfrm>
            <a:off x="3638550" y="2990850"/>
            <a:ext cx="171450" cy="17145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E032EA0-DCE6-42B3-ABBB-2CA71611EE63}"/>
              </a:ext>
            </a:extLst>
          </p:cNvPr>
          <p:cNvSpPr>
            <a:spLocks noGrp="1"/>
          </p:cNvSpPr>
          <p:nvPr/>
        </p:nvSpPr>
        <p:spPr>
          <a:xfrm>
            <a:off x="7696199" y="2990850"/>
            <a:ext cx="171450" cy="17145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36CFBB-C0A1-4946-BF5A-6AFF5C65E645}"/>
              </a:ext>
            </a:extLst>
          </p:cNvPr>
          <p:cNvSpPr>
            <a:spLocks noGrp="1"/>
          </p:cNvSpPr>
          <p:nvPr/>
        </p:nvSpPr>
        <p:spPr>
          <a:xfrm>
            <a:off x="4019549" y="2609850"/>
            <a:ext cx="2095499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vezérlési mezők feltérképezése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C7F217-7B62-430C-86EF-B15CCCD8DB65}"/>
              </a:ext>
            </a:extLst>
          </p:cNvPr>
          <p:cNvSpPr>
            <a:spLocks noGrp="1"/>
          </p:cNvSpPr>
          <p:nvPr/>
        </p:nvSpPr>
        <p:spPr>
          <a:xfrm>
            <a:off x="6134100" y="3333750"/>
            <a:ext cx="20002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válaszok validálása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87C922-A6C9-470E-933D-CE6A87171728}"/>
              </a:ext>
            </a:extLst>
          </p:cNvPr>
          <p:cNvSpPr>
            <a:spLocks noGrp="1"/>
          </p:cNvSpPr>
          <p:nvPr/>
        </p:nvSpPr>
        <p:spPr>
          <a:xfrm>
            <a:off x="8420100" y="2533650"/>
            <a:ext cx="238125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75"/>
            </a:pPr>
            <a:r>
              <a:rPr sz="1875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visszaellenőrzött vezérlés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048F58-6138-466C-8568-A28FBB2EB07B}"/>
              </a:ext>
            </a:extLst>
          </p:cNvPr>
          <p:cNvSpPr>
            <a:spLocks noGrp="1"/>
          </p:cNvSpPr>
          <p:nvPr/>
        </p:nvSpPr>
        <p:spPr>
          <a:xfrm>
            <a:off x="8420100" y="3143250"/>
            <a:ext cx="2381250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/>
            </a:pPr>
            <a:r>
              <a:rPr sz="1275" b="1">
                <a:solidFill>
                  <a:srgbClr val="66735B"/>
                </a:solidFill>
                <a:latin typeface="Aptos"/>
                <a:ea typeface="Aptos"/>
                <a:cs typeface="Aptos"/>
              </a:rPr>
              <a:t>ConnectLife cloudon keresztül</a:t>
            </a:r>
          </a:p>
        </p:txBody>
      </p:sp>
      <p:sp>
        <p:nvSpPr>
          <p:cNvPr id="16" name="Connector 15">
            <a:extLst>
              <a:ext uri="{FF2B5EF4-FFF2-40B4-BE49-F238E27FC236}">
                <a16:creationId xmlns:a16="http://schemas.microsoft.com/office/drawing/2014/main" id="{4EFBBA6C-1C42-4532-9C89-EA4A4D7C9660}"/>
              </a:ext>
            </a:extLst>
          </p:cNvPr>
          <p:cNvSpPr>
            <a:spLocks noGrp="1"/>
          </p:cNvSpPr>
          <p:nvPr/>
        </p:nvSpPr>
        <p:spPr>
          <a:xfrm>
            <a:off x="857250" y="3829050"/>
            <a:ext cx="9944100" cy="0"/>
          </a:xfrm>
          <a:prstGeom prst="line">
            <a:avLst/>
          </a:prstGeom>
          <a:ln w="12700">
            <a:solidFill>
              <a:srgbClr val="C9C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97D3A8-AD13-45D0-94A8-9748070B40FF}"/>
              </a:ext>
            </a:extLst>
          </p:cNvPr>
          <p:cNvSpPr>
            <a:spLocks noGrp="1"/>
          </p:cNvSpPr>
          <p:nvPr/>
        </p:nvSpPr>
        <p:spPr>
          <a:xfrm>
            <a:off x="857250" y="4171950"/>
            <a:ext cx="2762250" cy="590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Computherm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termosztát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964C10-117E-4E07-9B02-8A71B26F86E0}"/>
              </a:ext>
            </a:extLst>
          </p:cNvPr>
          <p:cNvSpPr>
            <a:spLocks noGrp="1"/>
          </p:cNvSpPr>
          <p:nvPr/>
        </p:nvSpPr>
        <p:spPr>
          <a:xfrm>
            <a:off x="857250" y="4857750"/>
            <a:ext cx="2762250" cy="3619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helyi termosztát API és reléállapot</a:t>
            </a:r>
          </a:p>
        </p:txBody>
      </p:sp>
      <p:sp>
        <p:nvSpPr>
          <p:cNvPr id="19" name="Connector 18">
            <a:extLst>
              <a:ext uri="{FF2B5EF4-FFF2-40B4-BE49-F238E27FC236}">
                <a16:creationId xmlns:a16="http://schemas.microsoft.com/office/drawing/2014/main" id="{171A84F4-EE9E-4273-A4FE-332EA18E7A69}"/>
              </a:ext>
            </a:extLst>
          </p:cNvPr>
          <p:cNvSpPr>
            <a:spLocks noGrp="1"/>
          </p:cNvSpPr>
          <p:nvPr/>
        </p:nvSpPr>
        <p:spPr>
          <a:xfrm>
            <a:off x="3676649" y="4705350"/>
            <a:ext cx="4095751" cy="0"/>
          </a:xfrm>
          <a:prstGeom prst="line">
            <a:avLst/>
          </a:prstGeom>
          <a:ln w="25400">
            <a:solidFill>
              <a:srgbClr val="C9C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033C3A6-3E5C-434E-8810-65491F04CB52}"/>
              </a:ext>
            </a:extLst>
          </p:cNvPr>
          <p:cNvSpPr>
            <a:spLocks noGrp="1"/>
          </p:cNvSpPr>
          <p:nvPr/>
        </p:nvSpPr>
        <p:spPr>
          <a:xfrm>
            <a:off x="3638550" y="4629150"/>
            <a:ext cx="171450" cy="171450"/>
          </a:xfrm>
          <a:prstGeom prst="ellipse">
            <a:avLst/>
          </a:prstGeom>
          <a:solidFill>
            <a:srgbClr val="C96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914F58F-A555-4F2F-916D-BA26BF25282A}"/>
              </a:ext>
            </a:extLst>
          </p:cNvPr>
          <p:cNvSpPr>
            <a:spLocks noGrp="1"/>
          </p:cNvSpPr>
          <p:nvPr/>
        </p:nvSpPr>
        <p:spPr>
          <a:xfrm>
            <a:off x="7696199" y="4629150"/>
            <a:ext cx="171450" cy="171450"/>
          </a:xfrm>
          <a:prstGeom prst="ellipse">
            <a:avLst/>
          </a:prstGeom>
          <a:solidFill>
            <a:srgbClr val="C96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DB241A-E9A3-4B5F-8D6E-77E381B1D371}"/>
              </a:ext>
            </a:extLst>
          </p:cNvPr>
          <p:cNvSpPr>
            <a:spLocks noGrp="1"/>
          </p:cNvSpPr>
          <p:nvPr/>
        </p:nvSpPr>
        <p:spPr>
          <a:xfrm>
            <a:off x="4095750" y="4248150"/>
            <a:ext cx="18097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kapcsolási logika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71E16EC-B90E-4479-AF75-33EB223C27B1}"/>
              </a:ext>
            </a:extLst>
          </p:cNvPr>
          <p:cNvSpPr>
            <a:spLocks noGrp="1"/>
          </p:cNvSpPr>
          <p:nvPr/>
        </p:nvSpPr>
        <p:spPr>
          <a:xfrm>
            <a:off x="6076950" y="4972050"/>
            <a:ext cx="21907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működés ellenőrzése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42AF65E-4BEF-4A76-82C8-E30C9A9C2B2F}"/>
              </a:ext>
            </a:extLst>
          </p:cNvPr>
          <p:cNvSpPr>
            <a:spLocks noGrp="1"/>
          </p:cNvSpPr>
          <p:nvPr/>
        </p:nvSpPr>
        <p:spPr>
          <a:xfrm>
            <a:off x="8420100" y="4171950"/>
            <a:ext cx="2381250" cy="552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75"/>
            </a:pPr>
            <a:r>
              <a:rPr sz="1875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fűtési igény előállítása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523BBA9-0B84-42E0-A2BC-CC100C06BCD0}"/>
              </a:ext>
            </a:extLst>
          </p:cNvPr>
          <p:cNvSpPr>
            <a:spLocks noGrp="1"/>
          </p:cNvSpPr>
          <p:nvPr/>
        </p:nvSpPr>
        <p:spPr>
          <a:xfrm>
            <a:off x="8420100" y="4800600"/>
            <a:ext cx="238125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/>
            </a:pPr>
            <a:r>
              <a:rPr sz="1275" b="1">
                <a:solidFill>
                  <a:srgbClr val="66735B"/>
                </a:solidFill>
                <a:latin typeface="Aptos"/>
                <a:ea typeface="Aptos"/>
                <a:cs typeface="Aptos"/>
              </a:rPr>
              <a:t>validált helyi interfész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9C4DF9D-DEE7-4722-90B3-675361E9C681}"/>
              </a:ext>
            </a:extLst>
          </p:cNvPr>
          <p:cNvSpPr>
            <a:spLocks noGrp="1"/>
          </p:cNvSpPr>
          <p:nvPr/>
        </p:nvSpPr>
        <p:spPr>
          <a:xfrm>
            <a:off x="1428750" y="5429250"/>
            <a:ext cx="9334500" cy="647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pPr>
            <a:r>
              <a:rPr sz="1800" b="1">
                <a:solidFill>
                  <a:srgbClr val="C96845"/>
                </a:solidFill>
                <a:latin typeface="Aptos Display"/>
                <a:ea typeface="Aptos Display"/>
                <a:cs typeface="Aptos Display"/>
              </a:rPr>
              <a:t>Eredmény: a meglévő eszközök egységes adat- és vezérlési modellbe kerültek.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2DDEE0A-9C5C-4D1E-A784-C68E834FD9A7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Forrás: projektgazdai fejlesztési tapasztalat; a protokollok visszafejtése és validálása a projekt része volt.</a:t>
            </a:r>
          </a:p>
        </p:txBody>
      </p:sp>
    </p:spTree>
    <p:extLst>
      <p:ext uri="{BB962C8B-B14F-4D97-AF65-F5344CB8AC3E}">
        <p14:creationId xmlns:p14="http://schemas.microsoft.com/office/powerpoint/2010/main" val="6682215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E8C4C913-D3B7-48CA-9495-DE5EB05BCB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0E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5969E9-AD19-4F4F-B89E-FFCBC6BC9269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1">
                <a:solidFill>
                  <a:srgbClr val="66735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66735B"/>
                </a:solidFill>
                <a:latin typeface="Aptos Display"/>
                <a:ea typeface="Aptos Display"/>
                <a:cs typeface="Aptos Display"/>
              </a:rPr>
              <a:t>ELSŐ PROTOTÍPUS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D6900C-E0E0-40AC-9C91-E2647AAB19B8}"/>
              </a:ext>
            </a:extLst>
          </p:cNvPr>
          <p:cNvSpPr>
            <a:spLocks noGrp="1"/>
          </p:cNvSpPr>
          <p:nvPr/>
        </p:nvSpPr>
        <p:spPr>
          <a:xfrm>
            <a:off x="11144250" y="36195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050" b="1">
                <a:solidFill>
                  <a:srgbClr val="74756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74756F"/>
                </a:solidFill>
                <a:latin typeface="Aptos Display"/>
                <a:ea typeface="Aptos Display"/>
                <a:cs typeface="Aptos Display"/>
              </a:rPr>
              <a:t>13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F382F3-444A-400B-BA60-E7E67191DB2A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0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Az első szenzorok túl jól követték a légáramlatot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rcRect t="21057" b="21057"/>
          <a:stretch>
            <a:fillRect/>
          </a:stretch>
        </p:blipFill>
        <p:spPr>
          <a:xfrm>
            <a:off x="685800" y="2114550"/>
            <a:ext cx="3905250" cy="16954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66EE2D0-DB47-4242-962B-2B25E421955A}"/>
              </a:ext>
            </a:extLst>
          </p:cNvPr>
          <p:cNvSpPr>
            <a:spLocks noGrp="1"/>
          </p:cNvSpPr>
          <p:nvPr/>
        </p:nvSpPr>
        <p:spPr>
          <a:xfrm>
            <a:off x="685800" y="3848100"/>
            <a:ext cx="39052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1">
                <a:solidFill>
                  <a:srgbClr val="66735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66735B"/>
                </a:solidFill>
                <a:latin typeface="Aptos Display"/>
                <a:ea typeface="Aptos Display"/>
                <a:cs typeface="Aptos Display"/>
              </a:rPr>
              <a:t>DS18B20 érzékelő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4"/>
          <a:srcRect t="26260" b="26260"/>
          <a:stretch>
            <a:fillRect/>
          </a:stretch>
        </p:blipFill>
        <p:spPr>
          <a:xfrm>
            <a:off x="685800" y="4248150"/>
            <a:ext cx="3905250" cy="13906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FD50AB2-2ADE-4B34-9B61-BE184EF946CB}"/>
              </a:ext>
            </a:extLst>
          </p:cNvPr>
          <p:cNvSpPr>
            <a:spLocks noGrp="1"/>
          </p:cNvSpPr>
          <p:nvPr/>
        </p:nvSpPr>
        <p:spPr>
          <a:xfrm>
            <a:off x="685800" y="5676900"/>
            <a:ext cx="39052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1">
                <a:solidFill>
                  <a:srgbClr val="66735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66735B"/>
                </a:solidFill>
                <a:latin typeface="Aptos Display"/>
                <a:ea typeface="Aptos Display"/>
                <a:cs typeface="Aptos Display"/>
              </a:rPr>
              <a:t>ESP32 prototípus csatlakozópanel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8BB302-FBD9-4C32-8D1B-60A8D1EBE206}"/>
              </a:ext>
            </a:extLst>
          </p:cNvPr>
          <p:cNvSpPr>
            <a:spLocks noGrp="1"/>
          </p:cNvSpPr>
          <p:nvPr/>
        </p:nvSpPr>
        <p:spPr>
          <a:xfrm>
            <a:off x="5191125" y="2076450"/>
            <a:ext cx="5810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25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ESP32 + DS18B20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557EA2-B383-4CF1-8054-AD88D9584DBE}"/>
              </a:ext>
            </a:extLst>
          </p:cNvPr>
          <p:cNvSpPr>
            <a:spLocks noGrp="1"/>
          </p:cNvSpPr>
          <p:nvPr/>
        </p:nvSpPr>
        <p:spPr>
          <a:xfrm>
            <a:off x="5191125" y="2609850"/>
            <a:ext cx="1809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1">
                <a:solidFill>
                  <a:srgbClr val="F2B705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2B705"/>
                </a:solidFill>
                <a:latin typeface="Aptos Display"/>
                <a:ea typeface="Aptos Display"/>
                <a:cs typeface="Aptos Display"/>
              </a:rPr>
              <a:t>TÚL GYORS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CF10E0-22AF-4113-A524-2B218F053312}"/>
              </a:ext>
            </a:extLst>
          </p:cNvPr>
          <p:cNvSpPr>
            <a:spLocks noGrp="1"/>
          </p:cNvSpPr>
          <p:nvPr/>
        </p:nvSpPr>
        <p:spPr>
          <a:xfrm>
            <a:off x="5191125" y="2876550"/>
            <a:ext cx="5810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686B65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0">
                <a:solidFill>
                  <a:srgbClr val="686B65"/>
                </a:solidFill>
                <a:latin typeface="Aptos Display"/>
                <a:ea typeface="Aptos Display"/>
                <a:cs typeface="Aptos Display"/>
              </a:rPr>
              <a:t>A szenzor a környezet apró változásaira is azonnal reagált. Sokszor inkább a légáramlatot mérte, mint a helyiség hőmérsékletét.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98E0492-31D5-4324-A217-B6BFBD109D9E}"/>
              </a:ext>
            </a:extLst>
          </p:cNvPr>
          <p:cNvSpPr>
            <a:spLocks noGrp="1"/>
          </p:cNvSpPr>
          <p:nvPr/>
        </p:nvSpPr>
        <p:spPr>
          <a:xfrm>
            <a:off x="5191125" y="3562350"/>
            <a:ext cx="2952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1">
                <a:solidFill>
                  <a:srgbClr val="F2B705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2B705"/>
                </a:solidFill>
                <a:latin typeface="Aptos Display"/>
                <a:ea typeface="Aptos Display"/>
                <a:cs typeface="Aptos Display"/>
              </a:rPr>
              <a:t>CSILLAPÍTVA IS ÉRZÉKENY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17CFDF-0C43-456C-A697-B6C8BFC0C27F}"/>
              </a:ext>
            </a:extLst>
          </p:cNvPr>
          <p:cNvSpPr>
            <a:spLocks noGrp="1"/>
          </p:cNvSpPr>
          <p:nvPr/>
        </p:nvSpPr>
        <p:spPr>
          <a:xfrm>
            <a:off x="5191125" y="3829050"/>
            <a:ext cx="5810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686B65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0">
                <a:solidFill>
                  <a:srgbClr val="686B65"/>
                </a:solidFill>
                <a:latin typeface="Aptos Display"/>
                <a:ea typeface="Aptos Display"/>
                <a:cs typeface="Aptos Display"/>
              </a:rPr>
              <a:t>Rézcsővel és gyógyszeres dobozzal lassítottuk a reakcióját, de az elhelyezés hatása továbbra is túl nagy maradt.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695493-D217-49FC-A73B-431B7E5F5FF2}"/>
              </a:ext>
            </a:extLst>
          </p:cNvPr>
          <p:cNvSpPr>
            <a:spLocks noGrp="1"/>
          </p:cNvSpPr>
          <p:nvPr/>
        </p:nvSpPr>
        <p:spPr>
          <a:xfrm>
            <a:off x="5191125" y="4552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1">
                <a:solidFill>
                  <a:srgbClr val="CE6843"/>
                </a:solidFill>
                <a:latin typeface="Aptos Display"/>
                <a:ea typeface="Aptos Display"/>
                <a:cs typeface="Aptos Display"/>
              </a:defRPr>
            </a:pPr>
            <a:r>
              <a:rPr lang="hu-HU" sz="1200" b="1" dirty="0">
                <a:solidFill>
                  <a:srgbClr val="CE6843"/>
                </a:solidFill>
                <a:latin typeface="Aptos Display"/>
                <a:ea typeface="Aptos Display"/>
                <a:cs typeface="Aptos Display"/>
              </a:rPr>
              <a:t>A CSALÁD REAKCIÓJA</a:t>
            </a:r>
            <a:endParaRPr sz="1200" b="1" dirty="0">
              <a:solidFill>
                <a:srgbClr val="CE684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FDAD6B-B03B-4768-8BBC-80474718631E}"/>
              </a:ext>
            </a:extLst>
          </p:cNvPr>
          <p:cNvSpPr>
            <a:spLocks noGrp="1"/>
          </p:cNvSpPr>
          <p:nvPr/>
        </p:nvSpPr>
        <p:spPr>
          <a:xfrm>
            <a:off x="5191125" y="4819650"/>
            <a:ext cx="58102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95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 dirty="0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„</a:t>
            </a:r>
            <a:r>
              <a:rPr lang="hu-HU" sz="1950" b="1" dirty="0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Ez a</a:t>
            </a:r>
            <a:r>
              <a:rPr sz="1950" b="1" dirty="0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 look and feel nem </a:t>
            </a:r>
            <a:r>
              <a:rPr sz="1950" b="1" dirty="0" err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maradhat</a:t>
            </a:r>
            <a:r>
              <a:rPr lang="hu-HU" sz="1950" b="1" dirty="0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!</a:t>
            </a:r>
            <a:r>
              <a:rPr sz="1950" b="1" dirty="0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”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FC93CA0-C62C-483B-887C-7048D78C71BA}"/>
              </a:ext>
            </a:extLst>
          </p:cNvPr>
          <p:cNvSpPr>
            <a:spLocks noGrp="1"/>
          </p:cNvSpPr>
          <p:nvPr/>
        </p:nvSpPr>
        <p:spPr>
          <a:xfrm>
            <a:off x="5191125" y="5381625"/>
            <a:ext cx="58102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686B65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0">
                <a:solidFill>
                  <a:srgbClr val="686B65"/>
                </a:solidFill>
                <a:latin typeface="Aptos Display"/>
                <a:ea typeface="Aptos Display"/>
                <a:cs typeface="Aptos Display"/>
              </a:rPr>
              <a:t>A rendszer kedvezményezettjének helyszíni átvételi tesztje.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770F2A-BA94-47BE-B702-47423C2F5B9D}"/>
              </a:ext>
            </a:extLst>
          </p:cNvPr>
          <p:cNvSpPr>
            <a:spLocks noGrp="1"/>
          </p:cNvSpPr>
          <p:nvPr/>
        </p:nvSpPr>
        <p:spPr>
          <a:xfrm>
            <a:off x="2381250" y="6019800"/>
            <a:ext cx="7429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75" b="1">
                <a:solidFill>
                  <a:srgbClr val="CE6843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dirty="0" err="1">
                <a:solidFill>
                  <a:srgbClr val="CE6843"/>
                </a:solidFill>
                <a:latin typeface="Aptos Display"/>
                <a:ea typeface="Aptos Display"/>
                <a:cs typeface="Aptos Display"/>
              </a:rPr>
              <a:t>Műszakilag</a:t>
            </a:r>
            <a:r>
              <a:rPr sz="1575" b="1" dirty="0">
                <a:solidFill>
                  <a:srgbClr val="CE6843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1575" b="1" dirty="0" err="1">
                <a:solidFill>
                  <a:srgbClr val="CE6843"/>
                </a:solidFill>
                <a:latin typeface="Aptos Display"/>
                <a:ea typeface="Aptos Display"/>
                <a:cs typeface="Aptos Display"/>
              </a:rPr>
              <a:t>működött</a:t>
            </a:r>
            <a:r>
              <a:rPr sz="1575" b="1" dirty="0">
                <a:solidFill>
                  <a:srgbClr val="CE6843"/>
                </a:solidFill>
                <a:latin typeface="Aptos Display"/>
                <a:ea typeface="Aptos Display"/>
                <a:cs typeface="Aptos Display"/>
              </a:rPr>
              <a:t>, de a </a:t>
            </a:r>
            <a:r>
              <a:rPr sz="1575" b="1" dirty="0" err="1">
                <a:solidFill>
                  <a:srgbClr val="CE6843"/>
                </a:solidFill>
                <a:latin typeface="Aptos Display"/>
                <a:ea typeface="Aptos Display"/>
                <a:cs typeface="Aptos Display"/>
              </a:rPr>
              <a:t>helyiséghőmérséklethez</a:t>
            </a:r>
            <a:r>
              <a:rPr sz="1575" b="1" dirty="0">
                <a:solidFill>
                  <a:srgbClr val="CE6843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1575" b="1" dirty="0" err="1">
                <a:solidFill>
                  <a:srgbClr val="CE6843"/>
                </a:solidFill>
                <a:latin typeface="Aptos Display"/>
                <a:ea typeface="Aptos Display"/>
                <a:cs typeface="Aptos Display"/>
              </a:rPr>
              <a:t>és</a:t>
            </a:r>
            <a:r>
              <a:rPr sz="1575" b="1" dirty="0">
                <a:solidFill>
                  <a:srgbClr val="CE6843"/>
                </a:solidFill>
                <a:latin typeface="Aptos Display"/>
                <a:ea typeface="Aptos Display"/>
                <a:cs typeface="Aptos Display"/>
              </a:rPr>
              <a:t> a </a:t>
            </a:r>
            <a:r>
              <a:rPr sz="1575" b="1" dirty="0" err="1">
                <a:solidFill>
                  <a:srgbClr val="CE6843"/>
                </a:solidFill>
                <a:latin typeface="Aptos Display"/>
                <a:ea typeface="Aptos Display"/>
                <a:cs typeface="Aptos Display"/>
              </a:rPr>
              <a:t>lakótérhez</a:t>
            </a:r>
            <a:r>
              <a:rPr sz="1575" b="1" dirty="0">
                <a:solidFill>
                  <a:srgbClr val="CE6843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1575" b="1" dirty="0" err="1">
                <a:solidFill>
                  <a:srgbClr val="CE6843"/>
                </a:solidFill>
                <a:latin typeface="Aptos Display"/>
                <a:ea typeface="Aptos Display"/>
                <a:cs typeface="Aptos Display"/>
              </a:rPr>
              <a:t>más</a:t>
            </a:r>
            <a:r>
              <a:rPr sz="1575" b="1" dirty="0">
                <a:solidFill>
                  <a:srgbClr val="CE6843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1575" b="1" dirty="0" err="1">
                <a:solidFill>
                  <a:srgbClr val="CE6843"/>
                </a:solidFill>
                <a:latin typeface="Aptos Display"/>
                <a:ea typeface="Aptos Display"/>
                <a:cs typeface="Aptos Display"/>
              </a:rPr>
              <a:t>eszköz</a:t>
            </a:r>
            <a:r>
              <a:rPr sz="1575" b="1" dirty="0">
                <a:solidFill>
                  <a:srgbClr val="CE6843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1575" b="1" dirty="0" err="1">
                <a:solidFill>
                  <a:srgbClr val="CE6843"/>
                </a:solidFill>
                <a:latin typeface="Aptos Display"/>
                <a:ea typeface="Aptos Display"/>
                <a:cs typeface="Aptos Display"/>
              </a:rPr>
              <a:t>kellett</a:t>
            </a:r>
            <a:r>
              <a:rPr sz="1575" b="1" dirty="0">
                <a:solidFill>
                  <a:srgbClr val="CE6843"/>
                </a:solidFill>
                <a:latin typeface="Aptos Display"/>
                <a:ea typeface="Aptos Display"/>
                <a:cs typeface="Aptos Display"/>
              </a:rPr>
              <a:t>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08C580C-D535-43B2-9FF4-AEE026045369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750" b="0">
                <a:solidFill>
                  <a:srgbClr val="74756F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0">
                <a:solidFill>
                  <a:srgbClr val="74756F"/>
                </a:solidFill>
                <a:latin typeface="Aptos Display"/>
                <a:ea typeface="Aptos Display"/>
                <a:cs typeface="Aptos Display"/>
              </a:rPr>
              <a:t>Forrás: saját prototípus és projektfotók.</a:t>
            </a:r>
          </a:p>
        </p:txBody>
      </p:sp>
    </p:spTree>
    <p:extLst>
      <p:ext uri="{BB962C8B-B14F-4D97-AF65-F5344CB8AC3E}">
        <p14:creationId xmlns:p14="http://schemas.microsoft.com/office/powerpoint/2010/main" val="12907640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nector 17">
            <a:extLst>
              <a:ext uri="{FF2B5EF4-FFF2-40B4-BE49-F238E27FC236}">
                <a16:creationId xmlns:a16="http://schemas.microsoft.com/office/drawing/2014/main" id="{25642020-480B-4322-9BA2-EA038B1B2FBF}"/>
              </a:ext>
            </a:extLst>
          </p:cNvPr>
          <p:cNvSpPr>
            <a:spLocks noGrp="1"/>
          </p:cNvSpPr>
          <p:nvPr/>
        </p:nvSpPr>
        <p:spPr>
          <a:xfrm>
            <a:off x="7124700" y="2876550"/>
            <a:ext cx="1047750" cy="0"/>
          </a:xfrm>
          <a:prstGeom prst="line">
            <a:avLst/>
          </a:prstGeom>
          <a:ln w="25400">
            <a:solidFill>
              <a:srgbClr val="C9C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A88303-9A11-42D0-999D-32A55F20E375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57150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66735B"/>
                </a:solidFill>
                <a:latin typeface="Aptos"/>
                <a:ea typeface="Aptos"/>
                <a:cs typeface="Aptos"/>
              </a:rPr>
              <a:t>TECHNOLÓGIAI PIVOT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2E42F3-A208-4A3D-A159-2CEC1DE28151}"/>
              </a:ext>
            </a:extLst>
          </p:cNvPr>
          <p:cNvSpPr>
            <a:spLocks noGrp="1"/>
          </p:cNvSpPr>
          <p:nvPr/>
        </p:nvSpPr>
        <p:spPr>
          <a:xfrm>
            <a:off x="11144250" y="361950"/>
            <a:ext cx="36195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6E716A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19BBB7-4D0A-41C2-B4B1-F3A506877D77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838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3600" b="1" dirty="0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A </a:t>
            </a:r>
            <a:r>
              <a:rPr sz="3600" b="1" dirty="0" err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kudarc</a:t>
            </a:r>
            <a:r>
              <a:rPr sz="3600" b="1" dirty="0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lang="en-US" sz="3600" b="1" dirty="0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nem </a:t>
            </a:r>
            <a:r>
              <a:rPr lang="en-US" sz="3600" b="1" dirty="0" err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cél</a:t>
            </a:r>
            <a:r>
              <a:rPr lang="en-US" sz="3600" b="1" dirty="0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-, </a:t>
            </a:r>
            <a:r>
              <a:rPr lang="en-US" sz="3600" b="1" dirty="0" err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hanem</a:t>
            </a:r>
            <a:r>
              <a:rPr lang="en-US" sz="3600" b="1" dirty="0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3600" b="1" dirty="0" err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technológiaváltást</a:t>
            </a:r>
            <a:r>
              <a:rPr lang="hu-HU" sz="3600" b="1" dirty="0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3600" b="1" dirty="0" err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hozott</a:t>
            </a:r>
            <a:endParaRPr sz="3600" b="1" dirty="0">
              <a:solidFill>
                <a:srgbClr val="292A26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528E1A-AC00-47B6-815D-6937FE7744A3}"/>
              </a:ext>
            </a:extLst>
          </p:cNvPr>
          <p:cNvSpPr>
            <a:spLocks noGrp="1"/>
          </p:cNvSpPr>
          <p:nvPr/>
        </p:nvSpPr>
        <p:spPr>
          <a:xfrm>
            <a:off x="876300" y="2209800"/>
            <a:ext cx="314325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66735B"/>
                </a:solidFill>
                <a:latin typeface="Aptos"/>
                <a:ea typeface="Aptos"/>
                <a:cs typeface="Aptos"/>
              </a:rPr>
              <a:t>JELENTŐ ESZKÖZÖK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540598-AAF8-4225-A750-5017CA2A2F47}"/>
              </a:ext>
            </a:extLst>
          </p:cNvPr>
          <p:cNvSpPr>
            <a:spLocks noGrp="1"/>
          </p:cNvSpPr>
          <p:nvPr/>
        </p:nvSpPr>
        <p:spPr>
          <a:xfrm>
            <a:off x="876300" y="2609850"/>
            <a:ext cx="2667000" cy="419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Zigbee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D8EE12-FCFD-4CBD-87EF-4EBAB60F4384}"/>
              </a:ext>
            </a:extLst>
          </p:cNvPr>
          <p:cNvSpPr>
            <a:spLocks noGrp="1"/>
          </p:cNvSpPr>
          <p:nvPr/>
        </p:nvSpPr>
        <p:spPr>
          <a:xfrm>
            <a:off x="876300" y="3105150"/>
            <a:ext cx="2857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esemény vagy mérés küldése</a:t>
            </a:r>
          </a:p>
        </p:txBody>
      </p:sp>
      <p:sp>
        <p:nvSpPr>
          <p:cNvPr id="9" name="Connector 8">
            <a:extLst>
              <a:ext uri="{FF2B5EF4-FFF2-40B4-BE49-F238E27FC236}">
                <a16:creationId xmlns:a16="http://schemas.microsoft.com/office/drawing/2014/main" id="{9DE392E6-FC3C-4201-86E5-CA6F55820E07}"/>
              </a:ext>
            </a:extLst>
          </p:cNvPr>
          <p:cNvSpPr>
            <a:spLocks noGrp="1"/>
          </p:cNvSpPr>
          <p:nvPr/>
        </p:nvSpPr>
        <p:spPr>
          <a:xfrm>
            <a:off x="3028950" y="2876550"/>
            <a:ext cx="2038350" cy="0"/>
          </a:xfrm>
          <a:prstGeom prst="line">
            <a:avLst/>
          </a:prstGeom>
          <a:ln w="25400">
            <a:solidFill>
              <a:srgbClr val="C9C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ECC4B8-C8A3-4100-9583-06899B354D39}"/>
              </a:ext>
            </a:extLst>
          </p:cNvPr>
          <p:cNvSpPr>
            <a:spLocks noGrp="1"/>
          </p:cNvSpPr>
          <p:nvPr/>
        </p:nvSpPr>
        <p:spPr>
          <a:xfrm>
            <a:off x="3257550" y="2533650"/>
            <a:ext cx="1524000" cy="24764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2B705"/>
                </a:solidFill>
                <a:latin typeface="Aptos Display"/>
                <a:ea typeface="Aptos Display"/>
                <a:cs typeface="Aptos Display"/>
              </a:rPr>
              <a:t>→ MQTT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3EE900-F1D3-4E5F-8303-FD3018B0DFA9}"/>
              </a:ext>
            </a:extLst>
          </p:cNvPr>
          <p:cNvSpPr>
            <a:spLocks noGrp="1"/>
          </p:cNvSpPr>
          <p:nvPr/>
        </p:nvSpPr>
        <p:spPr>
          <a:xfrm>
            <a:off x="3028950" y="3219450"/>
            <a:ext cx="1809750" cy="3619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helyi üzenetközvetítés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53E5F8-72D3-416B-990E-A30AB8CAF26A}"/>
              </a:ext>
            </a:extLst>
          </p:cNvPr>
          <p:cNvSpPr>
            <a:spLocks noGrp="1"/>
          </p:cNvSpPr>
          <p:nvPr/>
        </p:nvSpPr>
        <p:spPr>
          <a:xfrm>
            <a:off x="4933950" y="4057650"/>
            <a:ext cx="23241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C96845"/>
                </a:solidFill>
                <a:latin typeface="Aptos"/>
                <a:ea typeface="Aptos"/>
                <a:cs typeface="Aptos"/>
              </a:rPr>
              <a:t>KÖZÖS HELYI RÉTEG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C112E71-F62A-4493-9E5D-C2B4FF6CFDF8}"/>
              </a:ext>
            </a:extLst>
          </p:cNvPr>
          <p:cNvSpPr>
            <a:spLocks noGrp="1"/>
          </p:cNvSpPr>
          <p:nvPr/>
        </p:nvSpPr>
        <p:spPr>
          <a:xfrm>
            <a:off x="4991101" y="2324100"/>
            <a:ext cx="2228849" cy="1600200"/>
          </a:xfrm>
          <a:prstGeom prst="ellipse">
            <a:avLst/>
          </a:prstGeom>
          <a:solidFill>
            <a:srgbClr val="292A26"/>
          </a:solidFill>
          <a:ln>
            <a:solidFill>
              <a:srgbClr val="29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A2EC13-A5A8-4973-BBDA-C7FF7C98A750}"/>
              </a:ext>
            </a:extLst>
          </p:cNvPr>
          <p:cNvSpPr>
            <a:spLocks noGrp="1"/>
          </p:cNvSpPr>
          <p:nvPr/>
        </p:nvSpPr>
        <p:spPr>
          <a:xfrm>
            <a:off x="5381624" y="2657475"/>
            <a:ext cx="1514475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dirty="0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HELYI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dirty="0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ADAT- ÉS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dirty="0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VEZÉRLÉSI MAG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8CC69B-4F40-4844-94BC-DEF2D3EFA3B7}"/>
              </a:ext>
            </a:extLst>
          </p:cNvPr>
          <p:cNvSpPr>
            <a:spLocks noGrp="1"/>
          </p:cNvSpPr>
          <p:nvPr/>
        </p:nvSpPr>
        <p:spPr>
          <a:xfrm>
            <a:off x="8191500" y="2209800"/>
            <a:ext cx="314325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66735B"/>
                </a:solidFill>
                <a:latin typeface="Aptos"/>
                <a:ea typeface="Aptos"/>
                <a:cs typeface="Aptos"/>
              </a:rPr>
              <a:t>LEKÉRDEZHETŐ FORRÁSOK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1104DA-59F6-4A1F-9E10-B612A3379976}"/>
              </a:ext>
            </a:extLst>
          </p:cNvPr>
          <p:cNvSpPr>
            <a:spLocks noGrp="1"/>
          </p:cNvSpPr>
          <p:nvPr/>
        </p:nvSpPr>
        <p:spPr>
          <a:xfrm>
            <a:off x="8191500" y="2609850"/>
            <a:ext cx="2667000" cy="419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LAN + CLOUD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FD1770-18C8-4BA6-B2E2-7116AA18A0F6}"/>
              </a:ext>
            </a:extLst>
          </p:cNvPr>
          <p:cNvSpPr>
            <a:spLocks noGrp="1"/>
          </p:cNvSpPr>
          <p:nvPr/>
        </p:nvSpPr>
        <p:spPr>
          <a:xfrm>
            <a:off x="8191500" y="3105150"/>
            <a:ext cx="2857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rendszeres lekérdezés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942ADB-488C-4726-967E-8E4E30428DA9}"/>
              </a:ext>
            </a:extLst>
          </p:cNvPr>
          <p:cNvSpPr>
            <a:spLocks noGrp="1"/>
          </p:cNvSpPr>
          <p:nvPr/>
        </p:nvSpPr>
        <p:spPr>
          <a:xfrm>
            <a:off x="7124700" y="2533650"/>
            <a:ext cx="1047749" cy="24764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C96845"/>
                </a:solidFill>
                <a:latin typeface="Aptos Display"/>
                <a:ea typeface="Aptos Display"/>
                <a:cs typeface="Aptos Display"/>
              </a:rPr>
              <a:t>API ←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2D812A6-0CCE-465C-BB2C-F9394C7E528E}"/>
              </a:ext>
            </a:extLst>
          </p:cNvPr>
          <p:cNvSpPr>
            <a:spLocks noGrp="1"/>
          </p:cNvSpPr>
          <p:nvPr/>
        </p:nvSpPr>
        <p:spPr>
          <a:xfrm>
            <a:off x="7200900" y="3219450"/>
            <a:ext cx="952500" cy="3619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helyi és felhős API-k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E24895-8958-45BD-A151-B985E1DE4120}"/>
              </a:ext>
            </a:extLst>
          </p:cNvPr>
          <p:cNvSpPr>
            <a:spLocks noGrp="1"/>
          </p:cNvSpPr>
          <p:nvPr/>
        </p:nvSpPr>
        <p:spPr>
          <a:xfrm>
            <a:off x="1752600" y="5219700"/>
            <a:ext cx="8686800" cy="533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A közös nevező az egységes, ellenőrzött adat- és vezérlési réteg.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284733B-7206-4DDE-A93A-5026DE0D61D4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Forrás: projektarchitektúra; Zigbee és Shelly → MQTT, LAN → HTTP, Hisense → ConnectLife.</a:t>
            </a:r>
          </a:p>
        </p:txBody>
      </p:sp>
    </p:spTree>
    <p:extLst>
      <p:ext uri="{BB962C8B-B14F-4D97-AF65-F5344CB8AC3E}">
        <p14:creationId xmlns:p14="http://schemas.microsoft.com/office/powerpoint/2010/main" val="18501385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E2D0A6-04BB-E2B7-BEB5-2BFBCFCDB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9FBBEA-919A-D01B-A638-4C586695C582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57150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66735B"/>
                </a:solidFill>
                <a:latin typeface="Aptos"/>
                <a:ea typeface="Aptos"/>
                <a:cs typeface="Aptos"/>
              </a:rPr>
              <a:t>TECHNOLÓGIAI PIVOT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044294-D1BE-C740-E279-9B5BF749B48C}"/>
              </a:ext>
            </a:extLst>
          </p:cNvPr>
          <p:cNvSpPr>
            <a:spLocks noGrp="1"/>
          </p:cNvSpPr>
          <p:nvPr/>
        </p:nvSpPr>
        <p:spPr>
          <a:xfrm>
            <a:off x="11144250" y="361950"/>
            <a:ext cx="36195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6E716A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EA3B67-32AA-F7A9-5DAE-397866429538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838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600" b="1" dirty="0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ESP32 + DS18B20              </a:t>
            </a:r>
            <a:r>
              <a:rPr lang="hu-HU" sz="3600" b="1" dirty="0" err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vs</a:t>
            </a:r>
            <a:r>
              <a:rPr lang="hu-HU" sz="3600" b="1" dirty="0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                      </a:t>
            </a:r>
            <a:r>
              <a:rPr lang="hu-HU" sz="3600" b="1" dirty="0" err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ZigBee</a:t>
            </a:r>
            <a:endParaRPr sz="3600" b="1" dirty="0">
              <a:solidFill>
                <a:srgbClr val="292A26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883181-B26E-A7DD-FDF4-C22D8449E975}"/>
              </a:ext>
            </a:extLst>
          </p:cNvPr>
          <p:cNvSpPr>
            <a:spLocks noGrp="1"/>
          </p:cNvSpPr>
          <p:nvPr/>
        </p:nvSpPr>
        <p:spPr>
          <a:xfrm>
            <a:off x="5381625" y="2657475"/>
            <a:ext cx="1428750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dirty="0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HELYI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dirty="0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DAT- ÉS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dirty="0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VEZÉRLÉSI MAG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A6B205-1A5F-7D39-FB0E-2871429753B8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Forrás: projektarchitektúra; Zigbee és Shelly → MQTT, LAN → HTTP, Hisense → ConnectLife.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BA2B3BC-56CC-D1C8-BF09-3B397187AB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1559509"/>
            <a:ext cx="6164132" cy="246674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BA0DA3B-8939-D728-3B15-B5B5EF0923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3520" y="3793153"/>
            <a:ext cx="6556786" cy="2623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2572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C8C45A-5DAB-442E-9E0D-858A4E28E837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57150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66735B"/>
                </a:solidFill>
                <a:latin typeface="Aptos"/>
                <a:ea typeface="Aptos"/>
                <a:cs typeface="Aptos"/>
              </a:rPr>
              <a:t>RENDSZERLELTÁR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0D502C-9389-4F59-87B3-CA776480B492}"/>
              </a:ext>
            </a:extLst>
          </p:cNvPr>
          <p:cNvSpPr>
            <a:spLocks noGrp="1"/>
          </p:cNvSpPr>
          <p:nvPr/>
        </p:nvSpPr>
        <p:spPr>
          <a:xfrm>
            <a:off x="11144250" y="361950"/>
            <a:ext cx="36195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6E716A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CCB6F9-3196-4463-AD14-0A59AE9A494A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838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A rendszer valós képe három elérhetőségi szintből áll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3B2591-DA53-4EE5-B510-A7F31CE592B7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29527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/>
            </a:pPr>
            <a:r>
              <a:rPr sz="1350" b="1">
                <a:solidFill>
                  <a:srgbClr val="66735B"/>
                </a:solidFill>
                <a:latin typeface="Aptos"/>
                <a:ea typeface="Aptos"/>
                <a:cs typeface="Aptos"/>
              </a:rPr>
              <a:t>LEKÉRDEZHETŐ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2C13EF-1B49-44CB-B56C-DEE37227EFE3}"/>
              </a:ext>
            </a:extLst>
          </p:cNvPr>
          <p:cNvSpPr>
            <a:spLocks noGrp="1"/>
          </p:cNvSpPr>
          <p:nvPr/>
        </p:nvSpPr>
        <p:spPr>
          <a:xfrm>
            <a:off x="685800" y="2419350"/>
            <a:ext cx="295275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75"/>
            </a:pPr>
            <a:r>
              <a:rPr sz="1575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API / helyi LAN + cloud</a:t>
            </a:r>
          </a:p>
        </p:txBody>
      </p:sp>
      <p:sp>
        <p:nvSpPr>
          <p:cNvPr id="8" name="Connector 7">
            <a:extLst>
              <a:ext uri="{FF2B5EF4-FFF2-40B4-BE49-F238E27FC236}">
                <a16:creationId xmlns:a16="http://schemas.microsoft.com/office/drawing/2014/main" id="{788EA14D-91EE-4A2F-9045-51A5822F8D05}"/>
              </a:ext>
            </a:extLst>
          </p:cNvPr>
          <p:cNvSpPr>
            <a:spLocks noGrp="1"/>
          </p:cNvSpPr>
          <p:nvPr/>
        </p:nvSpPr>
        <p:spPr>
          <a:xfrm>
            <a:off x="685800" y="2819400"/>
            <a:ext cx="2971800" cy="0"/>
          </a:xfrm>
          <a:prstGeom prst="line">
            <a:avLst/>
          </a:prstGeom>
          <a:ln w="25400">
            <a:solidFill>
              <a:srgbClr val="6673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E80E91-BBA4-47C8-A236-E682E40577EA}"/>
              </a:ext>
            </a:extLst>
          </p:cNvPr>
          <p:cNvSpPr>
            <a:spLocks noGrp="1"/>
          </p:cNvSpPr>
          <p:nvPr/>
        </p:nvSpPr>
        <p:spPr>
          <a:xfrm>
            <a:off x="4572000" y="2133600"/>
            <a:ext cx="29527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/>
            </a:pPr>
            <a:r>
              <a:rPr sz="1350" b="1">
                <a:solidFill>
                  <a:srgbClr val="F2B705"/>
                </a:solidFill>
                <a:latin typeface="Aptos"/>
                <a:ea typeface="Aptos"/>
                <a:cs typeface="Aptos"/>
              </a:rPr>
              <a:t>JELENTŐ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8F3173-F09A-440D-AB87-D4A29F5DAAB9}"/>
              </a:ext>
            </a:extLst>
          </p:cNvPr>
          <p:cNvSpPr>
            <a:spLocks noGrp="1"/>
          </p:cNvSpPr>
          <p:nvPr/>
        </p:nvSpPr>
        <p:spPr>
          <a:xfrm>
            <a:off x="4572000" y="2419350"/>
            <a:ext cx="295275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75"/>
            </a:pPr>
            <a:r>
              <a:rPr sz="1575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Zigbee + Shelly → MQTT</a:t>
            </a:r>
          </a:p>
        </p:txBody>
      </p:sp>
      <p:sp>
        <p:nvSpPr>
          <p:cNvPr id="11" name="Connector 10">
            <a:extLst>
              <a:ext uri="{FF2B5EF4-FFF2-40B4-BE49-F238E27FC236}">
                <a16:creationId xmlns:a16="http://schemas.microsoft.com/office/drawing/2014/main" id="{17B39E60-DB3F-4D22-9230-0FA9ED4E0B0A}"/>
              </a:ext>
            </a:extLst>
          </p:cNvPr>
          <p:cNvSpPr>
            <a:spLocks noGrp="1"/>
          </p:cNvSpPr>
          <p:nvPr/>
        </p:nvSpPr>
        <p:spPr>
          <a:xfrm>
            <a:off x="4476750" y="2819400"/>
            <a:ext cx="2971800" cy="0"/>
          </a:xfrm>
          <a:prstGeom prst="line">
            <a:avLst/>
          </a:prstGeom>
          <a:ln w="25400">
            <a:solidFill>
              <a:srgbClr val="F2B7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0C6BD9-F8AD-4CE8-A5B9-DF883B5AF93C}"/>
              </a:ext>
            </a:extLst>
          </p:cNvPr>
          <p:cNvSpPr>
            <a:spLocks noGrp="1"/>
          </p:cNvSpPr>
          <p:nvPr/>
        </p:nvSpPr>
        <p:spPr>
          <a:xfrm>
            <a:off x="8362950" y="2133600"/>
            <a:ext cx="29527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/>
            </a:pPr>
            <a:r>
              <a:rPr sz="1350" b="1">
                <a:solidFill>
                  <a:srgbClr val="C96845"/>
                </a:solidFill>
                <a:latin typeface="Aptos"/>
                <a:ea typeface="Aptos"/>
                <a:cs typeface="Aptos"/>
              </a:rPr>
              <a:t>KÉZI / KÖZVETETT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CD037D-F922-4714-9FD9-42283EC2D04B}"/>
              </a:ext>
            </a:extLst>
          </p:cNvPr>
          <p:cNvSpPr>
            <a:spLocks noGrp="1"/>
          </p:cNvSpPr>
          <p:nvPr/>
        </p:nvSpPr>
        <p:spPr>
          <a:xfrm>
            <a:off x="8362950" y="2419350"/>
            <a:ext cx="295275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75"/>
            </a:pPr>
            <a:r>
              <a:rPr sz="1575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nincs közvetlen integráció</a:t>
            </a:r>
          </a:p>
        </p:txBody>
      </p:sp>
      <p:sp>
        <p:nvSpPr>
          <p:cNvPr id="14" name="Connector 13">
            <a:extLst>
              <a:ext uri="{FF2B5EF4-FFF2-40B4-BE49-F238E27FC236}">
                <a16:creationId xmlns:a16="http://schemas.microsoft.com/office/drawing/2014/main" id="{110E7E9C-3518-477E-AEE0-BC3AAA7B4F88}"/>
              </a:ext>
            </a:extLst>
          </p:cNvPr>
          <p:cNvSpPr>
            <a:spLocks noGrp="1"/>
          </p:cNvSpPr>
          <p:nvPr/>
        </p:nvSpPr>
        <p:spPr>
          <a:xfrm>
            <a:off x="8267699" y="2819400"/>
            <a:ext cx="2971801" cy="0"/>
          </a:xfrm>
          <a:prstGeom prst="line">
            <a:avLst/>
          </a:prstGeom>
          <a:ln w="25400">
            <a:solidFill>
              <a:srgbClr val="C968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12A550C-86E0-4F55-9A61-CD81D865153F}"/>
              </a:ext>
            </a:extLst>
          </p:cNvPr>
          <p:cNvSpPr>
            <a:spLocks noGrp="1"/>
          </p:cNvSpPr>
          <p:nvPr/>
        </p:nvSpPr>
        <p:spPr>
          <a:xfrm>
            <a:off x="685800" y="3209925"/>
            <a:ext cx="133350" cy="133350"/>
          </a:xfrm>
          <a:prstGeom prst="ellipse">
            <a:avLst/>
          </a:prstGeom>
          <a:solidFill>
            <a:srgbClr val="667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CD4177-C069-4EFA-B01D-E41DEDA608C0}"/>
              </a:ext>
            </a:extLst>
          </p:cNvPr>
          <p:cNvSpPr>
            <a:spLocks noGrp="1"/>
          </p:cNvSpPr>
          <p:nvPr/>
        </p:nvSpPr>
        <p:spPr>
          <a:xfrm>
            <a:off x="971550" y="3048000"/>
            <a:ext cx="2857500" cy="476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/>
            </a:pPr>
            <a:r>
              <a:rPr sz="1350" b="0">
                <a:solidFill>
                  <a:srgbClr val="292A26"/>
                </a:solidFill>
                <a:latin typeface="Aptos"/>
                <a:ea typeface="Aptos"/>
                <a:cs typeface="Aptos"/>
              </a:rPr>
              <a:t>Computherm + helyi hálózati eszközök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3658599-46DA-400E-A6D4-2C3D31A1669E}"/>
              </a:ext>
            </a:extLst>
          </p:cNvPr>
          <p:cNvSpPr>
            <a:spLocks noGrp="1"/>
          </p:cNvSpPr>
          <p:nvPr/>
        </p:nvSpPr>
        <p:spPr>
          <a:xfrm>
            <a:off x="685800" y="3800475"/>
            <a:ext cx="133350" cy="133350"/>
          </a:xfrm>
          <a:prstGeom prst="ellipse">
            <a:avLst/>
          </a:prstGeom>
          <a:solidFill>
            <a:srgbClr val="667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E674FE-8F44-481C-8E1F-5AFB4B7C114B}"/>
              </a:ext>
            </a:extLst>
          </p:cNvPr>
          <p:cNvSpPr>
            <a:spLocks noGrp="1"/>
          </p:cNvSpPr>
          <p:nvPr/>
        </p:nvSpPr>
        <p:spPr>
          <a:xfrm>
            <a:off x="971550" y="3638550"/>
            <a:ext cx="2857500" cy="476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/>
            </a:pPr>
            <a:r>
              <a:rPr sz="1350" b="0">
                <a:solidFill>
                  <a:srgbClr val="292A26"/>
                </a:solidFill>
                <a:latin typeface="Aptos"/>
                <a:ea typeface="Aptos"/>
                <a:cs typeface="Aptos"/>
              </a:rPr>
              <a:t>Tasmota dugaljak + fogyasztás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68C7E0F-3CCC-469B-B0D9-B68592C9AA9A}"/>
              </a:ext>
            </a:extLst>
          </p:cNvPr>
          <p:cNvSpPr>
            <a:spLocks noGrp="1"/>
          </p:cNvSpPr>
          <p:nvPr/>
        </p:nvSpPr>
        <p:spPr>
          <a:xfrm>
            <a:off x="685800" y="4391025"/>
            <a:ext cx="133350" cy="133350"/>
          </a:xfrm>
          <a:prstGeom prst="ellipse">
            <a:avLst/>
          </a:prstGeom>
          <a:solidFill>
            <a:srgbClr val="667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F3E7BC-0EF1-4CA4-B726-50C3112AB745}"/>
              </a:ext>
            </a:extLst>
          </p:cNvPr>
          <p:cNvSpPr>
            <a:spLocks noGrp="1"/>
          </p:cNvSpPr>
          <p:nvPr/>
        </p:nvSpPr>
        <p:spPr>
          <a:xfrm>
            <a:off x="971550" y="4229100"/>
            <a:ext cx="2857500" cy="476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/>
            </a:pPr>
            <a:r>
              <a:rPr sz="1350" b="0">
                <a:solidFill>
                  <a:srgbClr val="292A26"/>
                </a:solidFill>
                <a:latin typeface="Aptos"/>
                <a:ea typeface="Aptos"/>
                <a:cs typeface="Aptos"/>
              </a:rPr>
              <a:t>Hisense klímák ConnectLife API-val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7F4E920-BE69-43B2-81ED-483EBA97D064}"/>
              </a:ext>
            </a:extLst>
          </p:cNvPr>
          <p:cNvSpPr>
            <a:spLocks noGrp="1"/>
          </p:cNvSpPr>
          <p:nvPr/>
        </p:nvSpPr>
        <p:spPr>
          <a:xfrm>
            <a:off x="685800" y="4981575"/>
            <a:ext cx="133350" cy="133350"/>
          </a:xfrm>
          <a:prstGeom prst="ellipse">
            <a:avLst/>
          </a:prstGeom>
          <a:solidFill>
            <a:srgbClr val="667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591DF4-544F-4C1D-BC4C-AF3FC9C4FAE1}"/>
              </a:ext>
            </a:extLst>
          </p:cNvPr>
          <p:cNvSpPr>
            <a:spLocks noGrp="1"/>
          </p:cNvSpPr>
          <p:nvPr/>
        </p:nvSpPr>
        <p:spPr>
          <a:xfrm>
            <a:off x="971550" y="4819650"/>
            <a:ext cx="2857500" cy="476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/>
            </a:pPr>
            <a:r>
              <a:rPr sz="1350" b="0">
                <a:solidFill>
                  <a:srgbClr val="292A26"/>
                </a:solidFill>
                <a:latin typeface="Aptos"/>
                <a:ea typeface="Aptos"/>
                <a:cs typeface="Aptos"/>
              </a:rPr>
              <a:t>Linux gépek + hálózati felügyelet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E39F3D3-77CC-411B-9848-11EEE55CB94D}"/>
              </a:ext>
            </a:extLst>
          </p:cNvPr>
          <p:cNvSpPr>
            <a:spLocks noGrp="1"/>
          </p:cNvSpPr>
          <p:nvPr/>
        </p:nvSpPr>
        <p:spPr>
          <a:xfrm>
            <a:off x="4476750" y="3209925"/>
            <a:ext cx="133350" cy="13335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26B8E9-7237-4B4C-A113-6E6DE74F2C55}"/>
              </a:ext>
            </a:extLst>
          </p:cNvPr>
          <p:cNvSpPr>
            <a:spLocks noGrp="1"/>
          </p:cNvSpPr>
          <p:nvPr/>
        </p:nvSpPr>
        <p:spPr>
          <a:xfrm>
            <a:off x="4762500" y="3048000"/>
            <a:ext cx="2857500" cy="476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/>
            </a:pPr>
            <a:r>
              <a:rPr sz="1350" b="0">
                <a:solidFill>
                  <a:srgbClr val="292A26"/>
                </a:solidFill>
                <a:latin typeface="Aptos"/>
                <a:ea typeface="Aptos"/>
                <a:cs typeface="Aptos"/>
              </a:rPr>
              <a:t>hőmérséklet és páratartalom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54E6B58-F7B0-4F3D-8EB9-1CBA200245D4}"/>
              </a:ext>
            </a:extLst>
          </p:cNvPr>
          <p:cNvSpPr>
            <a:spLocks noGrp="1"/>
          </p:cNvSpPr>
          <p:nvPr/>
        </p:nvSpPr>
        <p:spPr>
          <a:xfrm>
            <a:off x="4476750" y="3800475"/>
            <a:ext cx="133350" cy="13335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A60FE0-80AA-42C8-AF37-14122F43421F}"/>
              </a:ext>
            </a:extLst>
          </p:cNvPr>
          <p:cNvSpPr>
            <a:spLocks noGrp="1"/>
          </p:cNvSpPr>
          <p:nvPr/>
        </p:nvSpPr>
        <p:spPr>
          <a:xfrm>
            <a:off x="4762500" y="3638550"/>
            <a:ext cx="2857500" cy="476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/>
            </a:pPr>
            <a:r>
              <a:rPr sz="1350" b="0">
                <a:solidFill>
                  <a:srgbClr val="292A26"/>
                </a:solidFill>
                <a:latin typeface="Aptos"/>
                <a:ea typeface="Aptos"/>
                <a:cs typeface="Aptos"/>
              </a:rPr>
              <a:t>nyitásérzékelők és TRV-k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AAEB30A-7CAB-4520-9953-A23C534132AA}"/>
              </a:ext>
            </a:extLst>
          </p:cNvPr>
          <p:cNvSpPr>
            <a:spLocks noGrp="1"/>
          </p:cNvSpPr>
          <p:nvPr/>
        </p:nvSpPr>
        <p:spPr>
          <a:xfrm>
            <a:off x="4476750" y="4391025"/>
            <a:ext cx="133350" cy="13335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3645199-FB6F-4BC7-8D5B-DB8C9CD3DA32}"/>
              </a:ext>
            </a:extLst>
          </p:cNvPr>
          <p:cNvSpPr>
            <a:spLocks noGrp="1"/>
          </p:cNvSpPr>
          <p:nvPr/>
        </p:nvSpPr>
        <p:spPr>
          <a:xfrm>
            <a:off x="4762500" y="4229100"/>
            <a:ext cx="2857500" cy="476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/>
            </a:pPr>
            <a:r>
              <a:rPr sz="1350" b="0">
                <a:solidFill>
                  <a:srgbClr val="292A26"/>
                </a:solidFill>
                <a:latin typeface="Aptos"/>
                <a:ea typeface="Aptos"/>
                <a:cs typeface="Aptos"/>
              </a:rPr>
              <a:t>dugaljak és fogyasztásmérés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22F9595-1AB0-4FD8-A0C6-D5A8D2F9ACCF}"/>
              </a:ext>
            </a:extLst>
          </p:cNvPr>
          <p:cNvSpPr>
            <a:spLocks noGrp="1"/>
          </p:cNvSpPr>
          <p:nvPr/>
        </p:nvSpPr>
        <p:spPr>
          <a:xfrm>
            <a:off x="4476750" y="4981575"/>
            <a:ext cx="133350" cy="13335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E3FF0F9-88E9-4AF3-A4B9-2366152986EB}"/>
              </a:ext>
            </a:extLst>
          </p:cNvPr>
          <p:cNvSpPr>
            <a:spLocks noGrp="1"/>
          </p:cNvSpPr>
          <p:nvPr/>
        </p:nvSpPr>
        <p:spPr>
          <a:xfrm>
            <a:off x="4762500" y="4819650"/>
            <a:ext cx="2857500" cy="476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/>
            </a:pPr>
            <a:r>
              <a:rPr sz="1350" b="0">
                <a:solidFill>
                  <a:srgbClr val="292A26"/>
                </a:solidFill>
                <a:latin typeface="Aptos"/>
                <a:ea typeface="Aptos"/>
                <a:cs typeface="Aptos"/>
              </a:rPr>
              <a:t>esemény- és időalapú idősor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60F9E06-EA34-4C2A-8EA1-C7833D0836D6}"/>
              </a:ext>
            </a:extLst>
          </p:cNvPr>
          <p:cNvSpPr>
            <a:spLocks noGrp="1"/>
          </p:cNvSpPr>
          <p:nvPr/>
        </p:nvSpPr>
        <p:spPr>
          <a:xfrm>
            <a:off x="8267699" y="3209925"/>
            <a:ext cx="133350" cy="133350"/>
          </a:xfrm>
          <a:prstGeom prst="ellipse">
            <a:avLst/>
          </a:prstGeom>
          <a:solidFill>
            <a:srgbClr val="C96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5C01A1-E7F3-429A-ACE8-1B8E72B41EBD}"/>
              </a:ext>
            </a:extLst>
          </p:cNvPr>
          <p:cNvSpPr>
            <a:spLocks noGrp="1"/>
          </p:cNvSpPr>
          <p:nvPr/>
        </p:nvSpPr>
        <p:spPr>
          <a:xfrm>
            <a:off x="8553450" y="3048000"/>
            <a:ext cx="2857500" cy="476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/>
            </a:pPr>
            <a:r>
              <a:rPr sz="1350" b="0">
                <a:solidFill>
                  <a:srgbClr val="292A26"/>
                </a:solidFill>
                <a:latin typeface="Aptos"/>
                <a:ea typeface="Aptos"/>
                <a:cs typeface="Aptos"/>
              </a:rPr>
              <a:t>Bosch kazán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A51193F-23A2-4D40-B17A-F52C4552DBF4}"/>
              </a:ext>
            </a:extLst>
          </p:cNvPr>
          <p:cNvSpPr>
            <a:spLocks noGrp="1"/>
          </p:cNvSpPr>
          <p:nvPr/>
        </p:nvSpPr>
        <p:spPr>
          <a:xfrm>
            <a:off x="8267699" y="3800475"/>
            <a:ext cx="133350" cy="133350"/>
          </a:xfrm>
          <a:prstGeom prst="ellipse">
            <a:avLst/>
          </a:prstGeom>
          <a:solidFill>
            <a:srgbClr val="C96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A04161-8070-4262-8456-029E3DBBCD17}"/>
              </a:ext>
            </a:extLst>
          </p:cNvPr>
          <p:cNvSpPr>
            <a:spLocks noGrp="1"/>
          </p:cNvSpPr>
          <p:nvPr/>
        </p:nvSpPr>
        <p:spPr>
          <a:xfrm>
            <a:off x="8553450" y="3638550"/>
            <a:ext cx="2857500" cy="476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/>
            </a:pPr>
            <a:r>
              <a:rPr sz="1350" b="0">
                <a:solidFill>
                  <a:srgbClr val="292A26"/>
                </a:solidFill>
                <a:latin typeface="Aptos"/>
                <a:ea typeface="Aptos"/>
                <a:cs typeface="Aptos"/>
              </a:rPr>
              <a:t>2 cserépkályha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6C226D7-B704-4F17-8CF4-30F03384E43C}"/>
              </a:ext>
            </a:extLst>
          </p:cNvPr>
          <p:cNvSpPr>
            <a:spLocks noGrp="1"/>
          </p:cNvSpPr>
          <p:nvPr/>
        </p:nvSpPr>
        <p:spPr>
          <a:xfrm>
            <a:off x="8267699" y="4391025"/>
            <a:ext cx="133350" cy="133350"/>
          </a:xfrm>
          <a:prstGeom prst="ellipse">
            <a:avLst/>
          </a:prstGeom>
          <a:solidFill>
            <a:srgbClr val="C96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AF47ED4-3C1F-4F83-999F-2B158D33D7AF}"/>
              </a:ext>
            </a:extLst>
          </p:cNvPr>
          <p:cNvSpPr>
            <a:spLocks noGrp="1"/>
          </p:cNvSpPr>
          <p:nvPr/>
        </p:nvSpPr>
        <p:spPr>
          <a:xfrm>
            <a:off x="8553450" y="4229100"/>
            <a:ext cx="2857500" cy="476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/>
            </a:pPr>
            <a:r>
              <a:rPr sz="1350" b="0">
                <a:solidFill>
                  <a:srgbClr val="292A26"/>
                </a:solidFill>
                <a:latin typeface="Aptos"/>
                <a:ea typeface="Aptos"/>
                <a:cs typeface="Aptos"/>
              </a:rPr>
              <a:t>kézi állapotjelzés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7BAC625-7AC8-463C-ADD5-4D5BD62EEF92}"/>
              </a:ext>
            </a:extLst>
          </p:cNvPr>
          <p:cNvSpPr>
            <a:spLocks noGrp="1"/>
          </p:cNvSpPr>
          <p:nvPr/>
        </p:nvSpPr>
        <p:spPr>
          <a:xfrm>
            <a:off x="8267699" y="4981575"/>
            <a:ext cx="133350" cy="133350"/>
          </a:xfrm>
          <a:prstGeom prst="ellipse">
            <a:avLst/>
          </a:prstGeom>
          <a:solidFill>
            <a:srgbClr val="C96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EE5CE47-ABD1-4293-9EA2-4F52E1DA2D8F}"/>
              </a:ext>
            </a:extLst>
          </p:cNvPr>
          <p:cNvSpPr>
            <a:spLocks noGrp="1"/>
          </p:cNvSpPr>
          <p:nvPr/>
        </p:nvSpPr>
        <p:spPr>
          <a:xfrm>
            <a:off x="8553450" y="4819650"/>
            <a:ext cx="2857500" cy="476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/>
            </a:pPr>
            <a:r>
              <a:rPr sz="1350" b="0">
                <a:solidFill>
                  <a:srgbClr val="292A26"/>
                </a:solidFill>
                <a:latin typeface="Aptos"/>
                <a:ea typeface="Aptos"/>
                <a:cs typeface="Aptos"/>
              </a:rPr>
              <a:t>fogyasztásból következtetés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C0BC5C4-CC62-447C-B171-636902565617}"/>
              </a:ext>
            </a:extLst>
          </p:cNvPr>
          <p:cNvSpPr>
            <a:spLocks noGrp="1"/>
          </p:cNvSpPr>
          <p:nvPr/>
        </p:nvSpPr>
        <p:spPr>
          <a:xfrm>
            <a:off x="1428750" y="5562600"/>
            <a:ext cx="93345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pPr>
            <a:r>
              <a:rPr sz="1800" b="1">
                <a:solidFill>
                  <a:srgbClr val="C96845"/>
                </a:solidFill>
                <a:latin typeface="Aptos Display"/>
                <a:ea typeface="Aptos Display"/>
                <a:cs typeface="Aptos Display"/>
              </a:rPr>
              <a:t>A modell az elérhetőség típusát és az adatok bizonytalanságát is kezeli.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41E4D45-3E01-4A88-9C46-8C5C0E6CCA93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/>
            </a:pPr>
            <a:r>
              <a:rPr sz="75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Forrás: projektgazdai eszköz- és interfészleltár, 2026. szeptember.</a:t>
            </a:r>
          </a:p>
        </p:txBody>
      </p:sp>
    </p:spTree>
    <p:extLst>
      <p:ext uri="{BB962C8B-B14F-4D97-AF65-F5344CB8AC3E}">
        <p14:creationId xmlns:p14="http://schemas.microsoft.com/office/powerpoint/2010/main" val="21432472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A0039A-510B-44F1-9603-0E70B2255033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57150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66735B"/>
                </a:solidFill>
                <a:latin typeface="Aptos"/>
                <a:ea typeface="Aptos"/>
                <a:cs typeface="Aptos"/>
              </a:rPr>
              <a:t>INFORMÁCIÓGYŰJTÉS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2F8C20-2393-4E4F-A12A-AEF244642018}"/>
              </a:ext>
            </a:extLst>
          </p:cNvPr>
          <p:cNvSpPr>
            <a:spLocks noGrp="1"/>
          </p:cNvSpPr>
          <p:nvPr/>
        </p:nvSpPr>
        <p:spPr>
          <a:xfrm>
            <a:off x="11144250" y="361950"/>
            <a:ext cx="36195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6E716A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34710A-162B-4855-96FC-313F17F614D1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838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Az optimalizálás alapja az idősoros bizonyíték lett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0786EF-0E3F-4B76-910C-71CD9625ED59}"/>
              </a:ext>
            </a:extLst>
          </p:cNvPr>
          <p:cNvSpPr>
            <a:spLocks noGrp="1"/>
          </p:cNvSpPr>
          <p:nvPr/>
        </p:nvSpPr>
        <p:spPr>
          <a:xfrm>
            <a:off x="704850" y="2095499"/>
            <a:ext cx="19050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66735B"/>
                </a:solidFill>
                <a:latin typeface="Aptos"/>
                <a:ea typeface="Aptos"/>
                <a:cs typeface="Aptos"/>
              </a:rPr>
              <a:t>AUGUSZTUS</a:t>
            </a:r>
          </a:p>
        </p:txBody>
      </p:sp>
      <p:sp>
        <p:nvSpPr>
          <p:cNvPr id="7" name="Connector 6">
            <a:extLst>
              <a:ext uri="{FF2B5EF4-FFF2-40B4-BE49-F238E27FC236}">
                <a16:creationId xmlns:a16="http://schemas.microsoft.com/office/drawing/2014/main" id="{E250F416-CACE-44DB-A01B-B313AC96D819}"/>
              </a:ext>
            </a:extLst>
          </p:cNvPr>
          <p:cNvSpPr>
            <a:spLocks noGrp="1"/>
          </p:cNvSpPr>
          <p:nvPr/>
        </p:nvSpPr>
        <p:spPr>
          <a:xfrm>
            <a:off x="857250" y="2857500"/>
            <a:ext cx="10096500" cy="0"/>
          </a:xfrm>
          <a:prstGeom prst="line">
            <a:avLst/>
          </a:prstGeom>
          <a:ln w="38100">
            <a:solidFill>
              <a:srgbClr val="C9C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55047F3-FA56-4C9E-9650-512F9D935B40}"/>
              </a:ext>
            </a:extLst>
          </p:cNvPr>
          <p:cNvSpPr>
            <a:spLocks noGrp="1"/>
          </p:cNvSpPr>
          <p:nvPr/>
        </p:nvSpPr>
        <p:spPr>
          <a:xfrm>
            <a:off x="1143000" y="2743200"/>
            <a:ext cx="228600" cy="2286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C4A6C4-1D5E-437A-A3AF-D740434FE33D}"/>
              </a:ext>
            </a:extLst>
          </p:cNvPr>
          <p:cNvSpPr>
            <a:spLocks noGrp="1"/>
          </p:cNvSpPr>
          <p:nvPr/>
        </p:nvSpPr>
        <p:spPr>
          <a:xfrm>
            <a:off x="647700" y="3162300"/>
            <a:ext cx="121920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05:00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A10316-A3EB-432F-8C16-AC91DE7BA428}"/>
              </a:ext>
            </a:extLst>
          </p:cNvPr>
          <p:cNvSpPr>
            <a:spLocks noGrp="1"/>
          </p:cNvSpPr>
          <p:nvPr/>
        </p:nvSpPr>
        <p:spPr>
          <a:xfrm>
            <a:off x="457200" y="3524250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villanyóra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9487916-37D0-4914-BE6A-E07DE9C185CE}"/>
              </a:ext>
            </a:extLst>
          </p:cNvPr>
          <p:cNvSpPr>
            <a:spLocks noGrp="1"/>
          </p:cNvSpPr>
          <p:nvPr/>
        </p:nvSpPr>
        <p:spPr>
          <a:xfrm>
            <a:off x="3524250" y="2743200"/>
            <a:ext cx="228600" cy="2286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BA9BA3-90B8-46BC-B51C-1103C5CCEE70}"/>
              </a:ext>
            </a:extLst>
          </p:cNvPr>
          <p:cNvSpPr>
            <a:spLocks noGrp="1"/>
          </p:cNvSpPr>
          <p:nvPr/>
        </p:nvSpPr>
        <p:spPr>
          <a:xfrm>
            <a:off x="3028950" y="3162300"/>
            <a:ext cx="121920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18:00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FE8B16-7E24-49A7-A42C-8997E2B8EBF9}"/>
              </a:ext>
            </a:extLst>
          </p:cNvPr>
          <p:cNvSpPr>
            <a:spLocks noGrp="1"/>
          </p:cNvSpPr>
          <p:nvPr/>
        </p:nvSpPr>
        <p:spPr>
          <a:xfrm>
            <a:off x="2838450" y="3524250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villanyóra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9BD4024-E51B-4A20-8678-63345171C3FD}"/>
              </a:ext>
            </a:extLst>
          </p:cNvPr>
          <p:cNvSpPr>
            <a:spLocks noGrp="1"/>
          </p:cNvSpPr>
          <p:nvPr/>
        </p:nvSpPr>
        <p:spPr>
          <a:xfrm>
            <a:off x="6191250" y="2743200"/>
            <a:ext cx="228600" cy="228600"/>
          </a:xfrm>
          <a:prstGeom prst="ellipse">
            <a:avLst/>
          </a:prstGeom>
          <a:solidFill>
            <a:srgbClr val="C96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FEAC06-556C-404D-9826-6BDDAC76620B}"/>
              </a:ext>
            </a:extLst>
          </p:cNvPr>
          <p:cNvSpPr>
            <a:spLocks noGrp="1"/>
          </p:cNvSpPr>
          <p:nvPr/>
        </p:nvSpPr>
        <p:spPr>
          <a:xfrm>
            <a:off x="5695950" y="3162300"/>
            <a:ext cx="121920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18:00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81BD7D-50D2-4FF3-95A2-B59AB527B37E}"/>
              </a:ext>
            </a:extLst>
          </p:cNvPr>
          <p:cNvSpPr>
            <a:spLocks noGrp="1"/>
          </p:cNvSpPr>
          <p:nvPr/>
        </p:nvSpPr>
        <p:spPr>
          <a:xfrm>
            <a:off x="5505450" y="3524250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napi leolvasás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FC487FB-2A39-470B-BBFB-F7AB5832C8C3}"/>
              </a:ext>
            </a:extLst>
          </p:cNvPr>
          <p:cNvSpPr>
            <a:spLocks noGrp="1"/>
          </p:cNvSpPr>
          <p:nvPr/>
        </p:nvSpPr>
        <p:spPr>
          <a:xfrm>
            <a:off x="8858250" y="2743200"/>
            <a:ext cx="228600" cy="228600"/>
          </a:xfrm>
          <a:prstGeom prst="ellipse">
            <a:avLst/>
          </a:prstGeom>
          <a:solidFill>
            <a:srgbClr val="667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4314E6-6456-4632-8C4B-7CDE3C27C5AC}"/>
              </a:ext>
            </a:extLst>
          </p:cNvPr>
          <p:cNvSpPr>
            <a:spLocks noGrp="1"/>
          </p:cNvSpPr>
          <p:nvPr/>
        </p:nvSpPr>
        <p:spPr>
          <a:xfrm>
            <a:off x="8362950" y="3162300"/>
            <a:ext cx="121920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folyamatos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08EDCD-F417-4CAD-BEA8-0E66A9BE3996}"/>
              </a:ext>
            </a:extLst>
          </p:cNvPr>
          <p:cNvSpPr>
            <a:spLocks noGrp="1"/>
          </p:cNvSpPr>
          <p:nvPr/>
        </p:nvSpPr>
        <p:spPr>
          <a:xfrm>
            <a:off x="8172450" y="3524250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hőmérséklet-polling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BE4EB2-3D65-4EEB-B131-B005808462B4}"/>
              </a:ext>
            </a:extLst>
          </p:cNvPr>
          <p:cNvSpPr>
            <a:spLocks noGrp="1"/>
          </p:cNvSpPr>
          <p:nvPr/>
        </p:nvSpPr>
        <p:spPr>
          <a:xfrm>
            <a:off x="876300" y="4248150"/>
            <a:ext cx="40005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augusztus eleje–vége: 2×/nap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C599651-6ACD-4B72-96C4-39F67DAA8200}"/>
              </a:ext>
            </a:extLst>
          </p:cNvPr>
          <p:cNvSpPr>
            <a:spLocks noGrp="1"/>
          </p:cNvSpPr>
          <p:nvPr/>
        </p:nvSpPr>
        <p:spPr>
          <a:xfrm>
            <a:off x="876300" y="4724400"/>
            <a:ext cx="40005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utána: 1×/nap, 18:00-kor</a:t>
            </a:r>
          </a:p>
        </p:txBody>
      </p:sp>
      <p:sp>
        <p:nvSpPr>
          <p:cNvPr id="22" name="Connector 21">
            <a:extLst>
              <a:ext uri="{FF2B5EF4-FFF2-40B4-BE49-F238E27FC236}">
                <a16:creationId xmlns:a16="http://schemas.microsoft.com/office/drawing/2014/main" id="{BB2A9A89-3580-4BBF-BC24-54BD507E990A}"/>
              </a:ext>
            </a:extLst>
          </p:cNvPr>
          <p:cNvSpPr>
            <a:spLocks noGrp="1"/>
          </p:cNvSpPr>
          <p:nvPr/>
        </p:nvSpPr>
        <p:spPr>
          <a:xfrm>
            <a:off x="5276850" y="4152900"/>
            <a:ext cx="9525" cy="0"/>
          </a:xfrm>
          <a:prstGeom prst="line">
            <a:avLst/>
          </a:prstGeom>
          <a:ln w="12700">
            <a:solidFill>
              <a:srgbClr val="C9C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AD62E4D-9CD4-4F06-9A1D-98F171464D98}"/>
              </a:ext>
            </a:extLst>
          </p:cNvPr>
          <p:cNvSpPr>
            <a:spLocks noGrp="1"/>
          </p:cNvSpPr>
          <p:nvPr/>
        </p:nvSpPr>
        <p:spPr>
          <a:xfrm>
            <a:off x="5791200" y="4057650"/>
            <a:ext cx="17145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C96845"/>
                </a:solidFill>
                <a:latin typeface="Aptos"/>
                <a:ea typeface="Aptos"/>
                <a:cs typeface="Aptos"/>
              </a:rPr>
              <a:t>SZÁMLÁK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707CA64-E967-4C05-899F-9525DC87F0D1}"/>
              </a:ext>
            </a:extLst>
          </p:cNvPr>
          <p:cNvSpPr>
            <a:spLocks noGrp="1"/>
          </p:cNvSpPr>
          <p:nvPr/>
        </p:nvSpPr>
        <p:spPr>
          <a:xfrm>
            <a:off x="5791200" y="4381500"/>
            <a:ext cx="295275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teljes elszámolási időszak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9BDB660-8038-4DA5-9033-7D2E932E2C56}"/>
              </a:ext>
            </a:extLst>
          </p:cNvPr>
          <p:cNvSpPr>
            <a:spLocks noGrp="1"/>
          </p:cNvSpPr>
          <p:nvPr/>
        </p:nvSpPr>
        <p:spPr>
          <a:xfrm>
            <a:off x="5791200" y="4762500"/>
            <a:ext cx="295275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gáz + villany, tételes és számlázási adatokkal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4396AD-2F17-4FDF-A98B-4B323065C43C}"/>
              </a:ext>
            </a:extLst>
          </p:cNvPr>
          <p:cNvSpPr>
            <a:spLocks noGrp="1"/>
          </p:cNvSpPr>
          <p:nvPr/>
        </p:nvSpPr>
        <p:spPr>
          <a:xfrm>
            <a:off x="9124950" y="4057650"/>
            <a:ext cx="19050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66735B"/>
                </a:solidFill>
                <a:latin typeface="Aptos"/>
                <a:ea typeface="Aptos"/>
                <a:cs typeface="Aptos"/>
              </a:rPr>
              <a:t>ADATBÁZIS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738C01D-0A96-4C05-A477-2F9FDB126BCF}"/>
              </a:ext>
            </a:extLst>
          </p:cNvPr>
          <p:cNvSpPr>
            <a:spLocks noGrp="1"/>
          </p:cNvSpPr>
          <p:nvPr/>
        </p:nvSpPr>
        <p:spPr>
          <a:xfrm>
            <a:off x="9124950" y="4381500"/>
            <a:ext cx="2095499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közös idősor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BA54984-C90A-40E3-B0EE-83B8E92DF611}"/>
              </a:ext>
            </a:extLst>
          </p:cNvPr>
          <p:cNvSpPr>
            <a:spLocks noGrp="1"/>
          </p:cNvSpPr>
          <p:nvPr/>
        </p:nvSpPr>
        <p:spPr>
          <a:xfrm>
            <a:off x="9124950" y="4762500"/>
            <a:ext cx="2095499" cy="533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mérések, fogyasztás és számlaadatok egy helyen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A11154A-36DF-40C4-8966-561C38FDB3DA}"/>
              </a:ext>
            </a:extLst>
          </p:cNvPr>
          <p:cNvSpPr>
            <a:spLocks noGrp="1"/>
          </p:cNvSpPr>
          <p:nvPr/>
        </p:nvSpPr>
        <p:spPr>
          <a:xfrm>
            <a:off x="1466850" y="5772150"/>
            <a:ext cx="9258300" cy="342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C96845"/>
                </a:solidFill>
                <a:latin typeface="Aptos Display"/>
                <a:ea typeface="Aptos Display"/>
                <a:cs typeface="Aptos Display"/>
              </a:rPr>
              <a:t>A következő lépés már nem adatgyűjtés, hanem a napi döntési modell tanítása és tesztelése.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3A4213A-3FB0-4395-B881-8F9CC6029665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Forrás: projektgazdai adatgyűjtési napló és számlafeldolgozási folyamat.</a:t>
            </a:r>
          </a:p>
        </p:txBody>
      </p:sp>
    </p:spTree>
    <p:extLst>
      <p:ext uri="{BB962C8B-B14F-4D97-AF65-F5344CB8AC3E}">
        <p14:creationId xmlns:p14="http://schemas.microsoft.com/office/powerpoint/2010/main" val="7853597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236DE8-7CE0-4BAE-BA36-D834686F4EAC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57150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66735B"/>
                </a:solidFill>
                <a:latin typeface="Aptos"/>
                <a:ea typeface="Aptos"/>
                <a:cs typeface="Aptos"/>
              </a:rPr>
              <a:t>BEMUTATÁSKORI ÁLLAPOT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427064-6DDB-4B48-8238-5D501BE9AE89}"/>
              </a:ext>
            </a:extLst>
          </p:cNvPr>
          <p:cNvSpPr>
            <a:spLocks noGrp="1"/>
          </p:cNvSpPr>
          <p:nvPr/>
        </p:nvSpPr>
        <p:spPr>
          <a:xfrm>
            <a:off x="11144250" y="361950"/>
            <a:ext cx="36195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6E716A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3606A6-7609-4686-8AB4-A6F9FE64CF34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838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A rendszer 45 automatikus adatforrást fog össze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48B6E5-0FE1-4948-B6CC-D115F85112D7}"/>
              </a:ext>
            </a:extLst>
          </p:cNvPr>
          <p:cNvSpPr>
            <a:spLocks noGrp="1"/>
          </p:cNvSpPr>
          <p:nvPr/>
        </p:nvSpPr>
        <p:spPr>
          <a:xfrm>
            <a:off x="704850" y="2038349"/>
            <a:ext cx="219075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2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45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8D42FB-D702-4ACD-940C-E65480A49F31}"/>
              </a:ext>
            </a:extLst>
          </p:cNvPr>
          <p:cNvSpPr>
            <a:spLocks noGrp="1"/>
          </p:cNvSpPr>
          <p:nvPr/>
        </p:nvSpPr>
        <p:spPr>
          <a:xfrm>
            <a:off x="781050" y="2971800"/>
            <a:ext cx="219075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automatikus adatforrás</a:t>
            </a:r>
          </a:p>
        </p:txBody>
      </p:sp>
      <p:sp>
        <p:nvSpPr>
          <p:cNvPr id="8" name="Connector 7">
            <a:extLst>
              <a:ext uri="{FF2B5EF4-FFF2-40B4-BE49-F238E27FC236}">
                <a16:creationId xmlns:a16="http://schemas.microsoft.com/office/drawing/2014/main" id="{C2BE6B6A-11EC-4C73-8918-C34ACBE2F97F}"/>
              </a:ext>
            </a:extLst>
          </p:cNvPr>
          <p:cNvSpPr>
            <a:spLocks noGrp="1"/>
          </p:cNvSpPr>
          <p:nvPr/>
        </p:nvSpPr>
        <p:spPr>
          <a:xfrm>
            <a:off x="781050" y="3524250"/>
            <a:ext cx="2705100" cy="0"/>
          </a:xfrm>
          <a:prstGeom prst="line">
            <a:avLst/>
          </a:prstGeom>
          <a:ln w="12700">
            <a:solidFill>
              <a:srgbClr val="C9C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C4703D-3A1F-4ADE-917B-675CAE53B9AD}"/>
              </a:ext>
            </a:extLst>
          </p:cNvPr>
          <p:cNvSpPr>
            <a:spLocks noGrp="1"/>
          </p:cNvSpPr>
          <p:nvPr/>
        </p:nvSpPr>
        <p:spPr>
          <a:xfrm>
            <a:off x="781050" y="3771900"/>
            <a:ext cx="952500" cy="590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4400" b="1">
                <a:solidFill>
                  <a:srgbClr val="F2B705"/>
                </a:solidFill>
                <a:latin typeface="Aptos Display"/>
                <a:ea typeface="Aptos Display"/>
                <a:cs typeface="Aptos Display"/>
              </a:rPr>
              <a:t>30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4FBE57-90ED-45CD-BA4F-36254D0134FB}"/>
              </a:ext>
            </a:extLst>
          </p:cNvPr>
          <p:cNvSpPr>
            <a:spLocks noGrp="1"/>
          </p:cNvSpPr>
          <p:nvPr/>
        </p:nvSpPr>
        <p:spPr>
          <a:xfrm>
            <a:off x="1695450" y="3886200"/>
            <a:ext cx="142875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Zigbee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B1C77C-2CF1-49A8-8ED4-2162AF0933F0}"/>
              </a:ext>
            </a:extLst>
          </p:cNvPr>
          <p:cNvSpPr>
            <a:spLocks noGrp="1"/>
          </p:cNvSpPr>
          <p:nvPr/>
        </p:nvSpPr>
        <p:spPr>
          <a:xfrm>
            <a:off x="1695450" y="4210050"/>
            <a:ext cx="16192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jelentő eszköz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486CFC-6C35-4316-8B19-9765506900D0}"/>
              </a:ext>
            </a:extLst>
          </p:cNvPr>
          <p:cNvSpPr>
            <a:spLocks noGrp="1"/>
          </p:cNvSpPr>
          <p:nvPr/>
        </p:nvSpPr>
        <p:spPr>
          <a:xfrm>
            <a:off x="781050" y="4667250"/>
            <a:ext cx="952500" cy="590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4400" b="1">
                <a:solidFill>
                  <a:srgbClr val="C96845"/>
                </a:solidFill>
                <a:latin typeface="Aptos Display"/>
                <a:ea typeface="Aptos Display"/>
                <a:cs typeface="Aptos Display"/>
              </a:rPr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68CED7-33B8-480B-94B5-8A818E4FA0DA}"/>
              </a:ext>
            </a:extLst>
          </p:cNvPr>
          <p:cNvSpPr>
            <a:spLocks noGrp="1"/>
          </p:cNvSpPr>
          <p:nvPr/>
        </p:nvSpPr>
        <p:spPr>
          <a:xfrm>
            <a:off x="1695450" y="4648200"/>
            <a:ext cx="1809750" cy="323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 sz="1650"/>
            </a:pPr>
            <a:r>
              <a:rPr sz="165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API / MQTT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F27F69-E1DF-4D6E-B0E1-2D6B256F6E62}"/>
              </a:ext>
            </a:extLst>
          </p:cNvPr>
          <p:cNvSpPr>
            <a:spLocks noGrp="1"/>
          </p:cNvSpPr>
          <p:nvPr/>
        </p:nvSpPr>
        <p:spPr>
          <a:xfrm>
            <a:off x="1695450" y="5010150"/>
            <a:ext cx="20955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 sz="1200"/>
            </a:pPr>
            <a:r>
              <a:rPr sz="12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egyéb automatikus adatforrás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909F06-1E14-4648-9A5B-72A04CD3E40B}"/>
              </a:ext>
            </a:extLst>
          </p:cNvPr>
          <p:cNvSpPr>
            <a:spLocks noGrp="1"/>
          </p:cNvSpPr>
          <p:nvPr/>
        </p:nvSpPr>
        <p:spPr>
          <a:xfrm>
            <a:off x="4343400" y="2095499"/>
            <a:ext cx="3429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66735B"/>
                </a:solidFill>
                <a:latin typeface="Aptos"/>
                <a:ea typeface="Aptos"/>
                <a:cs typeface="Aptos"/>
              </a:rPr>
              <a:t>ZIGBEE MESH GERINC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2C30892-DBC7-40D6-92C4-F3C022AA1F90}"/>
              </a:ext>
            </a:extLst>
          </p:cNvPr>
          <p:cNvSpPr>
            <a:spLocks noGrp="1"/>
          </p:cNvSpPr>
          <p:nvPr/>
        </p:nvSpPr>
        <p:spPr>
          <a:xfrm>
            <a:off x="6019800" y="2571750"/>
            <a:ext cx="1219200" cy="1219200"/>
          </a:xfrm>
          <a:prstGeom prst="ellipse">
            <a:avLst/>
          </a:prstGeom>
          <a:solidFill>
            <a:srgbClr val="292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5DA8BF-CBCB-4EA1-A8BA-AD88F3C93814}"/>
              </a:ext>
            </a:extLst>
          </p:cNvPr>
          <p:cNvSpPr>
            <a:spLocks noGrp="1"/>
          </p:cNvSpPr>
          <p:nvPr/>
        </p:nvSpPr>
        <p:spPr>
          <a:xfrm>
            <a:off x="6105525" y="2800350"/>
            <a:ext cx="1047749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BRIDGE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9712B44-7CBB-4EEE-B04A-65BD703DB7DD}"/>
              </a:ext>
            </a:extLst>
          </p:cNvPr>
          <p:cNvSpPr>
            <a:spLocks noGrp="1"/>
          </p:cNvSpPr>
          <p:nvPr/>
        </p:nvSpPr>
        <p:spPr>
          <a:xfrm>
            <a:off x="4572000" y="4210050"/>
            <a:ext cx="723900" cy="7239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A09424-EC34-4356-A98E-4CA26BD9631C}"/>
              </a:ext>
            </a:extLst>
          </p:cNvPr>
          <p:cNvSpPr>
            <a:spLocks noGrp="1"/>
          </p:cNvSpPr>
          <p:nvPr/>
        </p:nvSpPr>
        <p:spPr>
          <a:xfrm>
            <a:off x="4781550" y="4381500"/>
            <a:ext cx="304800" cy="323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20" name="Connector 19">
            <a:extLst>
              <a:ext uri="{FF2B5EF4-FFF2-40B4-BE49-F238E27FC236}">
                <a16:creationId xmlns:a16="http://schemas.microsoft.com/office/drawing/2014/main" id="{9641D820-B8EA-4B8C-8987-9F8CD2056724}"/>
              </a:ext>
            </a:extLst>
          </p:cNvPr>
          <p:cNvSpPr>
            <a:spLocks noGrp="1"/>
          </p:cNvSpPr>
          <p:nvPr/>
        </p:nvSpPr>
        <p:spPr>
          <a:xfrm flipH="1">
            <a:off x="4933950" y="3181350"/>
            <a:ext cx="1695450" cy="1390650"/>
          </a:xfrm>
          <a:prstGeom prst="line">
            <a:avLst/>
          </a:prstGeom>
          <a:ln w="19050">
            <a:solidFill>
              <a:srgbClr val="C9C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B8BD806-C19A-4376-8BDB-AE97643A8C4E}"/>
              </a:ext>
            </a:extLst>
          </p:cNvPr>
          <p:cNvSpPr>
            <a:spLocks noGrp="1"/>
          </p:cNvSpPr>
          <p:nvPr/>
        </p:nvSpPr>
        <p:spPr>
          <a:xfrm>
            <a:off x="6019800" y="4667250"/>
            <a:ext cx="723900" cy="7239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769228-9156-4687-B552-A2586BE013A7}"/>
              </a:ext>
            </a:extLst>
          </p:cNvPr>
          <p:cNvSpPr>
            <a:spLocks noGrp="1"/>
          </p:cNvSpPr>
          <p:nvPr/>
        </p:nvSpPr>
        <p:spPr>
          <a:xfrm>
            <a:off x="6229350" y="4838700"/>
            <a:ext cx="304800" cy="323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23" name="Connector 22">
            <a:extLst>
              <a:ext uri="{FF2B5EF4-FFF2-40B4-BE49-F238E27FC236}">
                <a16:creationId xmlns:a16="http://schemas.microsoft.com/office/drawing/2014/main" id="{71C4F186-63C2-44CD-A94A-15BD51E4E57C}"/>
              </a:ext>
            </a:extLst>
          </p:cNvPr>
          <p:cNvSpPr>
            <a:spLocks noGrp="1"/>
          </p:cNvSpPr>
          <p:nvPr/>
        </p:nvSpPr>
        <p:spPr>
          <a:xfrm flipH="1">
            <a:off x="6381750" y="3181350"/>
            <a:ext cx="247650" cy="1847850"/>
          </a:xfrm>
          <a:prstGeom prst="line">
            <a:avLst/>
          </a:prstGeom>
          <a:ln w="19050">
            <a:solidFill>
              <a:srgbClr val="C9C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4BFC60A-355A-4EBC-A3C0-02E423DCFB84}"/>
              </a:ext>
            </a:extLst>
          </p:cNvPr>
          <p:cNvSpPr>
            <a:spLocks noGrp="1"/>
          </p:cNvSpPr>
          <p:nvPr/>
        </p:nvSpPr>
        <p:spPr>
          <a:xfrm>
            <a:off x="7467599" y="4210050"/>
            <a:ext cx="723900" cy="7239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0EDFC21-C2B7-4AC4-B9CE-01389DE0339E}"/>
              </a:ext>
            </a:extLst>
          </p:cNvPr>
          <p:cNvSpPr>
            <a:spLocks noGrp="1"/>
          </p:cNvSpPr>
          <p:nvPr/>
        </p:nvSpPr>
        <p:spPr>
          <a:xfrm>
            <a:off x="7677150" y="4381500"/>
            <a:ext cx="304800" cy="323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6" name="Connector 25">
            <a:extLst>
              <a:ext uri="{FF2B5EF4-FFF2-40B4-BE49-F238E27FC236}">
                <a16:creationId xmlns:a16="http://schemas.microsoft.com/office/drawing/2014/main" id="{35AB1805-44BD-4392-9943-C212B951C826}"/>
              </a:ext>
            </a:extLst>
          </p:cNvPr>
          <p:cNvSpPr>
            <a:spLocks noGrp="1"/>
          </p:cNvSpPr>
          <p:nvPr/>
        </p:nvSpPr>
        <p:spPr>
          <a:xfrm>
            <a:off x="6629400" y="3181350"/>
            <a:ext cx="1200150" cy="1390650"/>
          </a:xfrm>
          <a:prstGeom prst="line">
            <a:avLst/>
          </a:prstGeom>
          <a:ln w="19050">
            <a:solidFill>
              <a:srgbClr val="C9C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C7554A3-EB13-4373-86FD-8A329432B267}"/>
              </a:ext>
            </a:extLst>
          </p:cNvPr>
          <p:cNvSpPr>
            <a:spLocks noGrp="1"/>
          </p:cNvSpPr>
          <p:nvPr/>
        </p:nvSpPr>
        <p:spPr>
          <a:xfrm>
            <a:off x="6019800" y="2571750"/>
            <a:ext cx="1219200" cy="1219200"/>
          </a:xfrm>
          <a:prstGeom prst="ellipse">
            <a:avLst/>
          </a:prstGeom>
          <a:solidFill>
            <a:srgbClr val="292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14FD345-353F-4CD5-A28C-C5695A0BC52E}"/>
              </a:ext>
            </a:extLst>
          </p:cNvPr>
          <p:cNvSpPr>
            <a:spLocks noGrp="1"/>
          </p:cNvSpPr>
          <p:nvPr/>
        </p:nvSpPr>
        <p:spPr>
          <a:xfrm>
            <a:off x="6105525" y="2800350"/>
            <a:ext cx="1047749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BRIDGE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84F14E1-3EF4-4746-BE32-AD0F6A234589}"/>
              </a:ext>
            </a:extLst>
          </p:cNvPr>
          <p:cNvSpPr>
            <a:spLocks noGrp="1"/>
          </p:cNvSpPr>
          <p:nvPr/>
        </p:nvSpPr>
        <p:spPr>
          <a:xfrm>
            <a:off x="4572000" y="4210050"/>
            <a:ext cx="723900" cy="7239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3D8963E-6FCA-440D-B560-B31F326E4305}"/>
              </a:ext>
            </a:extLst>
          </p:cNvPr>
          <p:cNvSpPr>
            <a:spLocks noGrp="1"/>
          </p:cNvSpPr>
          <p:nvPr/>
        </p:nvSpPr>
        <p:spPr>
          <a:xfrm>
            <a:off x="4781550" y="4381500"/>
            <a:ext cx="304800" cy="323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F231B48-C5E8-4D6B-9E3A-AAD5E7184A9B}"/>
              </a:ext>
            </a:extLst>
          </p:cNvPr>
          <p:cNvSpPr>
            <a:spLocks noGrp="1"/>
          </p:cNvSpPr>
          <p:nvPr/>
        </p:nvSpPr>
        <p:spPr>
          <a:xfrm>
            <a:off x="6019800" y="4667250"/>
            <a:ext cx="723900" cy="7239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F500476-19BC-4B2F-A871-B2F6CF812960}"/>
              </a:ext>
            </a:extLst>
          </p:cNvPr>
          <p:cNvSpPr>
            <a:spLocks noGrp="1"/>
          </p:cNvSpPr>
          <p:nvPr/>
        </p:nvSpPr>
        <p:spPr>
          <a:xfrm>
            <a:off x="6229350" y="4838700"/>
            <a:ext cx="304800" cy="323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CC3D2D5-3408-461B-9912-B7FA9E0D89A8}"/>
              </a:ext>
            </a:extLst>
          </p:cNvPr>
          <p:cNvSpPr>
            <a:spLocks noGrp="1"/>
          </p:cNvSpPr>
          <p:nvPr/>
        </p:nvSpPr>
        <p:spPr>
          <a:xfrm>
            <a:off x="7467599" y="4210050"/>
            <a:ext cx="723900" cy="7239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A1DB55A-12C1-47EA-891B-6968ACD57EA6}"/>
              </a:ext>
            </a:extLst>
          </p:cNvPr>
          <p:cNvSpPr>
            <a:spLocks noGrp="1"/>
          </p:cNvSpPr>
          <p:nvPr/>
        </p:nvSpPr>
        <p:spPr>
          <a:xfrm>
            <a:off x="7677150" y="4381500"/>
            <a:ext cx="304800" cy="323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8FF2EAF-0627-4DBE-BB3B-767BC7C79308}"/>
              </a:ext>
            </a:extLst>
          </p:cNvPr>
          <p:cNvSpPr>
            <a:spLocks noGrp="1"/>
          </p:cNvSpPr>
          <p:nvPr/>
        </p:nvSpPr>
        <p:spPr>
          <a:xfrm>
            <a:off x="8858250" y="2647950"/>
            <a:ext cx="2381250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4 kombinált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dugalj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5FC1810-B3A3-4BC9-A05A-3C70F164744C}"/>
              </a:ext>
            </a:extLst>
          </p:cNvPr>
          <p:cNvSpPr>
            <a:spLocks noGrp="1"/>
          </p:cNvSpPr>
          <p:nvPr/>
        </p:nvSpPr>
        <p:spPr>
          <a:xfrm>
            <a:off x="8896350" y="3590925"/>
            <a:ext cx="133350" cy="13335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84A46ED-5191-428E-9B0E-AF53EEAD03B2}"/>
              </a:ext>
            </a:extLst>
          </p:cNvPr>
          <p:cNvSpPr>
            <a:spLocks noGrp="1"/>
          </p:cNvSpPr>
          <p:nvPr/>
        </p:nvSpPr>
        <p:spPr>
          <a:xfrm>
            <a:off x="9182100" y="3543300"/>
            <a:ext cx="2095499" cy="24764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292A26"/>
                </a:solidFill>
                <a:latin typeface="Aptos"/>
                <a:ea typeface="Aptos"/>
                <a:cs typeface="Aptos"/>
              </a:rPr>
              <a:t>energia mérés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94747BC-3B9C-41DF-A505-927AEE1F39D0}"/>
              </a:ext>
            </a:extLst>
          </p:cNvPr>
          <p:cNvSpPr>
            <a:spLocks noGrp="1"/>
          </p:cNvSpPr>
          <p:nvPr/>
        </p:nvSpPr>
        <p:spPr>
          <a:xfrm>
            <a:off x="8896350" y="4124325"/>
            <a:ext cx="133350" cy="133350"/>
          </a:xfrm>
          <a:prstGeom prst="ellipse">
            <a:avLst/>
          </a:prstGeom>
          <a:solidFill>
            <a:srgbClr val="C96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89D7343-105D-48D9-B428-79A3C38A4B4D}"/>
              </a:ext>
            </a:extLst>
          </p:cNvPr>
          <p:cNvSpPr>
            <a:spLocks noGrp="1"/>
          </p:cNvSpPr>
          <p:nvPr/>
        </p:nvSpPr>
        <p:spPr>
          <a:xfrm>
            <a:off x="9182100" y="4076699"/>
            <a:ext cx="2095499" cy="24764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292A26"/>
                </a:solidFill>
                <a:latin typeface="Aptos"/>
                <a:ea typeface="Aptos"/>
                <a:cs typeface="Aptos"/>
              </a:rPr>
              <a:t>kapcsolás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E99F455-86EB-4A20-8902-B93BAA2C1304}"/>
              </a:ext>
            </a:extLst>
          </p:cNvPr>
          <p:cNvSpPr>
            <a:spLocks noGrp="1"/>
          </p:cNvSpPr>
          <p:nvPr/>
        </p:nvSpPr>
        <p:spPr>
          <a:xfrm>
            <a:off x="8896350" y="4657725"/>
            <a:ext cx="133350" cy="133350"/>
          </a:xfrm>
          <a:prstGeom prst="ellipse">
            <a:avLst/>
          </a:prstGeom>
          <a:solidFill>
            <a:srgbClr val="667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DB78E89-DF16-4FA3-B274-4187956A4553}"/>
              </a:ext>
            </a:extLst>
          </p:cNvPr>
          <p:cNvSpPr>
            <a:spLocks noGrp="1"/>
          </p:cNvSpPr>
          <p:nvPr/>
        </p:nvSpPr>
        <p:spPr>
          <a:xfrm>
            <a:off x="9182100" y="4610100"/>
            <a:ext cx="2095499" cy="24764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292A26"/>
                </a:solidFill>
                <a:latin typeface="Aptos"/>
                <a:ea typeface="Aptos"/>
                <a:cs typeface="Aptos"/>
              </a:rPr>
              <a:t>Zigbee router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F62CE65-989F-49A1-BBB6-DAF0F404243F}"/>
              </a:ext>
            </a:extLst>
          </p:cNvPr>
          <p:cNvSpPr>
            <a:spLocks noGrp="1"/>
          </p:cNvSpPr>
          <p:nvPr/>
        </p:nvSpPr>
        <p:spPr>
          <a:xfrm>
            <a:off x="8858250" y="5124450"/>
            <a:ext cx="2381250" cy="647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C96845"/>
                </a:solidFill>
                <a:latin typeface="Aptos Display"/>
                <a:ea typeface="Aptos Display"/>
                <a:cs typeface="Aptos Display"/>
              </a:rPr>
              <a:t>A mesh 4 router-dugaljjal mér, kapcsol és továbbít.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F3A0DCC-718D-4BD4-8ED6-2F34483DAABB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Forrás: élő leltár + a bemutatásig települő 4 TRV és 2 nyitásérzékelő, 2026. szeptember.</a:t>
            </a:r>
          </a:p>
        </p:txBody>
      </p:sp>
      <p:sp>
        <p:nvSpPr>
          <p:cNvPr id="44" name="Straight Connector 43">
            <a:extLst>
              <a:ext uri="{FF2B5EF4-FFF2-40B4-BE49-F238E27FC236}">
                <a16:creationId xmlns:a16="http://schemas.microsoft.com/office/drawing/2014/main" id="{69A8DC74-4410-4DD0-90D3-E3F47EA30D9C}"/>
              </a:ext>
            </a:extLst>
          </p:cNvPr>
          <p:cNvSpPr>
            <a:spLocks noGrp="1"/>
          </p:cNvSpPr>
          <p:nvPr/>
        </p:nvSpPr>
        <p:spPr>
          <a:xfrm>
            <a:off x="6858000" y="3524250"/>
            <a:ext cx="1295400" cy="1543050"/>
          </a:xfrm>
          <a:prstGeom prst="line">
            <a:avLst/>
          </a:prstGeom>
          <a:ln w="19050">
            <a:solidFill>
              <a:srgbClr val="C9C2B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848881D-941D-42FD-9ACC-72B15FA7586A}"/>
              </a:ext>
            </a:extLst>
          </p:cNvPr>
          <p:cNvSpPr>
            <a:spLocks noGrp="1"/>
          </p:cNvSpPr>
          <p:nvPr/>
        </p:nvSpPr>
        <p:spPr>
          <a:xfrm>
            <a:off x="7962900" y="4953000"/>
            <a:ext cx="666750" cy="666750"/>
          </a:xfrm>
          <a:prstGeom prst="ellipse">
            <a:avLst/>
          </a:prstGeom>
          <a:solidFill>
            <a:srgbClr val="F2B70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ECB59AF-D320-4E65-96CE-C03D89EBCAEF}"/>
              </a:ext>
            </a:extLst>
          </p:cNvPr>
          <p:cNvSpPr>
            <a:spLocks noGrp="1"/>
          </p:cNvSpPr>
          <p:nvPr/>
        </p:nvSpPr>
        <p:spPr>
          <a:xfrm>
            <a:off x="8153400" y="5114925"/>
            <a:ext cx="3048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8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110757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4B2F9D-9301-4DDC-A7A2-0F6C9330213D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57150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66735B"/>
                </a:solidFill>
                <a:latin typeface="Aptos"/>
                <a:ea typeface="Aptos"/>
                <a:cs typeface="Aptos"/>
              </a:rPr>
              <a:t>IT INFRASTRUKTÚRA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E585CC-5305-4CE3-89F7-CD3A6F9149C9}"/>
              </a:ext>
            </a:extLst>
          </p:cNvPr>
          <p:cNvSpPr>
            <a:spLocks noGrp="1"/>
          </p:cNvSpPr>
          <p:nvPr/>
        </p:nvSpPr>
        <p:spPr>
          <a:xfrm>
            <a:off x="11144250" y="361950"/>
            <a:ext cx="36195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6E716A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20C811-41E5-4C1E-89AA-215472B44852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838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A rendszer már a saját működésének energiaigényét is láthatóvá teszi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BAB3D1-593D-4D62-B06E-91CC33A46ACB}"/>
              </a:ext>
            </a:extLst>
          </p:cNvPr>
          <p:cNvSpPr>
            <a:spLocks noGrp="1"/>
          </p:cNvSpPr>
          <p:nvPr/>
        </p:nvSpPr>
        <p:spPr>
          <a:xfrm>
            <a:off x="723900" y="2076450"/>
            <a:ext cx="876300" cy="7429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58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F0C777-5FBF-4B80-BFB6-5D4406173BDD}"/>
              </a:ext>
            </a:extLst>
          </p:cNvPr>
          <p:cNvSpPr>
            <a:spLocks noGrp="1"/>
          </p:cNvSpPr>
          <p:nvPr/>
        </p:nvSpPr>
        <p:spPr>
          <a:xfrm>
            <a:off x="1562100" y="2152650"/>
            <a:ext cx="2286000" cy="323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Nous A1T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2EB9DC-BA69-43B9-A791-AD6854C699A7}"/>
              </a:ext>
            </a:extLst>
          </p:cNvPr>
          <p:cNvSpPr>
            <a:spLocks noGrp="1"/>
          </p:cNvSpPr>
          <p:nvPr/>
        </p:nvSpPr>
        <p:spPr>
          <a:xfrm>
            <a:off x="1562100" y="2533650"/>
            <a:ext cx="228600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külön mért IT-ág</a:t>
            </a:r>
          </a:p>
        </p:txBody>
      </p:sp>
      <p:sp>
        <p:nvSpPr>
          <p:cNvPr id="9" name="Connector 8">
            <a:extLst>
              <a:ext uri="{FF2B5EF4-FFF2-40B4-BE49-F238E27FC236}">
                <a16:creationId xmlns:a16="http://schemas.microsoft.com/office/drawing/2014/main" id="{407B55E4-EA12-4109-9DF0-C43286280128}"/>
              </a:ext>
            </a:extLst>
          </p:cNvPr>
          <p:cNvSpPr>
            <a:spLocks noGrp="1"/>
          </p:cNvSpPr>
          <p:nvPr/>
        </p:nvSpPr>
        <p:spPr>
          <a:xfrm>
            <a:off x="723900" y="3105150"/>
            <a:ext cx="3238499" cy="0"/>
          </a:xfrm>
          <a:prstGeom prst="line">
            <a:avLst/>
          </a:prstGeom>
          <a:ln w="12700">
            <a:solidFill>
              <a:srgbClr val="C9C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4584118-E2E1-42B5-81A5-23ACA58EAE07}"/>
              </a:ext>
            </a:extLst>
          </p:cNvPr>
          <p:cNvSpPr>
            <a:spLocks noGrp="1"/>
          </p:cNvSpPr>
          <p:nvPr/>
        </p:nvSpPr>
        <p:spPr>
          <a:xfrm>
            <a:off x="762000" y="3467100"/>
            <a:ext cx="171450" cy="17145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2EBF73-BB41-4E39-AD8D-F3DBC2BEACEB}"/>
              </a:ext>
            </a:extLst>
          </p:cNvPr>
          <p:cNvSpPr>
            <a:spLocks noGrp="1"/>
          </p:cNvSpPr>
          <p:nvPr/>
        </p:nvSpPr>
        <p:spPr>
          <a:xfrm>
            <a:off x="1104900" y="3429000"/>
            <a:ext cx="1333500" cy="24764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IT-ÁG 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8B9221-9FD9-495C-88E9-F06F23AD600B}"/>
              </a:ext>
            </a:extLst>
          </p:cNvPr>
          <p:cNvSpPr>
            <a:spLocks noGrp="1"/>
          </p:cNvSpPr>
          <p:nvPr/>
        </p:nvSpPr>
        <p:spPr>
          <a:xfrm>
            <a:off x="1104900" y="375285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szerverek + hálózat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A306CCA-E41B-49F3-9AF7-43BC32D11B5A}"/>
              </a:ext>
            </a:extLst>
          </p:cNvPr>
          <p:cNvSpPr>
            <a:spLocks noGrp="1"/>
          </p:cNvSpPr>
          <p:nvPr/>
        </p:nvSpPr>
        <p:spPr>
          <a:xfrm>
            <a:off x="762000" y="4476750"/>
            <a:ext cx="171450" cy="171450"/>
          </a:xfrm>
          <a:prstGeom prst="ellipse">
            <a:avLst/>
          </a:prstGeom>
          <a:solidFill>
            <a:srgbClr val="C96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ADE33A-7738-4D4F-867B-90E5418CECF2}"/>
              </a:ext>
            </a:extLst>
          </p:cNvPr>
          <p:cNvSpPr>
            <a:spLocks noGrp="1"/>
          </p:cNvSpPr>
          <p:nvPr/>
        </p:nvSpPr>
        <p:spPr>
          <a:xfrm>
            <a:off x="1104900" y="4438650"/>
            <a:ext cx="1333500" cy="24764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IT-ÁG 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71F74D-17EA-4501-9D2F-9F2608BB7F97}"/>
              </a:ext>
            </a:extLst>
          </p:cNvPr>
          <p:cNvSpPr>
            <a:spLocks noGrp="1"/>
          </p:cNvSpPr>
          <p:nvPr/>
        </p:nvSpPr>
        <p:spPr>
          <a:xfrm>
            <a:off x="1104900" y="476250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média + perifériák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9207FF-8306-40BB-9E6C-8AE65B32C4A4}"/>
              </a:ext>
            </a:extLst>
          </p:cNvPr>
          <p:cNvSpPr>
            <a:spLocks noGrp="1"/>
          </p:cNvSpPr>
          <p:nvPr/>
        </p:nvSpPr>
        <p:spPr>
          <a:xfrm>
            <a:off x="762000" y="5467350"/>
            <a:ext cx="2857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66735B"/>
                </a:solidFill>
                <a:latin typeface="Aptos Display"/>
                <a:ea typeface="Aptos Display"/>
                <a:cs typeface="Aptos Display"/>
              </a:rPr>
              <a:t>külön fogyasztási idősor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D32BD8-95B0-41E5-B051-AD5A2EA86942}"/>
              </a:ext>
            </a:extLst>
          </p:cNvPr>
          <p:cNvSpPr>
            <a:spLocks noGrp="1"/>
          </p:cNvSpPr>
          <p:nvPr/>
        </p:nvSpPr>
        <p:spPr>
          <a:xfrm>
            <a:off x="4572000" y="2095499"/>
            <a:ext cx="3238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66735B"/>
                </a:solidFill>
                <a:latin typeface="Aptos"/>
                <a:ea typeface="Aptos"/>
                <a:cs typeface="Aptos"/>
              </a:rPr>
              <a:t>MONITOROZOTT ESZKÖZÖK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84C3FAD-8760-488A-947F-8AC5AD3409AF}"/>
              </a:ext>
            </a:extLst>
          </p:cNvPr>
          <p:cNvSpPr>
            <a:spLocks noGrp="1"/>
          </p:cNvSpPr>
          <p:nvPr/>
        </p:nvSpPr>
        <p:spPr>
          <a:xfrm>
            <a:off x="4610100" y="2619375"/>
            <a:ext cx="114300" cy="1143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0D98B7-2F21-435A-96C5-85ABAA091A3D}"/>
              </a:ext>
            </a:extLst>
          </p:cNvPr>
          <p:cNvSpPr>
            <a:spLocks noGrp="1"/>
          </p:cNvSpPr>
          <p:nvPr/>
        </p:nvSpPr>
        <p:spPr>
          <a:xfrm>
            <a:off x="4857750" y="2571750"/>
            <a:ext cx="2857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2× Fedora 44 szerver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80F7356-4C3B-4050-83E5-07D0B66111F2}"/>
              </a:ext>
            </a:extLst>
          </p:cNvPr>
          <p:cNvSpPr>
            <a:spLocks noGrp="1"/>
          </p:cNvSpPr>
          <p:nvPr/>
        </p:nvSpPr>
        <p:spPr>
          <a:xfrm>
            <a:off x="4857750" y="2828925"/>
            <a:ext cx="28575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az egyiken fut az automatizálás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829BC7F-9E9C-48A8-B353-36B2D253F851}"/>
              </a:ext>
            </a:extLst>
          </p:cNvPr>
          <p:cNvSpPr>
            <a:spLocks noGrp="1"/>
          </p:cNvSpPr>
          <p:nvPr/>
        </p:nvSpPr>
        <p:spPr>
          <a:xfrm>
            <a:off x="4610100" y="3362325"/>
            <a:ext cx="114300" cy="1143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9F068E-6287-45CF-A2C4-20F85F0C7A60}"/>
              </a:ext>
            </a:extLst>
          </p:cNvPr>
          <p:cNvSpPr>
            <a:spLocks noGrp="1"/>
          </p:cNvSpPr>
          <p:nvPr/>
        </p:nvSpPr>
        <p:spPr>
          <a:xfrm>
            <a:off x="4857750" y="3314700"/>
            <a:ext cx="2857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Telekom kábelmodem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0E0B70-FA2E-44FD-85B3-992B2CE5E88D}"/>
              </a:ext>
            </a:extLst>
          </p:cNvPr>
          <p:cNvSpPr>
            <a:spLocks noGrp="1"/>
          </p:cNvSpPr>
          <p:nvPr/>
        </p:nvSpPr>
        <p:spPr>
          <a:xfrm>
            <a:off x="4857750" y="3571875"/>
            <a:ext cx="28575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elsődleges kapcsolat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6E6C4DE-41BE-47E6-BEEF-26154956AE55}"/>
              </a:ext>
            </a:extLst>
          </p:cNvPr>
          <p:cNvSpPr>
            <a:spLocks noGrp="1"/>
          </p:cNvSpPr>
          <p:nvPr/>
        </p:nvSpPr>
        <p:spPr>
          <a:xfrm>
            <a:off x="4610100" y="4105274"/>
            <a:ext cx="114300" cy="1143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9F9C016-63C5-45E6-BE41-2441331F07E0}"/>
              </a:ext>
            </a:extLst>
          </p:cNvPr>
          <p:cNvSpPr>
            <a:spLocks noGrp="1"/>
          </p:cNvSpPr>
          <p:nvPr/>
        </p:nvSpPr>
        <p:spPr>
          <a:xfrm>
            <a:off x="4857750" y="4057650"/>
            <a:ext cx="2857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Yettel mobil modem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0D1274C-A675-4D5A-B500-CE9D0D7729DB}"/>
              </a:ext>
            </a:extLst>
          </p:cNvPr>
          <p:cNvSpPr>
            <a:spLocks noGrp="1"/>
          </p:cNvSpPr>
          <p:nvPr/>
        </p:nvSpPr>
        <p:spPr>
          <a:xfrm>
            <a:off x="4857750" y="4314825"/>
            <a:ext cx="28575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failover kapcsolat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75F2CC6-264F-497C-830C-B47523123297}"/>
              </a:ext>
            </a:extLst>
          </p:cNvPr>
          <p:cNvSpPr>
            <a:spLocks noGrp="1"/>
          </p:cNvSpPr>
          <p:nvPr/>
        </p:nvSpPr>
        <p:spPr>
          <a:xfrm>
            <a:off x="4610100" y="4848225"/>
            <a:ext cx="114300" cy="1143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709FF16-A7B0-4B40-A63B-EBF2161EE198}"/>
              </a:ext>
            </a:extLst>
          </p:cNvPr>
          <p:cNvSpPr>
            <a:spLocks noGrp="1"/>
          </p:cNvSpPr>
          <p:nvPr/>
        </p:nvSpPr>
        <p:spPr>
          <a:xfrm>
            <a:off x="4857750" y="4800600"/>
            <a:ext cx="2857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iMac fejlesztőgép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0897662-51A9-4AFE-83B0-7C9A4F04F7AB}"/>
              </a:ext>
            </a:extLst>
          </p:cNvPr>
          <p:cNvSpPr>
            <a:spLocks noGrp="1"/>
          </p:cNvSpPr>
          <p:nvPr/>
        </p:nvSpPr>
        <p:spPr>
          <a:xfrm>
            <a:off x="4857750" y="5057775"/>
            <a:ext cx="28575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macOS 27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56B4B2D-1010-488F-94A2-91C3E94E7CC4}"/>
              </a:ext>
            </a:extLst>
          </p:cNvPr>
          <p:cNvSpPr>
            <a:spLocks noGrp="1"/>
          </p:cNvSpPr>
          <p:nvPr/>
        </p:nvSpPr>
        <p:spPr>
          <a:xfrm>
            <a:off x="7848600" y="2619375"/>
            <a:ext cx="114300" cy="114300"/>
          </a:xfrm>
          <a:prstGeom prst="ellipse">
            <a:avLst/>
          </a:prstGeom>
          <a:solidFill>
            <a:srgbClr val="C96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9AB9D0E-2D9C-4D4B-9F0E-4A7467387EDF}"/>
              </a:ext>
            </a:extLst>
          </p:cNvPr>
          <p:cNvSpPr>
            <a:spLocks noGrp="1"/>
          </p:cNvSpPr>
          <p:nvPr/>
        </p:nvSpPr>
        <p:spPr>
          <a:xfrm>
            <a:off x="8096249" y="2571750"/>
            <a:ext cx="1952625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 sz="1350"/>
            </a:pPr>
            <a:r>
              <a:rPr sz="135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Xerox lézernyomtató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A8C2B84-038E-4F8F-ACBA-5C6557D21771}"/>
              </a:ext>
            </a:extLst>
          </p:cNvPr>
          <p:cNvSpPr>
            <a:spLocks noGrp="1"/>
          </p:cNvSpPr>
          <p:nvPr/>
        </p:nvSpPr>
        <p:spPr>
          <a:xfrm>
            <a:off x="8096249" y="2828925"/>
            <a:ext cx="195262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 sz="1125"/>
            </a:pPr>
            <a:r>
              <a:rPr sz="1125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periféria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74E53FA-69EE-48AD-95BC-2D4938B79F7D}"/>
              </a:ext>
            </a:extLst>
          </p:cNvPr>
          <p:cNvSpPr>
            <a:spLocks noGrp="1"/>
          </p:cNvSpPr>
          <p:nvPr/>
        </p:nvSpPr>
        <p:spPr>
          <a:xfrm>
            <a:off x="7848600" y="3362325"/>
            <a:ext cx="114300" cy="114300"/>
          </a:xfrm>
          <a:prstGeom prst="ellipse">
            <a:avLst/>
          </a:prstGeom>
          <a:solidFill>
            <a:srgbClr val="C96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3D385A7-F578-402C-9027-A52DB0E8F605}"/>
              </a:ext>
            </a:extLst>
          </p:cNvPr>
          <p:cNvSpPr>
            <a:spLocks noGrp="1"/>
          </p:cNvSpPr>
          <p:nvPr/>
        </p:nvSpPr>
        <p:spPr>
          <a:xfrm>
            <a:off x="8096249" y="3314700"/>
            <a:ext cx="1952625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 sz="1350"/>
            </a:pPr>
            <a:r>
              <a:rPr sz="135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okostévé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479228C-FDA9-4676-A8F0-06D6D085FED8}"/>
              </a:ext>
            </a:extLst>
          </p:cNvPr>
          <p:cNvSpPr>
            <a:spLocks noGrp="1"/>
          </p:cNvSpPr>
          <p:nvPr/>
        </p:nvSpPr>
        <p:spPr>
          <a:xfrm>
            <a:off x="8096249" y="3571875"/>
            <a:ext cx="195262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 sz="1125"/>
            </a:pPr>
            <a:r>
              <a:rPr sz="1125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média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5145292-106B-41B2-83B1-D1B4AC6EB59B}"/>
              </a:ext>
            </a:extLst>
          </p:cNvPr>
          <p:cNvSpPr>
            <a:spLocks noGrp="1"/>
          </p:cNvSpPr>
          <p:nvPr/>
        </p:nvSpPr>
        <p:spPr>
          <a:xfrm>
            <a:off x="7848600" y="4105274"/>
            <a:ext cx="114300" cy="114300"/>
          </a:xfrm>
          <a:prstGeom prst="ellipse">
            <a:avLst/>
          </a:prstGeom>
          <a:solidFill>
            <a:srgbClr val="C96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9CA7755-F493-4760-A562-4C25675A0F82}"/>
              </a:ext>
            </a:extLst>
          </p:cNvPr>
          <p:cNvSpPr>
            <a:spLocks noGrp="1"/>
          </p:cNvSpPr>
          <p:nvPr/>
        </p:nvSpPr>
        <p:spPr>
          <a:xfrm>
            <a:off x="8096249" y="4057650"/>
            <a:ext cx="1952625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 sz="1350"/>
            </a:pPr>
            <a:r>
              <a:rPr sz="135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set-top box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668652B-E23F-42AB-93F5-1864A7008B3F}"/>
              </a:ext>
            </a:extLst>
          </p:cNvPr>
          <p:cNvSpPr>
            <a:spLocks noGrp="1"/>
          </p:cNvSpPr>
          <p:nvPr/>
        </p:nvSpPr>
        <p:spPr>
          <a:xfrm>
            <a:off x="8096249" y="4314825"/>
            <a:ext cx="195262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 sz="1125"/>
            </a:pPr>
            <a:r>
              <a:rPr sz="1125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média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F41B194-7B83-4DC7-A658-1FA8F7E38166}"/>
              </a:ext>
            </a:extLst>
          </p:cNvPr>
          <p:cNvSpPr>
            <a:spLocks noGrp="1"/>
          </p:cNvSpPr>
          <p:nvPr/>
        </p:nvSpPr>
        <p:spPr>
          <a:xfrm>
            <a:off x="7848600" y="4848225"/>
            <a:ext cx="114300" cy="114300"/>
          </a:xfrm>
          <a:prstGeom prst="ellipse">
            <a:avLst/>
          </a:prstGeom>
          <a:solidFill>
            <a:srgbClr val="C96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100DCE1-787C-492D-A4EA-EDFA13F7B856}"/>
              </a:ext>
            </a:extLst>
          </p:cNvPr>
          <p:cNvSpPr>
            <a:spLocks noGrp="1"/>
          </p:cNvSpPr>
          <p:nvPr/>
        </p:nvSpPr>
        <p:spPr>
          <a:xfrm>
            <a:off x="8096249" y="4800600"/>
            <a:ext cx="1952625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 sz="1350"/>
            </a:pPr>
            <a:r>
              <a:rPr sz="135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streamer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26D1533-2824-438D-A33F-6408906E5860}"/>
              </a:ext>
            </a:extLst>
          </p:cNvPr>
          <p:cNvSpPr>
            <a:spLocks noGrp="1"/>
          </p:cNvSpPr>
          <p:nvPr/>
        </p:nvSpPr>
        <p:spPr>
          <a:xfrm>
            <a:off x="8096249" y="5057775"/>
            <a:ext cx="195262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 sz="1125"/>
            </a:pPr>
            <a:r>
              <a:rPr sz="1125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média</a:t>
            </a:r>
          </a:p>
        </p:txBody>
      </p:sp>
      <p:sp>
        <p:nvSpPr>
          <p:cNvPr id="42" name="Connector 41">
            <a:extLst>
              <a:ext uri="{FF2B5EF4-FFF2-40B4-BE49-F238E27FC236}">
                <a16:creationId xmlns:a16="http://schemas.microsoft.com/office/drawing/2014/main" id="{A86B91B1-2B9C-4F8B-B0AF-3E067C4F9823}"/>
              </a:ext>
            </a:extLst>
          </p:cNvPr>
          <p:cNvSpPr>
            <a:spLocks noGrp="1"/>
          </p:cNvSpPr>
          <p:nvPr/>
        </p:nvSpPr>
        <p:spPr>
          <a:xfrm>
            <a:off x="10763250" y="2305050"/>
            <a:ext cx="0" cy="0"/>
          </a:xfrm>
          <a:prstGeom prst="line">
            <a:avLst/>
          </a:prstGeom>
          <a:ln w="12700">
            <a:solidFill>
              <a:srgbClr val="C9C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EE2730C-87FA-485B-95D6-DB07AE57D0E1}"/>
              </a:ext>
            </a:extLst>
          </p:cNvPr>
          <p:cNvSpPr>
            <a:spLocks noGrp="1"/>
          </p:cNvSpPr>
          <p:nvPr/>
        </p:nvSpPr>
        <p:spPr>
          <a:xfrm>
            <a:off x="10572750" y="3219450"/>
            <a:ext cx="552450" cy="552450"/>
          </a:xfrm>
          <a:prstGeom prst="ellipse">
            <a:avLst/>
          </a:prstGeom>
          <a:solidFill>
            <a:srgbClr val="292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97D3EA8-D340-4C50-A96D-5DC9672C502D}"/>
              </a:ext>
            </a:extLst>
          </p:cNvPr>
          <p:cNvSpPr>
            <a:spLocks noGrp="1"/>
          </p:cNvSpPr>
          <p:nvPr/>
        </p:nvSpPr>
        <p:spPr>
          <a:xfrm>
            <a:off x="10668000" y="3362325"/>
            <a:ext cx="361950" cy="24764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DB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C690826-171D-4C0F-8DA3-FE41CCFD237E}"/>
              </a:ext>
            </a:extLst>
          </p:cNvPr>
          <p:cNvSpPr>
            <a:spLocks noGrp="1"/>
          </p:cNvSpPr>
          <p:nvPr/>
        </p:nvSpPr>
        <p:spPr>
          <a:xfrm>
            <a:off x="10115550" y="3848100"/>
            <a:ext cx="1428750" cy="495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1350"/>
            </a:pPr>
            <a:r>
              <a:rPr sz="135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Mérések és állapotok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 sz="1350"/>
            </a:pPr>
            <a:r>
              <a:rPr sz="135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időbélyeggel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8A95079-0CF4-4DBF-9367-F19BBCCE1DD0}"/>
              </a:ext>
            </a:extLst>
          </p:cNvPr>
          <p:cNvSpPr>
            <a:spLocks noGrp="1"/>
          </p:cNvSpPr>
          <p:nvPr/>
        </p:nvSpPr>
        <p:spPr>
          <a:xfrm>
            <a:off x="10115550" y="4457700"/>
            <a:ext cx="1428750" cy="3619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1200"/>
            </a:pPr>
            <a:r>
              <a:rPr sz="12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adatbázisba kerül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4CAFA4C-5716-4FCE-B423-9EC15A505EFC}"/>
              </a:ext>
            </a:extLst>
          </p:cNvPr>
          <p:cNvSpPr>
            <a:spLocks noGrp="1"/>
          </p:cNvSpPr>
          <p:nvPr/>
        </p:nvSpPr>
        <p:spPr>
          <a:xfrm>
            <a:off x="4591050" y="5753100"/>
            <a:ext cx="561975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C96845"/>
                </a:solidFill>
                <a:latin typeface="Aptos Display"/>
                <a:ea typeface="Aptos Display"/>
                <a:cs typeface="Aptos Display"/>
              </a:rPr>
              <a:t>MÉRÉS → ESEMÉNY → IDŐSOR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83107A0-5131-478E-94AA-1A7F11614EC3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Forrás: projektgazdai aktuális IT- és monitoring-leltár, 2026. szeptember.</a:t>
            </a:r>
          </a:p>
        </p:txBody>
      </p:sp>
    </p:spTree>
    <p:extLst>
      <p:ext uri="{BB962C8B-B14F-4D97-AF65-F5344CB8AC3E}">
        <p14:creationId xmlns:p14="http://schemas.microsoft.com/office/powerpoint/2010/main" val="8984742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9857E9-C25F-4A83-8A35-10AE1F0732E8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7239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2B705"/>
                </a:solidFill>
                <a:latin typeface="Aptos"/>
                <a:ea typeface="Aptos"/>
                <a:cs typeface="Aptos"/>
              </a:rPr>
              <a:t>03  ·  A VEZÉRLÉS DÖNTÉSI MODELLJE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412790-68F6-4E52-B11E-7638929DC974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8953500" cy="1200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480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A rendszer már nemcsak mér: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480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döntési javaslatot is ad</a:t>
            </a:r>
          </a:p>
        </p:txBody>
      </p:sp>
      <p:sp>
        <p:nvSpPr>
          <p:cNvPr id="4" name="Connector 3">
            <a:extLst>
              <a:ext uri="{FF2B5EF4-FFF2-40B4-BE49-F238E27FC236}">
                <a16:creationId xmlns:a16="http://schemas.microsoft.com/office/drawing/2014/main" id="{6192FAE0-CB15-4B07-B1DC-B9189C7FCA26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10820400" cy="0"/>
          </a:xfrm>
          <a:prstGeom prst="line">
            <a:avLst/>
          </a:prstGeom>
          <a:ln w="25400">
            <a:solidFill>
              <a:srgbClr val="F2B7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38ACD4-220D-48F3-BD47-C9C3EE618F57}"/>
              </a:ext>
            </a:extLst>
          </p:cNvPr>
          <p:cNvSpPr>
            <a:spLocks noGrp="1"/>
          </p:cNvSpPr>
          <p:nvPr/>
        </p:nvSpPr>
        <p:spPr>
          <a:xfrm>
            <a:off x="685800" y="3429000"/>
            <a:ext cx="28575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2B705"/>
                </a:solidFill>
                <a:latin typeface="Aptos"/>
                <a:ea typeface="Aptos"/>
                <a:cs typeface="Aptos"/>
              </a:rPr>
              <a:t>JELENLEGI ÉRETTSÉG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B5964F-E3FA-4C07-A356-D9497CA32C4E}"/>
              </a:ext>
            </a:extLst>
          </p:cNvPr>
          <p:cNvSpPr>
            <a:spLocks noGrp="1"/>
          </p:cNvSpPr>
          <p:nvPr/>
        </p:nvSpPr>
        <p:spPr>
          <a:xfrm>
            <a:off x="685800" y="3829050"/>
            <a:ext cx="5524500" cy="419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90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observer / javaslati üzem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18A18F-8EB4-4FA2-805D-CCE99B3AD806}"/>
              </a:ext>
            </a:extLst>
          </p:cNvPr>
          <p:cNvSpPr>
            <a:spLocks noGrp="1"/>
          </p:cNvSpPr>
          <p:nvPr/>
        </p:nvSpPr>
        <p:spPr>
          <a:xfrm>
            <a:off x="685800" y="4610100"/>
            <a:ext cx="89535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C9C7C0"/>
                </a:solidFill>
                <a:latin typeface="Aptos"/>
                <a:ea typeface="Aptos"/>
                <a:cs typeface="Aptos"/>
              </a:rPr>
              <a:t>Próbaüzem és biztonsági kapuk után ugyanaz a logika tényleges parancsokat is végrehajthat.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D579BB-811C-4D5A-84EB-1BE70027EFD4}"/>
              </a:ext>
            </a:extLst>
          </p:cNvPr>
          <p:cNvSpPr>
            <a:spLocks noGrp="1"/>
          </p:cNvSpPr>
          <p:nvPr/>
        </p:nvSpPr>
        <p:spPr>
          <a:xfrm>
            <a:off x="685800" y="6000750"/>
            <a:ext cx="99060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2B705"/>
                </a:solidFill>
                <a:latin typeface="Aptos"/>
                <a:ea typeface="Aptos"/>
                <a:cs typeface="Aptos"/>
              </a:rPr>
              <a:t>MÉRÉS  →  ÉRTELMEZÉS  →  JAVASLAT  →  PRÓBAÜZEM  →  VEZÉRLÉS</a:t>
            </a:r>
          </a:p>
        </p:txBody>
      </p:sp>
    </p:spTree>
    <p:extLst>
      <p:ext uri="{BB962C8B-B14F-4D97-AF65-F5344CB8AC3E}">
        <p14:creationId xmlns:p14="http://schemas.microsoft.com/office/powerpoint/2010/main" val="5311568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FF638B-95EC-4163-8DD0-058AEED383E8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619125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66735B"/>
                </a:solidFill>
                <a:latin typeface="Aptos"/>
                <a:ea typeface="Aptos"/>
                <a:cs typeface="Aptos"/>
              </a:rPr>
              <a:t>DÖNTÉSI LÁNC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1BFBB2-0D68-4F0A-89C1-2A450C77E606}"/>
              </a:ext>
            </a:extLst>
          </p:cNvPr>
          <p:cNvSpPr>
            <a:spLocks noGrp="1"/>
          </p:cNvSpPr>
          <p:nvPr/>
        </p:nvSpPr>
        <p:spPr>
          <a:xfrm>
            <a:off x="11144250" y="361950"/>
            <a:ext cx="36195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6E716A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2C0F32-60AC-49B9-9505-124D424FCB84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838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Öt szint választja el a mérést a beavatkozástól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96676A0-2C1A-42AB-808E-C3B581B599E4}"/>
              </a:ext>
            </a:extLst>
          </p:cNvPr>
          <p:cNvSpPr>
            <a:spLocks noGrp="1"/>
          </p:cNvSpPr>
          <p:nvPr/>
        </p:nvSpPr>
        <p:spPr>
          <a:xfrm>
            <a:off x="800100" y="2114550"/>
            <a:ext cx="457200" cy="457200"/>
          </a:xfrm>
          <a:prstGeom prst="ellipse">
            <a:avLst/>
          </a:prstGeom>
          <a:solidFill>
            <a:srgbClr val="F2B705"/>
          </a:solidFill>
          <a:ln>
            <a:solidFill>
              <a:srgbClr val="F2B7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CDD367-D433-4153-9A7E-298228CBF92A}"/>
              </a:ext>
            </a:extLst>
          </p:cNvPr>
          <p:cNvSpPr>
            <a:spLocks noGrp="1"/>
          </p:cNvSpPr>
          <p:nvPr/>
        </p:nvSpPr>
        <p:spPr>
          <a:xfrm>
            <a:off x="933449" y="2209800"/>
            <a:ext cx="190500" cy="24764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0814C6-4093-46DC-A55E-405709871E6B}"/>
              </a:ext>
            </a:extLst>
          </p:cNvPr>
          <p:cNvSpPr>
            <a:spLocks noGrp="1"/>
          </p:cNvSpPr>
          <p:nvPr/>
        </p:nvSpPr>
        <p:spPr>
          <a:xfrm>
            <a:off x="1562100" y="2095499"/>
            <a:ext cx="3333750" cy="24764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NYERS MÉRÉS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670CF3-4C73-4459-B1BA-1C9271F4702E}"/>
              </a:ext>
            </a:extLst>
          </p:cNvPr>
          <p:cNvSpPr>
            <a:spLocks noGrp="1"/>
          </p:cNvSpPr>
          <p:nvPr/>
        </p:nvSpPr>
        <p:spPr>
          <a:xfrm>
            <a:off x="5219700" y="2114550"/>
            <a:ext cx="5048250" cy="24764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változatlan auditnyom</a:t>
            </a:r>
          </a:p>
        </p:txBody>
      </p:sp>
      <p:sp>
        <p:nvSpPr>
          <p:cNvPr id="10" name="Connector 9">
            <a:extLst>
              <a:ext uri="{FF2B5EF4-FFF2-40B4-BE49-F238E27FC236}">
                <a16:creationId xmlns:a16="http://schemas.microsoft.com/office/drawing/2014/main" id="{6B6583E9-20E7-4631-B2DA-D154C7FBCDFC}"/>
              </a:ext>
            </a:extLst>
          </p:cNvPr>
          <p:cNvSpPr>
            <a:spLocks noGrp="1"/>
          </p:cNvSpPr>
          <p:nvPr/>
        </p:nvSpPr>
        <p:spPr>
          <a:xfrm>
            <a:off x="1028700" y="2571750"/>
            <a:ext cx="0" cy="0"/>
          </a:xfrm>
          <a:prstGeom prst="line">
            <a:avLst/>
          </a:prstGeom>
          <a:ln w="25400">
            <a:solidFill>
              <a:srgbClr val="C9C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0E2BFCF-B592-42C2-93A8-0E3BE4D4B621}"/>
              </a:ext>
            </a:extLst>
          </p:cNvPr>
          <p:cNvSpPr>
            <a:spLocks noGrp="1"/>
          </p:cNvSpPr>
          <p:nvPr/>
        </p:nvSpPr>
        <p:spPr>
          <a:xfrm>
            <a:off x="800100" y="2895600"/>
            <a:ext cx="457200" cy="457200"/>
          </a:xfrm>
          <a:prstGeom prst="ellipse">
            <a:avLst/>
          </a:prstGeom>
          <a:solidFill>
            <a:srgbClr val="66735B"/>
          </a:solidFill>
          <a:ln>
            <a:solidFill>
              <a:srgbClr val="667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BEAEEE-EC2C-45B1-8DA7-0A24EF7E011B}"/>
              </a:ext>
            </a:extLst>
          </p:cNvPr>
          <p:cNvSpPr>
            <a:spLocks noGrp="1"/>
          </p:cNvSpPr>
          <p:nvPr/>
        </p:nvSpPr>
        <p:spPr>
          <a:xfrm>
            <a:off x="933449" y="2990850"/>
            <a:ext cx="190500" cy="24764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9635DF-60F8-4308-8481-D7C40DAA7619}"/>
              </a:ext>
            </a:extLst>
          </p:cNvPr>
          <p:cNvSpPr>
            <a:spLocks noGrp="1"/>
          </p:cNvSpPr>
          <p:nvPr/>
        </p:nvSpPr>
        <p:spPr>
          <a:xfrm>
            <a:off x="1562100" y="2876550"/>
            <a:ext cx="3333750" cy="24764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ELFOGADOTT MÉRÉS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DF1D6A-BC1B-491C-9AC3-B165875D907A}"/>
              </a:ext>
            </a:extLst>
          </p:cNvPr>
          <p:cNvSpPr>
            <a:spLocks noGrp="1"/>
          </p:cNvSpPr>
          <p:nvPr/>
        </p:nvSpPr>
        <p:spPr>
          <a:xfrm>
            <a:off x="5219700" y="2895600"/>
            <a:ext cx="5048250" cy="24764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ellenőrzött, korrigált, szűrt</a:t>
            </a:r>
          </a:p>
        </p:txBody>
      </p:sp>
      <p:sp>
        <p:nvSpPr>
          <p:cNvPr id="15" name="Connector 14">
            <a:extLst>
              <a:ext uri="{FF2B5EF4-FFF2-40B4-BE49-F238E27FC236}">
                <a16:creationId xmlns:a16="http://schemas.microsoft.com/office/drawing/2014/main" id="{EE9AFAAD-EF65-41F6-960B-3BDC5C119277}"/>
              </a:ext>
            </a:extLst>
          </p:cNvPr>
          <p:cNvSpPr>
            <a:spLocks noGrp="1"/>
          </p:cNvSpPr>
          <p:nvPr/>
        </p:nvSpPr>
        <p:spPr>
          <a:xfrm>
            <a:off x="1028700" y="3352800"/>
            <a:ext cx="0" cy="0"/>
          </a:xfrm>
          <a:prstGeom prst="line">
            <a:avLst/>
          </a:prstGeom>
          <a:ln w="25400">
            <a:solidFill>
              <a:srgbClr val="C9C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ACE1F9F-6B0F-4E17-891E-D7F057B59CF4}"/>
              </a:ext>
            </a:extLst>
          </p:cNvPr>
          <p:cNvSpPr>
            <a:spLocks noGrp="1"/>
          </p:cNvSpPr>
          <p:nvPr/>
        </p:nvSpPr>
        <p:spPr>
          <a:xfrm>
            <a:off x="800100" y="3676649"/>
            <a:ext cx="457200" cy="457200"/>
          </a:xfrm>
          <a:prstGeom prst="ellipse">
            <a:avLst/>
          </a:prstGeom>
          <a:solidFill>
            <a:srgbClr val="F2B705"/>
          </a:solidFill>
          <a:ln>
            <a:solidFill>
              <a:srgbClr val="F2B7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B53CE8-4188-47CC-8AB4-81667C2B9CE2}"/>
              </a:ext>
            </a:extLst>
          </p:cNvPr>
          <p:cNvSpPr>
            <a:spLocks noGrp="1"/>
          </p:cNvSpPr>
          <p:nvPr/>
        </p:nvSpPr>
        <p:spPr>
          <a:xfrm>
            <a:off x="933449" y="3771900"/>
            <a:ext cx="190500" cy="24764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1CA842-FCFF-4355-8B6B-96F5006C0C75}"/>
              </a:ext>
            </a:extLst>
          </p:cNvPr>
          <p:cNvSpPr>
            <a:spLocks noGrp="1"/>
          </p:cNvSpPr>
          <p:nvPr/>
        </p:nvSpPr>
        <p:spPr>
          <a:xfrm>
            <a:off x="1562100" y="3657600"/>
            <a:ext cx="3333750" cy="24764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HELYISÉGI HŐIGÉNY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7C9E21-849C-4F96-BD93-266541F7E39B}"/>
              </a:ext>
            </a:extLst>
          </p:cNvPr>
          <p:cNvSpPr>
            <a:spLocks noGrp="1"/>
          </p:cNvSpPr>
          <p:nvPr/>
        </p:nvSpPr>
        <p:spPr>
          <a:xfrm>
            <a:off x="5219700" y="3676649"/>
            <a:ext cx="5048250" cy="24764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tartós eltérés a célértéktől</a:t>
            </a:r>
          </a:p>
        </p:txBody>
      </p:sp>
      <p:sp>
        <p:nvSpPr>
          <p:cNvPr id="20" name="Connector 19">
            <a:extLst>
              <a:ext uri="{FF2B5EF4-FFF2-40B4-BE49-F238E27FC236}">
                <a16:creationId xmlns:a16="http://schemas.microsoft.com/office/drawing/2014/main" id="{A9A288EE-E182-480D-92E2-44B63AFD161D}"/>
              </a:ext>
            </a:extLst>
          </p:cNvPr>
          <p:cNvSpPr>
            <a:spLocks noGrp="1"/>
          </p:cNvSpPr>
          <p:nvPr/>
        </p:nvSpPr>
        <p:spPr>
          <a:xfrm>
            <a:off x="1028700" y="4133849"/>
            <a:ext cx="0" cy="0"/>
          </a:xfrm>
          <a:prstGeom prst="line">
            <a:avLst/>
          </a:prstGeom>
          <a:ln w="25400">
            <a:solidFill>
              <a:srgbClr val="C9C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4655FF4-287E-43EE-ABCC-E60729D52DBE}"/>
              </a:ext>
            </a:extLst>
          </p:cNvPr>
          <p:cNvSpPr>
            <a:spLocks noGrp="1"/>
          </p:cNvSpPr>
          <p:nvPr/>
        </p:nvSpPr>
        <p:spPr>
          <a:xfrm>
            <a:off x="800100" y="4457700"/>
            <a:ext cx="457200" cy="457200"/>
          </a:xfrm>
          <a:prstGeom prst="ellipse">
            <a:avLst/>
          </a:prstGeom>
          <a:solidFill>
            <a:srgbClr val="C96845"/>
          </a:solidFill>
          <a:ln>
            <a:solidFill>
              <a:srgbClr val="C96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DEC30E-6986-460B-8E90-2528843B32FD}"/>
              </a:ext>
            </a:extLst>
          </p:cNvPr>
          <p:cNvSpPr>
            <a:spLocks noGrp="1"/>
          </p:cNvSpPr>
          <p:nvPr/>
        </p:nvSpPr>
        <p:spPr>
          <a:xfrm>
            <a:off x="933449" y="4552950"/>
            <a:ext cx="190500" cy="24764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28DED0-F35A-4453-8B4A-A73B026959DE}"/>
              </a:ext>
            </a:extLst>
          </p:cNvPr>
          <p:cNvSpPr>
            <a:spLocks noGrp="1"/>
          </p:cNvSpPr>
          <p:nvPr/>
        </p:nvSpPr>
        <p:spPr>
          <a:xfrm>
            <a:off x="1562100" y="4438650"/>
            <a:ext cx="3333750" cy="24764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ZÓNAIGÉNY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EC08788-AB3B-4347-8529-AA75AF995046}"/>
              </a:ext>
            </a:extLst>
          </p:cNvPr>
          <p:cNvSpPr>
            <a:spLocks noGrp="1"/>
          </p:cNvSpPr>
          <p:nvPr/>
        </p:nvSpPr>
        <p:spPr>
          <a:xfrm>
            <a:off x="5219700" y="4457700"/>
            <a:ext cx="5048250" cy="24764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csak az adott zóna jelei</a:t>
            </a:r>
          </a:p>
        </p:txBody>
      </p:sp>
      <p:sp>
        <p:nvSpPr>
          <p:cNvPr id="25" name="Connector 24">
            <a:extLst>
              <a:ext uri="{FF2B5EF4-FFF2-40B4-BE49-F238E27FC236}">
                <a16:creationId xmlns:a16="http://schemas.microsoft.com/office/drawing/2014/main" id="{46E3C051-DEEE-4EE2-9E92-FE4ABBD53CF0}"/>
              </a:ext>
            </a:extLst>
          </p:cNvPr>
          <p:cNvSpPr>
            <a:spLocks noGrp="1"/>
          </p:cNvSpPr>
          <p:nvPr/>
        </p:nvSpPr>
        <p:spPr>
          <a:xfrm>
            <a:off x="1028700" y="4914900"/>
            <a:ext cx="0" cy="0"/>
          </a:xfrm>
          <a:prstGeom prst="line">
            <a:avLst/>
          </a:prstGeom>
          <a:ln w="25400">
            <a:solidFill>
              <a:srgbClr val="C9C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9CF981C-B471-4794-86E3-07C76DD0F68B}"/>
              </a:ext>
            </a:extLst>
          </p:cNvPr>
          <p:cNvSpPr>
            <a:spLocks noGrp="1"/>
          </p:cNvSpPr>
          <p:nvPr/>
        </p:nvSpPr>
        <p:spPr>
          <a:xfrm>
            <a:off x="800100" y="5238750"/>
            <a:ext cx="457200" cy="457200"/>
          </a:xfrm>
          <a:prstGeom prst="ellipse">
            <a:avLst/>
          </a:prstGeom>
          <a:solidFill>
            <a:srgbClr val="292A26"/>
          </a:solidFill>
          <a:ln>
            <a:solidFill>
              <a:srgbClr val="29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7FF1EAA-D0FB-48CB-B997-FD913A91B500}"/>
              </a:ext>
            </a:extLst>
          </p:cNvPr>
          <p:cNvSpPr>
            <a:spLocks noGrp="1"/>
          </p:cNvSpPr>
          <p:nvPr/>
        </p:nvSpPr>
        <p:spPr>
          <a:xfrm>
            <a:off x="933449" y="5334000"/>
            <a:ext cx="190500" cy="24764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E819B3D-0724-4BAE-B867-0A649DC2EE31}"/>
              </a:ext>
            </a:extLst>
          </p:cNvPr>
          <p:cNvSpPr>
            <a:spLocks noGrp="1"/>
          </p:cNvSpPr>
          <p:nvPr/>
        </p:nvSpPr>
        <p:spPr>
          <a:xfrm>
            <a:off x="1562100" y="5219700"/>
            <a:ext cx="3333750" cy="24764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BEAVATKOZÁSI DÖNTÉS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CBDFA4F-F5C6-4A48-B71D-EA1A071AF413}"/>
              </a:ext>
            </a:extLst>
          </p:cNvPr>
          <p:cNvSpPr>
            <a:spLocks noGrp="1"/>
          </p:cNvSpPr>
          <p:nvPr/>
        </p:nvSpPr>
        <p:spPr>
          <a:xfrm>
            <a:off x="5219700" y="5238750"/>
            <a:ext cx="5048250" cy="24764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korlátok + állapot + visszaellenőrzés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DC751F5-2A27-411F-AD02-0474E84CC9A2}"/>
              </a:ext>
            </a:extLst>
          </p:cNvPr>
          <p:cNvSpPr>
            <a:spLocks noGrp="1"/>
          </p:cNvSpPr>
          <p:nvPr/>
        </p:nvSpPr>
        <p:spPr>
          <a:xfrm>
            <a:off x="2266950" y="5905500"/>
            <a:ext cx="7658100" cy="342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C96845"/>
                </a:solidFill>
                <a:latin typeface="Aptos Display"/>
                <a:ea typeface="Aptos Display"/>
                <a:cs typeface="Aptos Display"/>
              </a:rPr>
              <a:t>A döntési javaslat minden lépése visszavezethető az eredeti adatig.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B1C462A-F13E-4E45-8AE9-CA1C6957AF91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A nyers adat mindig megmarad; a vezérlés kizárólag elfogadott mérésre épülhet.</a:t>
            </a:r>
          </a:p>
        </p:txBody>
      </p:sp>
    </p:spTree>
    <p:extLst>
      <p:ext uri="{BB962C8B-B14F-4D97-AF65-F5344CB8AC3E}">
        <p14:creationId xmlns:p14="http://schemas.microsoft.com/office/powerpoint/2010/main" val="11775341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CC5422-4FCA-40BE-85AD-43E96384A509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619125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66735B"/>
                </a:solidFill>
                <a:latin typeface="Aptos"/>
                <a:ea typeface="Aptos"/>
                <a:cs typeface="Aptos"/>
              </a:rPr>
              <a:t>ADATBIZTONSÁG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0168A4-8219-4723-95A7-E1154E5B8444}"/>
              </a:ext>
            </a:extLst>
          </p:cNvPr>
          <p:cNvSpPr>
            <a:spLocks noGrp="1"/>
          </p:cNvSpPr>
          <p:nvPr/>
        </p:nvSpPr>
        <p:spPr>
          <a:xfrm>
            <a:off x="11144250" y="361950"/>
            <a:ext cx="36195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6E716A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584A34-7B16-4173-8431-58B53E3F6770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838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Bizonytalan adatból nem születhet észrevétlen döntés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2AC2D2-CE7A-4C5B-8255-C927A97CE600}"/>
              </a:ext>
            </a:extLst>
          </p:cNvPr>
          <p:cNvSpPr>
            <a:spLocks noGrp="1"/>
          </p:cNvSpPr>
          <p:nvPr/>
        </p:nvSpPr>
        <p:spPr>
          <a:xfrm>
            <a:off x="723900" y="2095499"/>
            <a:ext cx="31432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66735B"/>
                </a:solidFill>
                <a:latin typeface="Aptos"/>
                <a:ea typeface="Aptos"/>
                <a:cs typeface="Aptos"/>
              </a:rPr>
              <a:t>ELFOGADHATÓ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3D44A54-25ED-47BE-B36A-015D4431082D}"/>
              </a:ext>
            </a:extLst>
          </p:cNvPr>
          <p:cNvSpPr>
            <a:spLocks noGrp="1"/>
          </p:cNvSpPr>
          <p:nvPr/>
        </p:nvSpPr>
        <p:spPr>
          <a:xfrm>
            <a:off x="762000" y="2581275"/>
            <a:ext cx="133350" cy="133350"/>
          </a:xfrm>
          <a:prstGeom prst="ellipse">
            <a:avLst/>
          </a:prstGeom>
          <a:solidFill>
            <a:srgbClr val="667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C9D040-EEC7-464A-819F-0529621108AC}"/>
              </a:ext>
            </a:extLst>
          </p:cNvPr>
          <p:cNvSpPr>
            <a:spLocks noGrp="1"/>
          </p:cNvSpPr>
          <p:nvPr/>
        </p:nvSpPr>
        <p:spPr>
          <a:xfrm>
            <a:off x="1047749" y="2533650"/>
            <a:ext cx="295275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292A26"/>
                </a:solidFill>
                <a:latin typeface="Aptos"/>
                <a:ea typeface="Aptos"/>
                <a:cs typeface="Aptos"/>
              </a:rPr>
              <a:t>aktív és engedélyezett forrás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833D2C6-D3BE-423A-A0D7-B7FD06279DCA}"/>
              </a:ext>
            </a:extLst>
          </p:cNvPr>
          <p:cNvSpPr>
            <a:spLocks noGrp="1"/>
          </p:cNvSpPr>
          <p:nvPr/>
        </p:nvSpPr>
        <p:spPr>
          <a:xfrm>
            <a:off x="762000" y="3200400"/>
            <a:ext cx="133350" cy="133350"/>
          </a:xfrm>
          <a:prstGeom prst="ellipse">
            <a:avLst/>
          </a:prstGeom>
          <a:solidFill>
            <a:srgbClr val="667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6B0D3B-AD7B-4D44-A4CA-5F151A415E90}"/>
              </a:ext>
            </a:extLst>
          </p:cNvPr>
          <p:cNvSpPr>
            <a:spLocks noGrp="1"/>
          </p:cNvSpPr>
          <p:nvPr/>
        </p:nvSpPr>
        <p:spPr>
          <a:xfrm>
            <a:off x="1047749" y="3152775"/>
            <a:ext cx="295275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292A26"/>
                </a:solidFill>
                <a:latin typeface="Aptos"/>
                <a:ea typeface="Aptos"/>
                <a:cs typeface="Aptos"/>
              </a:rPr>
              <a:t>friss, sikeres és reális mérés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3EA34AB-A63A-4EC6-955A-C670E56FF01B}"/>
              </a:ext>
            </a:extLst>
          </p:cNvPr>
          <p:cNvSpPr>
            <a:spLocks noGrp="1"/>
          </p:cNvSpPr>
          <p:nvPr/>
        </p:nvSpPr>
        <p:spPr>
          <a:xfrm>
            <a:off x="762000" y="3819524"/>
            <a:ext cx="133350" cy="133350"/>
          </a:xfrm>
          <a:prstGeom prst="ellipse">
            <a:avLst/>
          </a:prstGeom>
          <a:solidFill>
            <a:srgbClr val="667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A79EFF-6260-4981-B971-36B51FADD371}"/>
              </a:ext>
            </a:extLst>
          </p:cNvPr>
          <p:cNvSpPr>
            <a:spLocks noGrp="1"/>
          </p:cNvSpPr>
          <p:nvPr/>
        </p:nvSpPr>
        <p:spPr>
          <a:xfrm>
            <a:off x="1047749" y="3771900"/>
            <a:ext cx="295275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292A26"/>
                </a:solidFill>
                <a:latin typeface="Aptos"/>
                <a:ea typeface="Aptos"/>
                <a:cs typeface="Aptos"/>
              </a:rPr>
              <a:t>ismert helyiség- és zónatagság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3071068-9407-4F49-81B1-E902842CCAC6}"/>
              </a:ext>
            </a:extLst>
          </p:cNvPr>
          <p:cNvSpPr>
            <a:spLocks noGrp="1"/>
          </p:cNvSpPr>
          <p:nvPr/>
        </p:nvSpPr>
        <p:spPr>
          <a:xfrm>
            <a:off x="762000" y="4438650"/>
            <a:ext cx="133350" cy="133350"/>
          </a:xfrm>
          <a:prstGeom prst="ellipse">
            <a:avLst/>
          </a:prstGeom>
          <a:solidFill>
            <a:srgbClr val="667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D5BC14-9E91-40A4-9099-58E581377039}"/>
              </a:ext>
            </a:extLst>
          </p:cNvPr>
          <p:cNvSpPr>
            <a:spLocks noGrp="1"/>
          </p:cNvSpPr>
          <p:nvPr/>
        </p:nvSpPr>
        <p:spPr>
          <a:xfrm>
            <a:off x="1047749" y="4391025"/>
            <a:ext cx="295275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292A26"/>
                </a:solidFill>
                <a:latin typeface="Aptos"/>
                <a:ea typeface="Aptos"/>
                <a:cs typeface="Aptos"/>
              </a:rPr>
              <a:t>nincs kalibráció vagy kizáró esemény</a:t>
            </a:r>
          </a:p>
        </p:txBody>
      </p:sp>
      <p:sp>
        <p:nvSpPr>
          <p:cNvPr id="15" name="Connector 14">
            <a:extLst>
              <a:ext uri="{FF2B5EF4-FFF2-40B4-BE49-F238E27FC236}">
                <a16:creationId xmlns:a16="http://schemas.microsoft.com/office/drawing/2014/main" id="{ED957879-A9A2-40B3-BE59-1B803F003E78}"/>
              </a:ext>
            </a:extLst>
          </p:cNvPr>
          <p:cNvSpPr>
            <a:spLocks noGrp="1"/>
          </p:cNvSpPr>
          <p:nvPr/>
        </p:nvSpPr>
        <p:spPr>
          <a:xfrm>
            <a:off x="4419600" y="2076450"/>
            <a:ext cx="9525" cy="0"/>
          </a:xfrm>
          <a:prstGeom prst="line">
            <a:avLst/>
          </a:prstGeom>
          <a:ln w="12700">
            <a:solidFill>
              <a:srgbClr val="C9C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50ED09-DE3D-4922-97AC-19E0E1260F41}"/>
              </a:ext>
            </a:extLst>
          </p:cNvPr>
          <p:cNvSpPr>
            <a:spLocks noGrp="1"/>
          </p:cNvSpPr>
          <p:nvPr/>
        </p:nvSpPr>
        <p:spPr>
          <a:xfrm>
            <a:off x="4953000" y="2095499"/>
            <a:ext cx="31432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C96845"/>
                </a:solidFill>
                <a:latin typeface="Aptos"/>
                <a:ea typeface="Aptos"/>
                <a:cs typeface="Aptos"/>
              </a:rPr>
              <a:t>BLOKKOLÓ ÁLLAPOT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BFD359-5AF6-4E61-9C34-DC5B60BD5480}"/>
              </a:ext>
            </a:extLst>
          </p:cNvPr>
          <p:cNvSpPr>
            <a:spLocks noGrp="1"/>
          </p:cNvSpPr>
          <p:nvPr/>
        </p:nvSpPr>
        <p:spPr>
          <a:xfrm>
            <a:off x="4991100" y="2581275"/>
            <a:ext cx="133350" cy="133350"/>
          </a:xfrm>
          <a:prstGeom prst="ellipse">
            <a:avLst/>
          </a:prstGeom>
          <a:solidFill>
            <a:srgbClr val="C96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1E0537-8D40-42EA-97C1-D71265B398AD}"/>
              </a:ext>
            </a:extLst>
          </p:cNvPr>
          <p:cNvSpPr>
            <a:spLocks noGrp="1"/>
          </p:cNvSpPr>
          <p:nvPr/>
        </p:nvSpPr>
        <p:spPr>
          <a:xfrm>
            <a:off x="5276850" y="2533650"/>
            <a:ext cx="295275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292A26"/>
                </a:solidFill>
                <a:latin typeface="Aptos"/>
                <a:ea typeface="Aptos"/>
                <a:cs typeface="Aptos"/>
              </a:rPr>
              <a:t>hiányzó / elavult adat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B90D399-1957-42F1-A459-FFA79E175826}"/>
              </a:ext>
            </a:extLst>
          </p:cNvPr>
          <p:cNvSpPr>
            <a:spLocks noGrp="1"/>
          </p:cNvSpPr>
          <p:nvPr/>
        </p:nvSpPr>
        <p:spPr>
          <a:xfrm>
            <a:off x="4991100" y="3200400"/>
            <a:ext cx="133350" cy="133350"/>
          </a:xfrm>
          <a:prstGeom prst="ellipse">
            <a:avLst/>
          </a:prstGeom>
          <a:solidFill>
            <a:srgbClr val="C96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AAF878-1A4B-4E50-BA99-A37CBE0A49AC}"/>
              </a:ext>
            </a:extLst>
          </p:cNvPr>
          <p:cNvSpPr>
            <a:spLocks noGrp="1"/>
          </p:cNvSpPr>
          <p:nvPr/>
        </p:nvSpPr>
        <p:spPr>
          <a:xfrm>
            <a:off x="5276850" y="3152775"/>
            <a:ext cx="295275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292A26"/>
                </a:solidFill>
                <a:latin typeface="Aptos"/>
                <a:ea typeface="Aptos"/>
                <a:cs typeface="Aptos"/>
              </a:rPr>
              <a:t>nyitott vagy ismeretlen nyílászáró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7752120-DB89-44E5-8046-545DA9BFEE07}"/>
              </a:ext>
            </a:extLst>
          </p:cNvPr>
          <p:cNvSpPr>
            <a:spLocks noGrp="1"/>
          </p:cNvSpPr>
          <p:nvPr/>
        </p:nvSpPr>
        <p:spPr>
          <a:xfrm>
            <a:off x="4991100" y="3819524"/>
            <a:ext cx="133350" cy="133350"/>
          </a:xfrm>
          <a:prstGeom prst="ellipse">
            <a:avLst/>
          </a:prstGeom>
          <a:solidFill>
            <a:srgbClr val="C96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C2D88F5-E33D-4A8C-8CC6-518BEC7AAB3F}"/>
              </a:ext>
            </a:extLst>
          </p:cNvPr>
          <p:cNvSpPr>
            <a:spLocks noGrp="1"/>
          </p:cNvSpPr>
          <p:nvPr/>
        </p:nvSpPr>
        <p:spPr>
          <a:xfrm>
            <a:off x="5276850" y="3771900"/>
            <a:ext cx="295275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292A26"/>
                </a:solidFill>
                <a:latin typeface="Aptos"/>
                <a:ea typeface="Aptos"/>
                <a:cs typeface="Aptos"/>
              </a:rPr>
              <a:t>áthelyezés, szerviz vagy tranziens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DF67A6B-3F1C-41DB-BCD3-E9E24899BF78}"/>
              </a:ext>
            </a:extLst>
          </p:cNvPr>
          <p:cNvSpPr>
            <a:spLocks noGrp="1"/>
          </p:cNvSpPr>
          <p:nvPr/>
        </p:nvSpPr>
        <p:spPr>
          <a:xfrm>
            <a:off x="4991100" y="4438650"/>
            <a:ext cx="133350" cy="133350"/>
          </a:xfrm>
          <a:prstGeom prst="ellipse">
            <a:avLst/>
          </a:prstGeom>
          <a:solidFill>
            <a:srgbClr val="C96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A0BDB5-4AB4-42D5-889E-A1A7A98C08C8}"/>
              </a:ext>
            </a:extLst>
          </p:cNvPr>
          <p:cNvSpPr>
            <a:spLocks noGrp="1"/>
          </p:cNvSpPr>
          <p:nvPr/>
        </p:nvSpPr>
        <p:spPr>
          <a:xfrm>
            <a:off x="5276850" y="4391025"/>
            <a:ext cx="295275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292A26"/>
                </a:solidFill>
                <a:latin typeface="Aptos"/>
                <a:ea typeface="Aptos"/>
                <a:cs typeface="Aptos"/>
              </a:rPr>
              <a:t>források közötti tartós konfliktus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7725AF9-008D-4C9B-A2F5-B1499C8F8C37}"/>
              </a:ext>
            </a:extLst>
          </p:cNvPr>
          <p:cNvSpPr>
            <a:spLocks noGrp="1"/>
          </p:cNvSpPr>
          <p:nvPr/>
        </p:nvSpPr>
        <p:spPr>
          <a:xfrm>
            <a:off x="8915400" y="2590800"/>
            <a:ext cx="1924049" cy="1924049"/>
          </a:xfrm>
          <a:prstGeom prst="ellipse">
            <a:avLst/>
          </a:prstGeom>
          <a:solidFill>
            <a:srgbClr val="292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C302BAF-B4FB-4D57-B76E-5226575CDBD2}"/>
              </a:ext>
            </a:extLst>
          </p:cNvPr>
          <p:cNvSpPr>
            <a:spLocks noGrp="1"/>
          </p:cNvSpPr>
          <p:nvPr/>
        </p:nvSpPr>
        <p:spPr>
          <a:xfrm>
            <a:off x="9239250" y="3038475"/>
            <a:ext cx="1276350" cy="10096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NINCS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ELÉG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BIZTOS ADAT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8C0CCF7-491E-4EB4-82FC-4470A90800A7}"/>
              </a:ext>
            </a:extLst>
          </p:cNvPr>
          <p:cNvSpPr>
            <a:spLocks noGrp="1"/>
          </p:cNvSpPr>
          <p:nvPr/>
        </p:nvSpPr>
        <p:spPr>
          <a:xfrm>
            <a:off x="8686800" y="4800600"/>
            <a:ext cx="2400300" cy="628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külön állapot + napló + felhasználói jelzés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9A0F695-BC48-409D-A386-9F2E7B77F723}"/>
              </a:ext>
            </a:extLst>
          </p:cNvPr>
          <p:cNvSpPr>
            <a:spLocks noGrp="1"/>
          </p:cNvSpPr>
          <p:nvPr/>
        </p:nvSpPr>
        <p:spPr>
          <a:xfrm>
            <a:off x="1657350" y="5753100"/>
            <a:ext cx="8877300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C96845"/>
                </a:solidFill>
                <a:latin typeface="Aptos Display"/>
                <a:ea typeface="Aptos Display"/>
                <a:cs typeface="Aptos Display"/>
              </a:rPr>
              <a:t>Nincs csendes nullázás, utolsó érték átvétele vagy másik zóna adatának behelyettesítése.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CE1BC91-68B4-4EC2-8902-D4CAB88830C2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A klíma-, szellőztetési és újracsatlakozási események külön tranziens állapotként kezelhetők.</a:t>
            </a:r>
          </a:p>
        </p:txBody>
      </p:sp>
    </p:spTree>
    <p:extLst>
      <p:ext uri="{BB962C8B-B14F-4D97-AF65-F5344CB8AC3E}">
        <p14:creationId xmlns:p14="http://schemas.microsoft.com/office/powerpoint/2010/main" val="1082367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668F59-2C9F-4145-9B93-AB4C705DF95E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619125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66735B"/>
                </a:solidFill>
                <a:latin typeface="Aptos"/>
                <a:ea typeface="Aptos"/>
                <a:cs typeface="Aptos"/>
              </a:rPr>
              <a:t>OBSERVER ÜZEM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196376-6C7D-40A6-A1CB-45EC895525FD}"/>
              </a:ext>
            </a:extLst>
          </p:cNvPr>
          <p:cNvSpPr>
            <a:spLocks noGrp="1"/>
          </p:cNvSpPr>
          <p:nvPr/>
        </p:nvSpPr>
        <p:spPr>
          <a:xfrm>
            <a:off x="11144250" y="361950"/>
            <a:ext cx="36195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6E716A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BE0B16-B866-416B-B9D6-77873A734E1A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838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3600" b="1" dirty="0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A </a:t>
            </a:r>
            <a:r>
              <a:rPr lang="hu-HU" sz="3600" b="1" dirty="0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figyelő</a:t>
            </a:r>
            <a:r>
              <a:rPr sz="3600" b="1" dirty="0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3600" b="1" dirty="0" err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javasol</a:t>
            </a:r>
            <a:r>
              <a:rPr sz="3600" b="1" dirty="0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, de nem </a:t>
            </a:r>
            <a:r>
              <a:rPr sz="3600" b="1" dirty="0" err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küld</a:t>
            </a:r>
            <a:r>
              <a:rPr sz="3600" b="1" dirty="0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3600" b="1" dirty="0" err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parancsot</a:t>
            </a:r>
            <a:endParaRPr sz="3600" b="1" dirty="0">
              <a:solidFill>
                <a:srgbClr val="292A26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453DB3-6E54-4951-8A0D-34A91F927FB9}"/>
              </a:ext>
            </a:extLst>
          </p:cNvPr>
          <p:cNvSpPr>
            <a:spLocks noGrp="1"/>
          </p:cNvSpPr>
          <p:nvPr/>
        </p:nvSpPr>
        <p:spPr>
          <a:xfrm>
            <a:off x="723900" y="2076450"/>
            <a:ext cx="1714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2B705"/>
                </a:solidFill>
                <a:latin typeface="Aptos Display"/>
                <a:ea typeface="Aptos Display"/>
                <a:cs typeface="Aptos Display"/>
              </a:rPr>
              <a:t>V1.3.1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B9F5B4-AF47-4BA0-8B6E-B7513065E13A}"/>
              </a:ext>
            </a:extLst>
          </p:cNvPr>
          <p:cNvSpPr>
            <a:spLocks noGrp="1"/>
          </p:cNvSpPr>
          <p:nvPr/>
        </p:nvSpPr>
        <p:spPr>
          <a:xfrm>
            <a:off x="723900" y="2419350"/>
            <a:ext cx="3238500" cy="323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500" b="1" dirty="0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FŰTÉSI </a:t>
            </a:r>
            <a:r>
              <a:rPr lang="hu-HU" sz="2500" b="1" dirty="0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FIGYELŐ</a:t>
            </a:r>
            <a:endParaRPr sz="2500" b="1" dirty="0">
              <a:solidFill>
                <a:srgbClr val="292A26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12DB863-7E6E-4475-ABF4-F9CD97B5C97B}"/>
              </a:ext>
            </a:extLst>
          </p:cNvPr>
          <p:cNvSpPr>
            <a:spLocks noGrp="1"/>
          </p:cNvSpPr>
          <p:nvPr/>
        </p:nvSpPr>
        <p:spPr>
          <a:xfrm>
            <a:off x="762000" y="3057525"/>
            <a:ext cx="133350" cy="13335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48DA13-71BE-4ED1-915C-AA9FFAEB14A7}"/>
              </a:ext>
            </a:extLst>
          </p:cNvPr>
          <p:cNvSpPr>
            <a:spLocks noGrp="1"/>
          </p:cNvSpPr>
          <p:nvPr/>
        </p:nvSpPr>
        <p:spPr>
          <a:xfrm>
            <a:off x="1047749" y="3009900"/>
            <a:ext cx="314325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292A26"/>
                </a:solidFill>
                <a:latin typeface="Aptos"/>
                <a:ea typeface="Aptos"/>
                <a:cs typeface="Aptos"/>
              </a:rPr>
              <a:t>helyiségi cselekedeti hőmérséklet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4188AC6-8660-4745-89E7-72D110AEC994}"/>
              </a:ext>
            </a:extLst>
          </p:cNvPr>
          <p:cNvSpPr>
            <a:spLocks noGrp="1"/>
          </p:cNvSpPr>
          <p:nvPr/>
        </p:nvSpPr>
        <p:spPr>
          <a:xfrm>
            <a:off x="762000" y="3619500"/>
            <a:ext cx="133350" cy="13335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30C13A-AF52-41D2-B5E1-09C9DBC85584}"/>
              </a:ext>
            </a:extLst>
          </p:cNvPr>
          <p:cNvSpPr>
            <a:spLocks noGrp="1"/>
          </p:cNvSpPr>
          <p:nvPr/>
        </p:nvSpPr>
        <p:spPr>
          <a:xfrm>
            <a:off x="1047749" y="3571875"/>
            <a:ext cx="314325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292A26"/>
                </a:solidFill>
                <a:latin typeface="Aptos"/>
                <a:ea typeface="Aptos"/>
                <a:cs typeface="Aptos"/>
              </a:rPr>
              <a:t>20,0 °C indítás / 20,5 °C fenntartás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40DFCDC-D1D0-4132-BF9B-2C751C1FFC5E}"/>
              </a:ext>
            </a:extLst>
          </p:cNvPr>
          <p:cNvSpPr>
            <a:spLocks noGrp="1"/>
          </p:cNvSpPr>
          <p:nvPr/>
        </p:nvSpPr>
        <p:spPr>
          <a:xfrm>
            <a:off x="762000" y="4181475"/>
            <a:ext cx="133350" cy="13335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41728E-7A09-47D8-803B-96162350E167}"/>
              </a:ext>
            </a:extLst>
          </p:cNvPr>
          <p:cNvSpPr>
            <a:spLocks noGrp="1"/>
          </p:cNvSpPr>
          <p:nvPr/>
        </p:nvSpPr>
        <p:spPr>
          <a:xfrm>
            <a:off x="1047749" y="4133849"/>
            <a:ext cx="314325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292A26"/>
                </a:solidFill>
                <a:latin typeface="Aptos"/>
                <a:ea typeface="Aptos"/>
                <a:cs typeface="Aptos"/>
              </a:rPr>
              <a:t>zónaszintű, kizáró hőforrás-javaslat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9467D9C-B053-4974-B834-87F1D9889A2E}"/>
              </a:ext>
            </a:extLst>
          </p:cNvPr>
          <p:cNvSpPr>
            <a:spLocks noGrp="1"/>
          </p:cNvSpPr>
          <p:nvPr/>
        </p:nvSpPr>
        <p:spPr>
          <a:xfrm>
            <a:off x="762000" y="4743450"/>
            <a:ext cx="133350" cy="13335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1D0C57-4B1E-4621-A659-154E8A5D6159}"/>
              </a:ext>
            </a:extLst>
          </p:cNvPr>
          <p:cNvSpPr>
            <a:spLocks noGrp="1"/>
          </p:cNvSpPr>
          <p:nvPr/>
        </p:nvSpPr>
        <p:spPr>
          <a:xfrm>
            <a:off x="1047749" y="4695825"/>
            <a:ext cx="314325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292A26"/>
                </a:solidFill>
                <a:latin typeface="Aptos"/>
                <a:ea typeface="Aptos"/>
                <a:cs typeface="Aptos"/>
              </a:rPr>
              <a:t>klíma vagy gáz — nem egyszerre</a:t>
            </a:r>
          </a:p>
        </p:txBody>
      </p:sp>
      <p:sp>
        <p:nvSpPr>
          <p:cNvPr id="16" name="Connector 15">
            <a:extLst>
              <a:ext uri="{FF2B5EF4-FFF2-40B4-BE49-F238E27FC236}">
                <a16:creationId xmlns:a16="http://schemas.microsoft.com/office/drawing/2014/main" id="{9AB4F5CE-E8C6-47F8-9680-1C987BDEB33C}"/>
              </a:ext>
            </a:extLst>
          </p:cNvPr>
          <p:cNvSpPr>
            <a:spLocks noGrp="1"/>
          </p:cNvSpPr>
          <p:nvPr/>
        </p:nvSpPr>
        <p:spPr>
          <a:xfrm>
            <a:off x="4476750" y="2076450"/>
            <a:ext cx="9525" cy="0"/>
          </a:xfrm>
          <a:prstGeom prst="line">
            <a:avLst/>
          </a:prstGeom>
          <a:ln w="12700">
            <a:solidFill>
              <a:srgbClr val="C9C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AEEADC-D50A-4CDC-AB8B-FF298AA4E7BF}"/>
              </a:ext>
            </a:extLst>
          </p:cNvPr>
          <p:cNvSpPr>
            <a:spLocks noGrp="1"/>
          </p:cNvSpPr>
          <p:nvPr/>
        </p:nvSpPr>
        <p:spPr>
          <a:xfrm>
            <a:off x="5010150" y="2076450"/>
            <a:ext cx="1714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C96845"/>
                </a:solidFill>
                <a:latin typeface="Aptos Display"/>
                <a:ea typeface="Aptos Display"/>
                <a:cs typeface="Aptos Display"/>
              </a:rPr>
              <a:t>V1.3.0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B24338F-A9E1-47EF-A766-B2B24338B23E}"/>
              </a:ext>
            </a:extLst>
          </p:cNvPr>
          <p:cNvSpPr>
            <a:spLocks noGrp="1"/>
          </p:cNvSpPr>
          <p:nvPr/>
        </p:nvSpPr>
        <p:spPr>
          <a:xfrm>
            <a:off x="5010150" y="2419350"/>
            <a:ext cx="3238500" cy="323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2500" b="1" dirty="0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HŰTÉSI </a:t>
            </a:r>
            <a:r>
              <a:rPr lang="hu-HU" sz="2500" b="1" dirty="0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FIGYELŐ</a:t>
            </a:r>
            <a:endParaRPr sz="2500" b="1" dirty="0">
              <a:solidFill>
                <a:srgbClr val="292A26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2B828A2-3367-4935-86D8-468FC295B5AE}"/>
              </a:ext>
            </a:extLst>
          </p:cNvPr>
          <p:cNvSpPr>
            <a:spLocks noGrp="1"/>
          </p:cNvSpPr>
          <p:nvPr/>
        </p:nvSpPr>
        <p:spPr>
          <a:xfrm>
            <a:off x="5048250" y="3057525"/>
            <a:ext cx="133350" cy="133350"/>
          </a:xfrm>
          <a:prstGeom prst="ellipse">
            <a:avLst/>
          </a:prstGeom>
          <a:solidFill>
            <a:srgbClr val="C96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DFAEDB-051F-40AE-8FF0-0B21E5EB9F31}"/>
              </a:ext>
            </a:extLst>
          </p:cNvPr>
          <p:cNvSpPr>
            <a:spLocks noGrp="1"/>
          </p:cNvSpPr>
          <p:nvPr/>
        </p:nvSpPr>
        <p:spPr>
          <a:xfrm>
            <a:off x="5334000" y="3009900"/>
            <a:ext cx="3238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292A26"/>
                </a:solidFill>
                <a:latin typeface="Aptos"/>
                <a:ea typeface="Aptos"/>
                <a:cs typeface="Aptos"/>
              </a:rPr>
              <a:t>27,5 °C indítás / 27,0 °C fenntartás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0A7AA6E-1B6C-4384-AC91-E9E33B12D026}"/>
              </a:ext>
            </a:extLst>
          </p:cNvPr>
          <p:cNvSpPr>
            <a:spLocks noGrp="1"/>
          </p:cNvSpPr>
          <p:nvPr/>
        </p:nvSpPr>
        <p:spPr>
          <a:xfrm>
            <a:off x="5048250" y="3619500"/>
            <a:ext cx="133350" cy="133350"/>
          </a:xfrm>
          <a:prstGeom prst="ellipse">
            <a:avLst/>
          </a:prstGeom>
          <a:solidFill>
            <a:srgbClr val="C96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79497B-8D0B-47F3-B6B6-C7E91EDC7359}"/>
              </a:ext>
            </a:extLst>
          </p:cNvPr>
          <p:cNvSpPr>
            <a:spLocks noGrp="1"/>
          </p:cNvSpPr>
          <p:nvPr/>
        </p:nvSpPr>
        <p:spPr>
          <a:xfrm>
            <a:off x="5334000" y="3571875"/>
            <a:ext cx="3238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292A26"/>
                </a:solidFill>
                <a:latin typeface="Aptos"/>
                <a:ea typeface="Aptos"/>
                <a:cs typeface="Aptos"/>
              </a:rPr>
              <a:t>kültéri engedély és nyílászáró-kapuzás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7123100-1106-4375-933A-7DC2F3AD2153}"/>
              </a:ext>
            </a:extLst>
          </p:cNvPr>
          <p:cNvSpPr>
            <a:spLocks noGrp="1"/>
          </p:cNvSpPr>
          <p:nvPr/>
        </p:nvSpPr>
        <p:spPr>
          <a:xfrm>
            <a:off x="5048250" y="4181475"/>
            <a:ext cx="133350" cy="133350"/>
          </a:xfrm>
          <a:prstGeom prst="ellipse">
            <a:avLst/>
          </a:prstGeom>
          <a:solidFill>
            <a:srgbClr val="C96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1612E0D-B03C-415D-BFB2-9D0B79AC1441}"/>
              </a:ext>
            </a:extLst>
          </p:cNvPr>
          <p:cNvSpPr>
            <a:spLocks noGrp="1"/>
          </p:cNvSpPr>
          <p:nvPr/>
        </p:nvSpPr>
        <p:spPr>
          <a:xfrm>
            <a:off x="5334000" y="4133849"/>
            <a:ext cx="3238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292A26"/>
                </a:solidFill>
                <a:latin typeface="Aptos"/>
                <a:ea typeface="Aptos"/>
                <a:cs typeface="Aptos"/>
              </a:rPr>
              <a:t>indítaná / folytatná / leállítaná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41D1854-3502-4B86-85A3-B6D982DBA296}"/>
              </a:ext>
            </a:extLst>
          </p:cNvPr>
          <p:cNvSpPr>
            <a:spLocks noGrp="1"/>
          </p:cNvSpPr>
          <p:nvPr/>
        </p:nvSpPr>
        <p:spPr>
          <a:xfrm>
            <a:off x="5048250" y="4743450"/>
            <a:ext cx="133350" cy="133350"/>
          </a:xfrm>
          <a:prstGeom prst="ellipse">
            <a:avLst/>
          </a:prstGeom>
          <a:solidFill>
            <a:srgbClr val="C96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AF995BD-A354-4CFE-9DCF-C5966CD6FBD1}"/>
              </a:ext>
            </a:extLst>
          </p:cNvPr>
          <p:cNvSpPr>
            <a:spLocks noGrp="1"/>
          </p:cNvSpPr>
          <p:nvPr/>
        </p:nvSpPr>
        <p:spPr>
          <a:xfrm>
            <a:off x="5334000" y="4695825"/>
            <a:ext cx="3238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292A26"/>
                </a:solidFill>
                <a:latin typeface="Aptos"/>
                <a:ea typeface="Aptos"/>
                <a:cs typeface="Aptos"/>
              </a:rPr>
              <a:t>blokkolt és adathiányos eredmények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8D0EB8E-93C7-4C96-829C-434C2D13224E}"/>
              </a:ext>
            </a:extLst>
          </p:cNvPr>
          <p:cNvSpPr>
            <a:spLocks noGrp="1"/>
          </p:cNvSpPr>
          <p:nvPr/>
        </p:nvSpPr>
        <p:spPr>
          <a:xfrm>
            <a:off x="9258300" y="2647950"/>
            <a:ext cx="1790700" cy="1790700"/>
          </a:xfrm>
          <a:prstGeom prst="ellipse">
            <a:avLst/>
          </a:prstGeom>
          <a:solidFill>
            <a:srgbClr val="292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CF656A9-56EA-49E2-AB47-8C351F5F3EE5}"/>
              </a:ext>
            </a:extLst>
          </p:cNvPr>
          <p:cNvSpPr>
            <a:spLocks noGrp="1"/>
          </p:cNvSpPr>
          <p:nvPr/>
        </p:nvSpPr>
        <p:spPr>
          <a:xfrm>
            <a:off x="9410700" y="3009900"/>
            <a:ext cx="1485900" cy="361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F2B705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2B705"/>
                </a:solidFill>
                <a:latin typeface="Aptos Display"/>
                <a:ea typeface="Aptos Display"/>
                <a:cs typeface="Aptos Display"/>
              </a:rPr>
              <a:t>JAVASLAT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D6172B-7D7D-4B0E-BB11-1BEC1D9AE18C}"/>
              </a:ext>
            </a:extLst>
          </p:cNvPr>
          <p:cNvSpPr>
            <a:spLocks noGrp="1"/>
          </p:cNvSpPr>
          <p:nvPr/>
        </p:nvSpPr>
        <p:spPr>
          <a:xfrm>
            <a:off x="9525000" y="3505200"/>
            <a:ext cx="12573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parancs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F76B050-5CBD-4EB3-BFBA-15BA64F88635}"/>
              </a:ext>
            </a:extLst>
          </p:cNvPr>
          <p:cNvSpPr>
            <a:spLocks noGrp="1"/>
          </p:cNvSpPr>
          <p:nvPr/>
        </p:nvSpPr>
        <p:spPr>
          <a:xfrm>
            <a:off x="1600200" y="5715000"/>
            <a:ext cx="8991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C96845"/>
                </a:solidFill>
                <a:latin typeface="Aptos Display"/>
                <a:ea typeface="Aptos Display"/>
                <a:cs typeface="Aptos Display"/>
              </a:rPr>
              <a:t>A megfigyelő modell elválasztja a termikus igényt attól, hogy az végrehajtható-e.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5E5C729-CAC7-4F3C-BDDB-9D4A41F37A8C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A küszöbök és súlyok globális, verziózott beállítások; mérési tapasztalat alapján módosíthatók.</a:t>
            </a:r>
          </a:p>
        </p:txBody>
      </p:sp>
    </p:spTree>
    <p:extLst>
      <p:ext uri="{BB962C8B-B14F-4D97-AF65-F5344CB8AC3E}">
        <p14:creationId xmlns:p14="http://schemas.microsoft.com/office/powerpoint/2010/main" val="6563117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F4B6CE-5C99-434B-BE1B-49900F103E69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619125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66735B"/>
                </a:solidFill>
                <a:latin typeface="Aptos"/>
                <a:ea typeface="Aptos"/>
                <a:cs typeface="Aptos"/>
              </a:rPr>
              <a:t>HŐFORRÁS-JAVASLAT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69C79F-93F8-4057-9CEC-E03E36F60458}"/>
              </a:ext>
            </a:extLst>
          </p:cNvPr>
          <p:cNvSpPr>
            <a:spLocks noGrp="1"/>
          </p:cNvSpPr>
          <p:nvPr/>
        </p:nvSpPr>
        <p:spPr>
          <a:xfrm>
            <a:off x="11144250" y="361950"/>
            <a:ext cx="36195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6E716A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A9A291-9CE9-4A8D-94F5-A90F62C895E0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838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dirty="0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A </a:t>
            </a:r>
            <a:r>
              <a:rPr sz="3600" b="1" dirty="0" err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választás</a:t>
            </a:r>
            <a:r>
              <a:rPr sz="3600" b="1" dirty="0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3600" b="1" dirty="0" err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zónaszintű</a:t>
            </a:r>
            <a:r>
              <a:rPr sz="3600" b="1" dirty="0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, </a:t>
            </a:r>
            <a:r>
              <a:rPr sz="3600" b="1" dirty="0" err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kölcsönösen</a:t>
            </a:r>
            <a:r>
              <a:rPr sz="3600" b="1" dirty="0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3600" b="1" dirty="0" err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kizáró</a:t>
            </a:r>
            <a:r>
              <a:rPr sz="3600" b="1" dirty="0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3600" b="1" dirty="0" err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és</a:t>
            </a:r>
            <a:r>
              <a:rPr sz="3600" b="1" dirty="0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3600" b="1" dirty="0" err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magyarázható</a:t>
            </a:r>
            <a:endParaRPr sz="3600" b="1" dirty="0">
              <a:solidFill>
                <a:srgbClr val="292A26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6C9E29-2ADF-4118-A560-B6D30289B8E7}"/>
              </a:ext>
            </a:extLst>
          </p:cNvPr>
          <p:cNvSpPr>
            <a:spLocks noGrp="1"/>
          </p:cNvSpPr>
          <p:nvPr/>
        </p:nvSpPr>
        <p:spPr>
          <a:xfrm>
            <a:off x="704850" y="2038349"/>
            <a:ext cx="28575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66735B"/>
                </a:solidFill>
                <a:latin typeface="Aptos"/>
                <a:ea typeface="Aptos"/>
                <a:cs typeface="Aptos"/>
              </a:rPr>
              <a:t>EMELETI HŐIGÉNY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FDA6BD6-E2CA-4F7B-B750-5D503437E2BB}"/>
              </a:ext>
            </a:extLst>
          </p:cNvPr>
          <p:cNvSpPr>
            <a:spLocks noGrp="1"/>
          </p:cNvSpPr>
          <p:nvPr/>
        </p:nvSpPr>
        <p:spPr>
          <a:xfrm>
            <a:off x="876300" y="2476500"/>
            <a:ext cx="1809750" cy="116205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58988F-EF62-41B9-BDA3-9F8158F40369}"/>
              </a:ext>
            </a:extLst>
          </p:cNvPr>
          <p:cNvSpPr>
            <a:spLocks noGrp="1"/>
          </p:cNvSpPr>
          <p:nvPr/>
        </p:nvSpPr>
        <p:spPr>
          <a:xfrm>
            <a:off x="1181100" y="2781300"/>
            <a:ext cx="1200150" cy="5524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KLÍMÁS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FŰTÉS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F26FE2-EF5A-4615-A0E4-D6F0ED3B5D0B}"/>
              </a:ext>
            </a:extLst>
          </p:cNvPr>
          <p:cNvSpPr>
            <a:spLocks noGrp="1"/>
          </p:cNvSpPr>
          <p:nvPr/>
        </p:nvSpPr>
        <p:spPr>
          <a:xfrm>
            <a:off x="3048000" y="2895600"/>
            <a:ext cx="6667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66735B"/>
                </a:solidFill>
                <a:latin typeface="Aptos"/>
                <a:ea typeface="Aptos"/>
                <a:cs typeface="Aptos"/>
              </a:rPr>
              <a:t>IGEN</a:t>
            </a:r>
          </a:p>
        </p:txBody>
      </p:sp>
      <p:sp>
        <p:nvSpPr>
          <p:cNvPr id="10" name="Connector 9">
            <a:extLst>
              <a:ext uri="{FF2B5EF4-FFF2-40B4-BE49-F238E27FC236}">
                <a16:creationId xmlns:a16="http://schemas.microsoft.com/office/drawing/2014/main" id="{F07F9964-AD60-4414-B4AA-957333C4AFA9}"/>
              </a:ext>
            </a:extLst>
          </p:cNvPr>
          <p:cNvSpPr>
            <a:spLocks noGrp="1"/>
          </p:cNvSpPr>
          <p:nvPr/>
        </p:nvSpPr>
        <p:spPr>
          <a:xfrm>
            <a:off x="3714750" y="3009900"/>
            <a:ext cx="990600" cy="0"/>
          </a:xfrm>
          <a:prstGeom prst="line">
            <a:avLst/>
          </a:prstGeom>
          <a:ln w="25400">
            <a:solidFill>
              <a:srgbClr val="C9C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F880D9B-329D-4E36-988D-AB347DC4DDFD}"/>
              </a:ext>
            </a:extLst>
          </p:cNvPr>
          <p:cNvSpPr>
            <a:spLocks noGrp="1"/>
          </p:cNvSpPr>
          <p:nvPr/>
        </p:nvSpPr>
        <p:spPr>
          <a:xfrm>
            <a:off x="4705350" y="2362200"/>
            <a:ext cx="2781300" cy="1390650"/>
          </a:xfrm>
          <a:prstGeom prst="ellipse">
            <a:avLst/>
          </a:prstGeom>
          <a:solidFill>
            <a:srgbClr val="292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E783DE-0F33-4934-98F9-F0F6A2184214}"/>
              </a:ext>
            </a:extLst>
          </p:cNvPr>
          <p:cNvSpPr>
            <a:spLocks noGrp="1"/>
          </p:cNvSpPr>
          <p:nvPr/>
        </p:nvSpPr>
        <p:spPr>
          <a:xfrm>
            <a:off x="5143500" y="2705100"/>
            <a:ext cx="1905000" cy="742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MINDEN KLÍMA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HASZNÁLHATÓ?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KINT ≥ HATÁR?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149C37-7B6B-42FD-9334-D01FFD86B37D}"/>
              </a:ext>
            </a:extLst>
          </p:cNvPr>
          <p:cNvSpPr>
            <a:spLocks noGrp="1"/>
          </p:cNvSpPr>
          <p:nvPr/>
        </p:nvSpPr>
        <p:spPr>
          <a:xfrm>
            <a:off x="7848600" y="2895600"/>
            <a:ext cx="6667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C96845"/>
                </a:solidFill>
                <a:latin typeface="Aptos"/>
                <a:ea typeface="Aptos"/>
                <a:cs typeface="Aptos"/>
              </a:rPr>
              <a:t>NEM</a:t>
            </a:r>
          </a:p>
        </p:txBody>
      </p:sp>
      <p:sp>
        <p:nvSpPr>
          <p:cNvPr id="14" name="Connector 13">
            <a:extLst>
              <a:ext uri="{FF2B5EF4-FFF2-40B4-BE49-F238E27FC236}">
                <a16:creationId xmlns:a16="http://schemas.microsoft.com/office/drawing/2014/main" id="{4C650BA7-DF87-49E6-9252-E5729A01CFEB}"/>
              </a:ext>
            </a:extLst>
          </p:cNvPr>
          <p:cNvSpPr>
            <a:spLocks noGrp="1"/>
          </p:cNvSpPr>
          <p:nvPr/>
        </p:nvSpPr>
        <p:spPr>
          <a:xfrm>
            <a:off x="7486650" y="3009900"/>
            <a:ext cx="361950" cy="0"/>
          </a:xfrm>
          <a:prstGeom prst="line">
            <a:avLst/>
          </a:prstGeom>
          <a:ln w="25400">
            <a:solidFill>
              <a:srgbClr val="C9C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Connector 14">
            <a:extLst>
              <a:ext uri="{FF2B5EF4-FFF2-40B4-BE49-F238E27FC236}">
                <a16:creationId xmlns:a16="http://schemas.microsoft.com/office/drawing/2014/main" id="{1E9C63FD-EF8B-41A7-B100-391BFCC88D41}"/>
              </a:ext>
            </a:extLst>
          </p:cNvPr>
          <p:cNvSpPr>
            <a:spLocks noGrp="1"/>
          </p:cNvSpPr>
          <p:nvPr/>
        </p:nvSpPr>
        <p:spPr>
          <a:xfrm>
            <a:off x="8515350" y="3009900"/>
            <a:ext cx="838200" cy="0"/>
          </a:xfrm>
          <a:prstGeom prst="line">
            <a:avLst/>
          </a:prstGeom>
          <a:ln w="25400">
            <a:solidFill>
              <a:srgbClr val="C9C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6729A66-EF69-400A-8F65-7E59E07D1BC7}"/>
              </a:ext>
            </a:extLst>
          </p:cNvPr>
          <p:cNvSpPr>
            <a:spLocks noGrp="1"/>
          </p:cNvSpPr>
          <p:nvPr/>
        </p:nvSpPr>
        <p:spPr>
          <a:xfrm>
            <a:off x="9353550" y="2476500"/>
            <a:ext cx="1809750" cy="1162050"/>
          </a:xfrm>
          <a:prstGeom prst="ellipse">
            <a:avLst/>
          </a:prstGeom>
          <a:solidFill>
            <a:srgbClr val="C96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0D82DD-F1C8-49EC-B797-9B0B0948DFA4}"/>
              </a:ext>
            </a:extLst>
          </p:cNvPr>
          <p:cNvSpPr>
            <a:spLocks noGrp="1"/>
          </p:cNvSpPr>
          <p:nvPr/>
        </p:nvSpPr>
        <p:spPr>
          <a:xfrm>
            <a:off x="9658350" y="2781300"/>
            <a:ext cx="1200150" cy="5524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GÁZ-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FŰTÉS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3CE1AB-DC81-4940-903E-4B50BAEC9278}"/>
              </a:ext>
            </a:extLst>
          </p:cNvPr>
          <p:cNvSpPr>
            <a:spLocks noGrp="1"/>
          </p:cNvSpPr>
          <p:nvPr/>
        </p:nvSpPr>
        <p:spPr>
          <a:xfrm>
            <a:off x="666750" y="4324350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Nem vált automatikusan gázra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FF2E310-1F05-4D58-878C-28BA667315A3}"/>
              </a:ext>
            </a:extLst>
          </p:cNvPr>
          <p:cNvSpPr>
            <a:spLocks noGrp="1"/>
          </p:cNvSpPr>
          <p:nvPr/>
        </p:nvSpPr>
        <p:spPr>
          <a:xfrm>
            <a:off x="723900" y="4933950"/>
            <a:ext cx="133350" cy="13335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A4C1C8-77FB-417F-90BC-427C15E3D1DA}"/>
              </a:ext>
            </a:extLst>
          </p:cNvPr>
          <p:cNvSpPr>
            <a:spLocks noGrp="1"/>
          </p:cNvSpPr>
          <p:nvPr/>
        </p:nvSpPr>
        <p:spPr>
          <a:xfrm>
            <a:off x="1009650" y="4876800"/>
            <a:ext cx="314325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nyitott ablak egy helyiségben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2B48AF8-315D-4EFF-965F-7EE4E9C26B92}"/>
              </a:ext>
            </a:extLst>
          </p:cNvPr>
          <p:cNvSpPr>
            <a:spLocks noGrp="1"/>
          </p:cNvSpPr>
          <p:nvPr/>
        </p:nvSpPr>
        <p:spPr>
          <a:xfrm>
            <a:off x="723900" y="5372100"/>
            <a:ext cx="133350" cy="13335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991420-B2E8-43A5-86E5-8F782FB9650C}"/>
              </a:ext>
            </a:extLst>
          </p:cNvPr>
          <p:cNvSpPr>
            <a:spLocks noGrp="1"/>
          </p:cNvSpPr>
          <p:nvPr/>
        </p:nvSpPr>
        <p:spPr>
          <a:xfrm>
            <a:off x="1009650" y="5314950"/>
            <a:ext cx="314325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egy helyiség blokkolt adata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FB291AB-808A-4440-8431-5C05D4CBB1AD}"/>
              </a:ext>
            </a:extLst>
          </p:cNvPr>
          <p:cNvSpPr>
            <a:spLocks noGrp="1"/>
          </p:cNvSpPr>
          <p:nvPr/>
        </p:nvSpPr>
        <p:spPr>
          <a:xfrm>
            <a:off x="4495800" y="4324350"/>
            <a:ext cx="26670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Konfliktus esetén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E434BFB-2EC0-41A9-8DCC-1E3D526B219F}"/>
              </a:ext>
            </a:extLst>
          </p:cNvPr>
          <p:cNvSpPr>
            <a:spLocks noGrp="1"/>
          </p:cNvSpPr>
          <p:nvPr/>
        </p:nvSpPr>
        <p:spPr>
          <a:xfrm>
            <a:off x="4552950" y="4933950"/>
            <a:ext cx="133350" cy="133350"/>
          </a:xfrm>
          <a:prstGeom prst="ellipse">
            <a:avLst/>
          </a:prstGeom>
          <a:solidFill>
            <a:srgbClr val="C96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98667F9-76DA-480F-AABE-427EE38B0ED0}"/>
              </a:ext>
            </a:extLst>
          </p:cNvPr>
          <p:cNvSpPr>
            <a:spLocks noGrp="1"/>
          </p:cNvSpPr>
          <p:nvPr/>
        </p:nvSpPr>
        <p:spPr>
          <a:xfrm>
            <a:off x="4838700" y="4876800"/>
            <a:ext cx="314325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biztonságos állapot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B776F4C-6A71-4AB1-B894-B803D14370F5}"/>
              </a:ext>
            </a:extLst>
          </p:cNvPr>
          <p:cNvSpPr>
            <a:spLocks noGrp="1"/>
          </p:cNvSpPr>
          <p:nvPr/>
        </p:nvSpPr>
        <p:spPr>
          <a:xfrm>
            <a:off x="4552950" y="5372100"/>
            <a:ext cx="133350" cy="133350"/>
          </a:xfrm>
          <a:prstGeom prst="ellipse">
            <a:avLst/>
          </a:prstGeom>
          <a:solidFill>
            <a:srgbClr val="C96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6DD40CC-2701-43FF-9791-20755059A1EA}"/>
              </a:ext>
            </a:extLst>
          </p:cNvPr>
          <p:cNvSpPr>
            <a:spLocks noGrp="1"/>
          </p:cNvSpPr>
          <p:nvPr/>
        </p:nvSpPr>
        <p:spPr>
          <a:xfrm>
            <a:off x="4838700" y="5314950"/>
            <a:ext cx="314325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ok naplózása + figyelmeztetés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FA31515-5F9F-4AC8-AE1A-439D8B8A4C08}"/>
              </a:ext>
            </a:extLst>
          </p:cNvPr>
          <p:cNvSpPr>
            <a:spLocks noGrp="1"/>
          </p:cNvSpPr>
          <p:nvPr/>
        </p:nvSpPr>
        <p:spPr>
          <a:xfrm>
            <a:off x="8305800" y="4324350"/>
            <a:ext cx="2476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Későbbi fejlesztés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95C42BE-800D-41BA-9336-DD02F4FE8905}"/>
              </a:ext>
            </a:extLst>
          </p:cNvPr>
          <p:cNvSpPr>
            <a:spLocks noGrp="1"/>
          </p:cNvSpPr>
          <p:nvPr/>
        </p:nvSpPr>
        <p:spPr>
          <a:xfrm>
            <a:off x="8305800" y="4857750"/>
            <a:ext cx="28575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COP-görbe + tarifa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Zigbee radiátorszelepek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kevert stratégia jóváhagyással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60ED79-716E-45A9-B830-219C2AEF6479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Az 5,0 °C-os kezdeti klímahatár ideiglenes; a későbbi költségmodell tényleges COP- és tarifaadatokra épül.</a:t>
            </a:r>
          </a:p>
        </p:txBody>
      </p:sp>
    </p:spTree>
    <p:extLst>
      <p:ext uri="{BB962C8B-B14F-4D97-AF65-F5344CB8AC3E}">
        <p14:creationId xmlns:p14="http://schemas.microsoft.com/office/powerpoint/2010/main" val="21377187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08AF11-D25B-4771-B7E7-45230D3D9CAF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619125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66735B"/>
                </a:solidFill>
                <a:latin typeface="Aptos"/>
                <a:ea typeface="Aptos"/>
                <a:cs typeface="Aptos"/>
              </a:rPr>
              <a:t>KÖLTSÉGOPTIMALIZÁLÁS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8705F0-D4C8-4FB3-ADA9-233E7ACD1199}"/>
              </a:ext>
            </a:extLst>
          </p:cNvPr>
          <p:cNvSpPr>
            <a:spLocks noGrp="1"/>
          </p:cNvSpPr>
          <p:nvPr/>
        </p:nvSpPr>
        <p:spPr>
          <a:xfrm>
            <a:off x="11144250" y="361950"/>
            <a:ext cx="36195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6E716A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4F4E98-6510-4669-8F20-036066F7EAD4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838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A másnapi fűtési stratégia már ár-, időjárás- és hatásfokfüggő lesz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C61AC0-C5B2-4E96-8464-8111562A772E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34290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66735B"/>
                </a:solidFill>
                <a:latin typeface="Aptos"/>
                <a:ea typeface="Aptos"/>
                <a:cs typeface="Aptos"/>
              </a:rPr>
              <a:t>MÁSNAPI BEMENETEK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9E56908-2BA0-4E1A-AA96-50829ADE8FA2}"/>
              </a:ext>
            </a:extLst>
          </p:cNvPr>
          <p:cNvSpPr>
            <a:spLocks noGrp="1"/>
          </p:cNvSpPr>
          <p:nvPr/>
        </p:nvSpPr>
        <p:spPr>
          <a:xfrm>
            <a:off x="723900" y="2524125"/>
            <a:ext cx="133350" cy="13335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12A0EE-0960-4BF9-AEEF-4F3893262F76}"/>
              </a:ext>
            </a:extLst>
          </p:cNvPr>
          <p:cNvSpPr>
            <a:spLocks noGrp="1"/>
          </p:cNvSpPr>
          <p:nvPr/>
        </p:nvSpPr>
        <p:spPr>
          <a:xfrm>
            <a:off x="1009650" y="2476500"/>
            <a:ext cx="1866899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HUPX DAM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95321E-3770-4BC7-ABC7-86817BDE9B37}"/>
              </a:ext>
            </a:extLst>
          </p:cNvPr>
          <p:cNvSpPr>
            <a:spLocks noGrp="1"/>
          </p:cNvSpPr>
          <p:nvPr/>
        </p:nvSpPr>
        <p:spPr>
          <a:xfrm>
            <a:off x="2876550" y="2476500"/>
            <a:ext cx="2133600" cy="24764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15 perces másnapi ár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A8484F4-9FE3-4973-9A3E-DD590B32D3CC}"/>
              </a:ext>
            </a:extLst>
          </p:cNvPr>
          <p:cNvSpPr>
            <a:spLocks noGrp="1"/>
          </p:cNvSpPr>
          <p:nvPr/>
        </p:nvSpPr>
        <p:spPr>
          <a:xfrm>
            <a:off x="723900" y="3143250"/>
            <a:ext cx="133350" cy="13335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9A21DC-D45D-4EB1-872A-9CBA6B57F599}"/>
              </a:ext>
            </a:extLst>
          </p:cNvPr>
          <p:cNvSpPr>
            <a:spLocks noGrp="1"/>
          </p:cNvSpPr>
          <p:nvPr/>
        </p:nvSpPr>
        <p:spPr>
          <a:xfrm>
            <a:off x="1009650" y="3095625"/>
            <a:ext cx="1866899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KÜLSŐ HŐMÉRSÉKLET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C5E6B3-BE65-4EC4-BCD0-526A9CFF1639}"/>
              </a:ext>
            </a:extLst>
          </p:cNvPr>
          <p:cNvSpPr>
            <a:spLocks noGrp="1"/>
          </p:cNvSpPr>
          <p:nvPr/>
        </p:nvSpPr>
        <p:spPr>
          <a:xfrm>
            <a:off x="2876550" y="3095625"/>
            <a:ext cx="2133600" cy="24764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várható hőigény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E0704B6-B000-4D30-BBDC-A2888F9A4F56}"/>
              </a:ext>
            </a:extLst>
          </p:cNvPr>
          <p:cNvSpPr>
            <a:spLocks noGrp="1"/>
          </p:cNvSpPr>
          <p:nvPr/>
        </p:nvSpPr>
        <p:spPr>
          <a:xfrm>
            <a:off x="723900" y="3762374"/>
            <a:ext cx="133350" cy="13335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3D4AEF-08C4-4149-9FA6-DF8A96AAAA10}"/>
              </a:ext>
            </a:extLst>
          </p:cNvPr>
          <p:cNvSpPr>
            <a:spLocks noGrp="1"/>
          </p:cNvSpPr>
          <p:nvPr/>
        </p:nvSpPr>
        <p:spPr>
          <a:xfrm>
            <a:off x="1009650" y="3714750"/>
            <a:ext cx="1866899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KLÍMA COP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AEAE72-DD3B-428E-A487-EB087A1ECC03}"/>
              </a:ext>
            </a:extLst>
          </p:cNvPr>
          <p:cNvSpPr>
            <a:spLocks noGrp="1"/>
          </p:cNvSpPr>
          <p:nvPr/>
        </p:nvSpPr>
        <p:spPr>
          <a:xfrm>
            <a:off x="2876550" y="3714750"/>
            <a:ext cx="2133600" cy="24764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villamos hő önköltsége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C88CC5C-BBA4-4627-A167-AAFFA2E6F08A}"/>
              </a:ext>
            </a:extLst>
          </p:cNvPr>
          <p:cNvSpPr>
            <a:spLocks noGrp="1"/>
          </p:cNvSpPr>
          <p:nvPr/>
        </p:nvSpPr>
        <p:spPr>
          <a:xfrm>
            <a:off x="723900" y="4381500"/>
            <a:ext cx="133350" cy="13335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1CBEFB-9341-40E8-A1A7-82A2697E66D2}"/>
              </a:ext>
            </a:extLst>
          </p:cNvPr>
          <p:cNvSpPr>
            <a:spLocks noGrp="1"/>
          </p:cNvSpPr>
          <p:nvPr/>
        </p:nvSpPr>
        <p:spPr>
          <a:xfrm>
            <a:off x="1009650" y="4333875"/>
            <a:ext cx="1866899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GÁZKÖLTSÉG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0FBAE4-1135-4B05-92FC-5E8339841926}"/>
              </a:ext>
            </a:extLst>
          </p:cNvPr>
          <p:cNvSpPr>
            <a:spLocks noGrp="1"/>
          </p:cNvSpPr>
          <p:nvPr/>
        </p:nvSpPr>
        <p:spPr>
          <a:xfrm>
            <a:off x="2876550" y="4333875"/>
            <a:ext cx="2133600" cy="24764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kazános hő összehasonlítása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9D15337-C5A6-47BE-836B-546AE494545B}"/>
              </a:ext>
            </a:extLst>
          </p:cNvPr>
          <p:cNvSpPr>
            <a:spLocks noGrp="1"/>
          </p:cNvSpPr>
          <p:nvPr/>
        </p:nvSpPr>
        <p:spPr>
          <a:xfrm>
            <a:off x="5276850" y="2476500"/>
            <a:ext cx="2076450" cy="2076450"/>
          </a:xfrm>
          <a:prstGeom prst="ellipse">
            <a:avLst/>
          </a:prstGeom>
          <a:solidFill>
            <a:srgbClr val="292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BAF8E9-DD6D-4B68-92A3-5E47A8F81FB8}"/>
              </a:ext>
            </a:extLst>
          </p:cNvPr>
          <p:cNvSpPr>
            <a:spLocks noGrp="1"/>
          </p:cNvSpPr>
          <p:nvPr/>
        </p:nvSpPr>
        <p:spPr>
          <a:xfrm>
            <a:off x="5610225" y="3048000"/>
            <a:ext cx="1409700" cy="8953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15 PERCES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KÖLTSÉG-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MODELL</a:t>
            </a:r>
          </a:p>
        </p:txBody>
      </p:sp>
      <p:sp>
        <p:nvSpPr>
          <p:cNvPr id="21" name="Connector 20">
            <a:extLst>
              <a:ext uri="{FF2B5EF4-FFF2-40B4-BE49-F238E27FC236}">
                <a16:creationId xmlns:a16="http://schemas.microsoft.com/office/drawing/2014/main" id="{B9B0CC3F-C5B5-4CE5-8174-0B9DCFA6A1F4}"/>
              </a:ext>
            </a:extLst>
          </p:cNvPr>
          <p:cNvSpPr>
            <a:spLocks noGrp="1"/>
          </p:cNvSpPr>
          <p:nvPr/>
        </p:nvSpPr>
        <p:spPr>
          <a:xfrm>
            <a:off x="4895850" y="3514725"/>
            <a:ext cx="381000" cy="0"/>
          </a:xfrm>
          <a:prstGeom prst="line">
            <a:avLst/>
          </a:prstGeom>
          <a:ln w="25400">
            <a:solidFill>
              <a:srgbClr val="C9C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Connector 21">
            <a:extLst>
              <a:ext uri="{FF2B5EF4-FFF2-40B4-BE49-F238E27FC236}">
                <a16:creationId xmlns:a16="http://schemas.microsoft.com/office/drawing/2014/main" id="{A89728BD-0CF6-43C0-A1CC-4D6387D031E4}"/>
              </a:ext>
            </a:extLst>
          </p:cNvPr>
          <p:cNvSpPr>
            <a:spLocks noGrp="1"/>
          </p:cNvSpPr>
          <p:nvPr/>
        </p:nvSpPr>
        <p:spPr>
          <a:xfrm>
            <a:off x="7353299" y="3514725"/>
            <a:ext cx="400050" cy="0"/>
          </a:xfrm>
          <a:prstGeom prst="line">
            <a:avLst/>
          </a:prstGeom>
          <a:ln w="25400">
            <a:solidFill>
              <a:srgbClr val="C9C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76A0A5-0231-4964-8B20-0B89F892232B}"/>
              </a:ext>
            </a:extLst>
          </p:cNvPr>
          <p:cNvSpPr>
            <a:spLocks noGrp="1"/>
          </p:cNvSpPr>
          <p:nvPr/>
        </p:nvSpPr>
        <p:spPr>
          <a:xfrm>
            <a:off x="8020050" y="2076450"/>
            <a:ext cx="28575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C96845"/>
                </a:solidFill>
                <a:latin typeface="Aptos"/>
                <a:ea typeface="Aptos"/>
                <a:cs typeface="Aptos"/>
              </a:rPr>
              <a:t>NAPI JAVASLAT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86A9CF3-A3AA-4656-8AED-602A5DF8620F}"/>
              </a:ext>
            </a:extLst>
          </p:cNvPr>
          <p:cNvSpPr>
            <a:spLocks noGrp="1"/>
          </p:cNvSpPr>
          <p:nvPr/>
        </p:nvSpPr>
        <p:spPr>
          <a:xfrm>
            <a:off x="8058150" y="2619375"/>
            <a:ext cx="152400" cy="152400"/>
          </a:xfrm>
          <a:prstGeom prst="ellipse">
            <a:avLst/>
          </a:prstGeom>
          <a:solidFill>
            <a:srgbClr val="C96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8077694-052D-4324-B8DB-E135BA8F3A7E}"/>
              </a:ext>
            </a:extLst>
          </p:cNvPr>
          <p:cNvSpPr>
            <a:spLocks noGrp="1"/>
          </p:cNvSpPr>
          <p:nvPr/>
        </p:nvSpPr>
        <p:spPr>
          <a:xfrm>
            <a:off x="8362950" y="2571750"/>
            <a:ext cx="2571750" cy="238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KLÍMA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F491756-2FFF-4C0D-B9D8-5AEE1B0BED1A}"/>
              </a:ext>
            </a:extLst>
          </p:cNvPr>
          <p:cNvSpPr>
            <a:spLocks noGrp="1"/>
          </p:cNvSpPr>
          <p:nvPr/>
        </p:nvSpPr>
        <p:spPr>
          <a:xfrm>
            <a:off x="8362950" y="2867025"/>
            <a:ext cx="2705100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ahol az elektromos hő olcsóbb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3F32EE8-8C09-49D1-9B87-30B68B7BA7CC}"/>
              </a:ext>
            </a:extLst>
          </p:cNvPr>
          <p:cNvSpPr>
            <a:spLocks noGrp="1"/>
          </p:cNvSpPr>
          <p:nvPr/>
        </p:nvSpPr>
        <p:spPr>
          <a:xfrm>
            <a:off x="8058150" y="3590925"/>
            <a:ext cx="152400" cy="152400"/>
          </a:xfrm>
          <a:prstGeom prst="ellipse">
            <a:avLst/>
          </a:prstGeom>
          <a:solidFill>
            <a:srgbClr val="C96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A1E9BCD-F17F-422E-9DCA-DD651F02BA50}"/>
              </a:ext>
            </a:extLst>
          </p:cNvPr>
          <p:cNvSpPr>
            <a:spLocks noGrp="1"/>
          </p:cNvSpPr>
          <p:nvPr/>
        </p:nvSpPr>
        <p:spPr>
          <a:xfrm>
            <a:off x="8362950" y="3543300"/>
            <a:ext cx="2571750" cy="238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GÁZ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94BB239-6D99-4C81-81E5-3576A2E226D1}"/>
              </a:ext>
            </a:extLst>
          </p:cNvPr>
          <p:cNvSpPr>
            <a:spLocks noGrp="1"/>
          </p:cNvSpPr>
          <p:nvPr/>
        </p:nvSpPr>
        <p:spPr>
          <a:xfrm>
            <a:off x="8362950" y="3838575"/>
            <a:ext cx="2705100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ahol a kazános hő kedvezőbb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185C978-3568-418D-8E29-62DDA92CF768}"/>
              </a:ext>
            </a:extLst>
          </p:cNvPr>
          <p:cNvSpPr>
            <a:spLocks noGrp="1"/>
          </p:cNvSpPr>
          <p:nvPr/>
        </p:nvSpPr>
        <p:spPr>
          <a:xfrm>
            <a:off x="8058150" y="4562475"/>
            <a:ext cx="152400" cy="152400"/>
          </a:xfrm>
          <a:prstGeom prst="ellipse">
            <a:avLst/>
          </a:prstGeom>
          <a:solidFill>
            <a:srgbClr val="C96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6B21C25-F3B4-4304-811B-CDE622CC25B0}"/>
              </a:ext>
            </a:extLst>
          </p:cNvPr>
          <p:cNvSpPr>
            <a:spLocks noGrp="1"/>
          </p:cNvSpPr>
          <p:nvPr/>
        </p:nvSpPr>
        <p:spPr>
          <a:xfrm>
            <a:off x="8362950" y="4514850"/>
            <a:ext cx="2571750" cy="238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ELŐFŰTÉS / KIVÁRÁS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2DDDA6-A592-4FCD-B919-7EFE8DF23D84}"/>
              </a:ext>
            </a:extLst>
          </p:cNvPr>
          <p:cNvSpPr>
            <a:spLocks noGrp="1"/>
          </p:cNvSpPr>
          <p:nvPr/>
        </p:nvSpPr>
        <p:spPr>
          <a:xfrm>
            <a:off x="8362950" y="4810125"/>
            <a:ext cx="2705100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ár- és hőtárolási ablak szerint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FFC7475-1F79-4A04-8A6C-7CE330046750}"/>
              </a:ext>
            </a:extLst>
          </p:cNvPr>
          <p:cNvSpPr>
            <a:spLocks noGrp="1"/>
          </p:cNvSpPr>
          <p:nvPr/>
        </p:nvSpPr>
        <p:spPr>
          <a:xfrm>
            <a:off x="1390650" y="5619750"/>
            <a:ext cx="9410700" cy="514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C96845"/>
                </a:solidFill>
                <a:latin typeface="Aptos Display"/>
                <a:ea typeface="Aptos Display"/>
                <a:cs typeface="Aptos Display"/>
              </a:rPr>
              <a:t>Nem egyetlen napi „nyertes” hőforrás: időszakonként változó, előre tervezett stratégia.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4E37ED3-C89F-4720-8E6D-2F5A74AD69E9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Forrás: HUPX DAM-termékspecifikáció és HUPX Labs; 2026-ban a vezető DAM-ár 15 perces felbontású.</a:t>
            </a:r>
          </a:p>
        </p:txBody>
      </p:sp>
    </p:spTree>
    <p:extLst>
      <p:ext uri="{BB962C8B-B14F-4D97-AF65-F5344CB8AC3E}">
        <p14:creationId xmlns:p14="http://schemas.microsoft.com/office/powerpoint/2010/main" val="4869031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755C4B-C444-4760-9C84-07DB81E81547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619125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66735B"/>
                </a:solidFill>
                <a:latin typeface="Aptos"/>
                <a:ea typeface="Aptos"/>
                <a:cs typeface="Aptos"/>
              </a:rPr>
              <a:t>HELYISÉGI VISSZACSATOLÁS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2D5C99-46A9-48C1-AF5E-3ADC56EA6232}"/>
              </a:ext>
            </a:extLst>
          </p:cNvPr>
          <p:cNvSpPr>
            <a:spLocks noGrp="1"/>
          </p:cNvSpPr>
          <p:nvPr/>
        </p:nvSpPr>
        <p:spPr>
          <a:xfrm>
            <a:off x="11144250" y="361950"/>
            <a:ext cx="36195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6E716A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B7B5D2-F097-4183-8F31-CB654FF9911F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838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A helyben keletkező hő csökkentheti a teljes ház fűtési igényét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ACFD3C-FB5C-4AAE-B1C7-DEA8DB05B5B3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28575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C96845"/>
                </a:solidFill>
                <a:latin typeface="Aptos"/>
                <a:ea typeface="Aptos"/>
                <a:cs typeface="Aptos"/>
              </a:rPr>
              <a:t>2 CSERÉPKÁLYHA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37CA3DB-50CD-4E9F-96F7-5B6B1F00CD87}"/>
              </a:ext>
            </a:extLst>
          </p:cNvPr>
          <p:cNvSpPr>
            <a:spLocks noGrp="1"/>
          </p:cNvSpPr>
          <p:nvPr/>
        </p:nvSpPr>
        <p:spPr>
          <a:xfrm>
            <a:off x="1009650" y="2571750"/>
            <a:ext cx="1162050" cy="1162050"/>
          </a:xfrm>
          <a:prstGeom prst="ellipse">
            <a:avLst/>
          </a:prstGeom>
          <a:solidFill>
            <a:srgbClr val="C96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B590D9-FE25-4E15-9363-CDAEEF05FC56}"/>
              </a:ext>
            </a:extLst>
          </p:cNvPr>
          <p:cNvSpPr>
            <a:spLocks noGrp="1"/>
          </p:cNvSpPr>
          <p:nvPr/>
        </p:nvSpPr>
        <p:spPr>
          <a:xfrm>
            <a:off x="1181100" y="2867025"/>
            <a:ext cx="819150" cy="514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KÁLYHA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323B686-261D-4F78-83BF-211ECF8800DF}"/>
              </a:ext>
            </a:extLst>
          </p:cNvPr>
          <p:cNvSpPr>
            <a:spLocks noGrp="1"/>
          </p:cNvSpPr>
          <p:nvPr/>
        </p:nvSpPr>
        <p:spPr>
          <a:xfrm>
            <a:off x="2781300" y="2571750"/>
            <a:ext cx="1162050" cy="1162050"/>
          </a:xfrm>
          <a:prstGeom prst="ellipse">
            <a:avLst/>
          </a:prstGeom>
          <a:solidFill>
            <a:srgbClr val="C96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5EB77E-443E-464E-827B-AC6BAD4817B8}"/>
              </a:ext>
            </a:extLst>
          </p:cNvPr>
          <p:cNvSpPr>
            <a:spLocks noGrp="1"/>
          </p:cNvSpPr>
          <p:nvPr/>
        </p:nvSpPr>
        <p:spPr>
          <a:xfrm>
            <a:off x="2952750" y="2867025"/>
            <a:ext cx="819150" cy="514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KÁLYHA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40E9A2-4391-4715-AC11-35814CDE9EE1}"/>
              </a:ext>
            </a:extLst>
          </p:cNvPr>
          <p:cNvSpPr>
            <a:spLocks noGrp="1"/>
          </p:cNvSpPr>
          <p:nvPr/>
        </p:nvSpPr>
        <p:spPr>
          <a:xfrm>
            <a:off x="1200150" y="4057650"/>
            <a:ext cx="2724150" cy="552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mért helyiségi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hőmérséklet-emelkedés</a:t>
            </a:r>
          </a:p>
        </p:txBody>
      </p:sp>
      <p:sp>
        <p:nvSpPr>
          <p:cNvPr id="12" name="Connector 11">
            <a:extLst>
              <a:ext uri="{FF2B5EF4-FFF2-40B4-BE49-F238E27FC236}">
                <a16:creationId xmlns:a16="http://schemas.microsoft.com/office/drawing/2014/main" id="{9E7FC881-E435-43CB-B638-AEEBAF686310}"/>
              </a:ext>
            </a:extLst>
          </p:cNvPr>
          <p:cNvSpPr>
            <a:spLocks noGrp="1"/>
          </p:cNvSpPr>
          <p:nvPr/>
        </p:nvSpPr>
        <p:spPr>
          <a:xfrm>
            <a:off x="4000500" y="3362325"/>
            <a:ext cx="952500" cy="0"/>
          </a:xfrm>
          <a:prstGeom prst="line">
            <a:avLst/>
          </a:prstGeom>
          <a:ln w="25400">
            <a:solidFill>
              <a:srgbClr val="C9C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746C0C1-8D58-4DC7-A791-2E1F18234C73}"/>
              </a:ext>
            </a:extLst>
          </p:cNvPr>
          <p:cNvSpPr>
            <a:spLocks noGrp="1"/>
          </p:cNvSpPr>
          <p:nvPr/>
        </p:nvSpPr>
        <p:spPr>
          <a:xfrm>
            <a:off x="4953000" y="2514600"/>
            <a:ext cx="2438400" cy="1809750"/>
          </a:xfrm>
          <a:prstGeom prst="ellipse">
            <a:avLst/>
          </a:prstGeom>
          <a:solidFill>
            <a:srgbClr val="292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F24681-0B6D-4FDF-A152-A47995034468}"/>
              </a:ext>
            </a:extLst>
          </p:cNvPr>
          <p:cNvSpPr>
            <a:spLocks noGrp="1"/>
          </p:cNvSpPr>
          <p:nvPr/>
        </p:nvSpPr>
        <p:spPr>
          <a:xfrm>
            <a:off x="5238750" y="2914650"/>
            <a:ext cx="1866899" cy="99059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HELYI HŐNYERESÉG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+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TÚLMELEGEDÉS</a:t>
            </a:r>
          </a:p>
        </p:txBody>
      </p:sp>
      <p:sp>
        <p:nvSpPr>
          <p:cNvPr id="15" name="Connector 14">
            <a:extLst>
              <a:ext uri="{FF2B5EF4-FFF2-40B4-BE49-F238E27FC236}">
                <a16:creationId xmlns:a16="http://schemas.microsoft.com/office/drawing/2014/main" id="{25CAC440-2FE0-46F4-A7FC-DAA771684349}"/>
              </a:ext>
            </a:extLst>
          </p:cNvPr>
          <p:cNvSpPr>
            <a:spLocks noGrp="1"/>
          </p:cNvSpPr>
          <p:nvPr/>
        </p:nvSpPr>
        <p:spPr>
          <a:xfrm>
            <a:off x="7391400" y="3362325"/>
            <a:ext cx="819149" cy="0"/>
          </a:xfrm>
          <a:prstGeom prst="line">
            <a:avLst/>
          </a:prstGeom>
          <a:ln w="25400">
            <a:solidFill>
              <a:srgbClr val="C9C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BCF3FA-2140-44C6-BB1A-EBA7C1637769}"/>
              </a:ext>
            </a:extLst>
          </p:cNvPr>
          <p:cNvSpPr>
            <a:spLocks noGrp="1"/>
          </p:cNvSpPr>
          <p:nvPr/>
        </p:nvSpPr>
        <p:spPr>
          <a:xfrm>
            <a:off x="8096249" y="2076450"/>
            <a:ext cx="314325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66735B"/>
                </a:solidFill>
                <a:latin typeface="Aptos"/>
                <a:ea typeface="Aptos"/>
                <a:cs typeface="Aptos"/>
              </a:rPr>
              <a:t>DÉLI ÉS KÁLYHÁS HELYISÉGEK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1A7852F-AAFF-4514-8E10-E94BC9A16FEB}"/>
              </a:ext>
            </a:extLst>
          </p:cNvPr>
          <p:cNvSpPr>
            <a:spLocks noGrp="1"/>
          </p:cNvSpPr>
          <p:nvPr/>
        </p:nvSpPr>
        <p:spPr>
          <a:xfrm>
            <a:off x="8629650" y="2571750"/>
            <a:ext cx="1790700" cy="116205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D752CA-1149-44E9-B5F3-D3E4AA3BB059}"/>
              </a:ext>
            </a:extLst>
          </p:cNvPr>
          <p:cNvSpPr>
            <a:spLocks noGrp="1"/>
          </p:cNvSpPr>
          <p:nvPr/>
        </p:nvSpPr>
        <p:spPr>
          <a:xfrm>
            <a:off x="8972550" y="2971800"/>
            <a:ext cx="11049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TRV-ZBT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6970D9-FBAD-4A30-A52E-96C326A71B1F}"/>
              </a:ext>
            </a:extLst>
          </p:cNvPr>
          <p:cNvSpPr>
            <a:spLocks noGrp="1"/>
          </p:cNvSpPr>
          <p:nvPr/>
        </p:nvSpPr>
        <p:spPr>
          <a:xfrm>
            <a:off x="8096249" y="4057650"/>
            <a:ext cx="2876550" cy="552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radiátorvíz-áram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visszaszabályozása</a:t>
            </a:r>
          </a:p>
        </p:txBody>
      </p:sp>
      <p:sp>
        <p:nvSpPr>
          <p:cNvPr id="20" name="Connector 19">
            <a:extLst>
              <a:ext uri="{FF2B5EF4-FFF2-40B4-BE49-F238E27FC236}">
                <a16:creationId xmlns:a16="http://schemas.microsoft.com/office/drawing/2014/main" id="{A8F365AA-5D9C-4FDE-AA4F-FB9E84174ABE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0"/>
          </a:xfrm>
          <a:prstGeom prst="line">
            <a:avLst/>
          </a:prstGeom>
          <a:ln w="12700">
            <a:solidFill>
              <a:srgbClr val="C9C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5892612-AAF4-49E2-9B6C-939CF4325E5C}"/>
              </a:ext>
            </a:extLst>
          </p:cNvPr>
          <p:cNvSpPr>
            <a:spLocks noGrp="1"/>
          </p:cNvSpPr>
          <p:nvPr/>
        </p:nvSpPr>
        <p:spPr>
          <a:xfrm>
            <a:off x="952500" y="5372100"/>
            <a:ext cx="361950" cy="36195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A55BDA8-4BDC-496E-A17D-4556FB5979AF}"/>
              </a:ext>
            </a:extLst>
          </p:cNvPr>
          <p:cNvSpPr>
            <a:spLocks noGrp="1"/>
          </p:cNvSpPr>
          <p:nvPr/>
        </p:nvSpPr>
        <p:spPr>
          <a:xfrm>
            <a:off x="1038225" y="5438775"/>
            <a:ext cx="1905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AAD5D4-01F9-4D53-A8A2-FEBED5BA2DA7}"/>
              </a:ext>
            </a:extLst>
          </p:cNvPr>
          <p:cNvSpPr>
            <a:spLocks noGrp="1"/>
          </p:cNvSpPr>
          <p:nvPr/>
        </p:nvSpPr>
        <p:spPr>
          <a:xfrm>
            <a:off x="1466850" y="5334000"/>
            <a:ext cx="27813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kevesebb túlmelegedés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E4FD124-2A75-43C1-8CD6-3E23BA03970D}"/>
              </a:ext>
            </a:extLst>
          </p:cNvPr>
          <p:cNvSpPr>
            <a:spLocks noGrp="1"/>
          </p:cNvSpPr>
          <p:nvPr/>
        </p:nvSpPr>
        <p:spPr>
          <a:xfrm>
            <a:off x="4476750" y="5372100"/>
            <a:ext cx="361950" cy="36195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0A259F-A58A-4DC0-815D-C336C70AC770}"/>
              </a:ext>
            </a:extLst>
          </p:cNvPr>
          <p:cNvSpPr>
            <a:spLocks noGrp="1"/>
          </p:cNvSpPr>
          <p:nvPr/>
        </p:nvSpPr>
        <p:spPr>
          <a:xfrm>
            <a:off x="4562475" y="5438775"/>
            <a:ext cx="1905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D8FD66-73FB-4321-A7C9-457D4FCADEBF}"/>
              </a:ext>
            </a:extLst>
          </p:cNvPr>
          <p:cNvSpPr>
            <a:spLocks noGrp="1"/>
          </p:cNvSpPr>
          <p:nvPr/>
        </p:nvSpPr>
        <p:spPr>
          <a:xfrm>
            <a:off x="4991100" y="5334000"/>
            <a:ext cx="27813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alacsonyabb helyiségi radiátorigény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CDD2193-7309-4346-B4E7-E48A79E3A241}"/>
              </a:ext>
            </a:extLst>
          </p:cNvPr>
          <p:cNvSpPr>
            <a:spLocks noGrp="1"/>
          </p:cNvSpPr>
          <p:nvPr/>
        </p:nvSpPr>
        <p:spPr>
          <a:xfrm>
            <a:off x="8001000" y="5372100"/>
            <a:ext cx="361950" cy="361950"/>
          </a:xfrm>
          <a:prstGeom prst="ellipse">
            <a:avLst/>
          </a:prstGeom>
          <a:solidFill>
            <a:srgbClr val="C96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3B9192-B6AB-40E5-BDD3-033C4C5DB800}"/>
              </a:ext>
            </a:extLst>
          </p:cNvPr>
          <p:cNvSpPr>
            <a:spLocks noGrp="1"/>
          </p:cNvSpPr>
          <p:nvPr/>
        </p:nvSpPr>
        <p:spPr>
          <a:xfrm>
            <a:off x="8086725" y="5438775"/>
            <a:ext cx="1905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562EAF2-95DE-42C2-AE9E-F219CA9E0030}"/>
              </a:ext>
            </a:extLst>
          </p:cNvPr>
          <p:cNvSpPr>
            <a:spLocks noGrp="1"/>
          </p:cNvSpPr>
          <p:nvPr/>
        </p:nvSpPr>
        <p:spPr>
          <a:xfrm>
            <a:off x="8515350" y="5334000"/>
            <a:ext cx="27813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csökkenő teljes házas fűtési igény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8C143A-32B2-452A-A855-E292EFD1A0CE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A kályhák hatását mért hőmérséklet-válasz alapján kell tanulni; a TRV-ZBT vezérlés próbaüzem és jóváhagyás után aktiválható.</a:t>
            </a:r>
          </a:p>
        </p:txBody>
      </p:sp>
    </p:spTree>
    <p:extLst>
      <p:ext uri="{BB962C8B-B14F-4D97-AF65-F5344CB8AC3E}">
        <p14:creationId xmlns:p14="http://schemas.microsoft.com/office/powerpoint/2010/main" val="7977158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A5998C-1B44-40CD-A782-760D470CDECA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619125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66735B"/>
                </a:solidFill>
                <a:latin typeface="Aptos"/>
                <a:ea typeface="Aptos"/>
                <a:cs typeface="Aptos"/>
              </a:rPr>
              <a:t>MŰKÖDŐ RENDSZER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229BB3-5D69-4268-A052-8281938A84E4}"/>
              </a:ext>
            </a:extLst>
          </p:cNvPr>
          <p:cNvSpPr>
            <a:spLocks noGrp="1"/>
          </p:cNvSpPr>
          <p:nvPr/>
        </p:nvSpPr>
        <p:spPr>
          <a:xfrm>
            <a:off x="11144250" y="361950"/>
            <a:ext cx="36195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6E716A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B228E1-30A2-411A-B190-7EDFC26417FC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 sz="2550"/>
            </a:pPr>
            <a:r>
              <a:rPr sz="255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A döntési modell valós állapotokra és idősorokra épül</a:t>
            </a:r>
          </a:p>
        </p:txBody>
      </p:sp>
      <p:pic>
        <p:nvPicPr>
          <p:cNvPr id="19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34822"/>
            <a:ext cx="5010150" cy="2417005"/>
          </a:xfrm>
          <a:prstGeom prst="rect">
            <a:avLst/>
          </a:prstGeom>
        </p:spPr>
      </p:pic>
      <p:pic>
        <p:nvPicPr>
          <p:cNvPr id="20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6444" y="2057400"/>
            <a:ext cx="4190260" cy="33718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6BFA67-5FE3-43DD-9939-30CF4A34ED99}"/>
              </a:ext>
            </a:extLst>
          </p:cNvPr>
          <p:cNvSpPr>
            <a:spLocks noGrp="1"/>
          </p:cNvSpPr>
          <p:nvPr/>
        </p:nvSpPr>
        <p:spPr>
          <a:xfrm>
            <a:off x="819150" y="5562600"/>
            <a:ext cx="180975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66735B"/>
                </a:solidFill>
                <a:latin typeface="Aptos"/>
                <a:ea typeface="Aptos"/>
                <a:cs typeface="Aptos"/>
              </a:rPr>
              <a:t>ÁLLAPOTKÉP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80FD50-437C-459A-92FE-9B5714AAEE16}"/>
              </a:ext>
            </a:extLst>
          </p:cNvPr>
          <p:cNvSpPr>
            <a:spLocks noGrp="1"/>
          </p:cNvSpPr>
          <p:nvPr/>
        </p:nvSpPr>
        <p:spPr>
          <a:xfrm>
            <a:off x="819150" y="5829300"/>
            <a:ext cx="40957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klímák, hőmérsékletek, termosztátok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62589D-DE45-4CDB-8BB6-485EAD05351A}"/>
              </a:ext>
            </a:extLst>
          </p:cNvPr>
          <p:cNvSpPr>
            <a:spLocks noGrp="1"/>
          </p:cNvSpPr>
          <p:nvPr/>
        </p:nvSpPr>
        <p:spPr>
          <a:xfrm>
            <a:off x="6210300" y="5562600"/>
            <a:ext cx="238125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C96845"/>
                </a:solidFill>
                <a:latin typeface="Aptos"/>
                <a:ea typeface="Aptos"/>
                <a:cs typeface="Aptos"/>
              </a:rPr>
              <a:t>IDŐSOROS ELLENŐRZÉS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5D4224-2EAB-44E6-8BEC-7FAA12055B6B}"/>
              </a:ext>
            </a:extLst>
          </p:cNvPr>
          <p:cNvSpPr>
            <a:spLocks noGrp="1"/>
          </p:cNvSpPr>
          <p:nvPr/>
        </p:nvSpPr>
        <p:spPr>
          <a:xfrm>
            <a:off x="6210300" y="5829300"/>
            <a:ext cx="40957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mérések és események együtt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E304AA-8DFD-42D4-9459-5713A9544352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Forrás: a működő rendszer felhasználói felülete; felhasználó által biztosított képernyőképek, 2026. szeptember.</a:t>
            </a:r>
          </a:p>
        </p:txBody>
      </p:sp>
    </p:spTree>
    <p:extLst>
      <p:ext uri="{BB962C8B-B14F-4D97-AF65-F5344CB8AC3E}">
        <p14:creationId xmlns:p14="http://schemas.microsoft.com/office/powerpoint/2010/main" val="856758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10C0DC-9D23-4F56-936A-08D8701C48C7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619125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66735B"/>
                </a:solidFill>
                <a:latin typeface="Aptos"/>
                <a:ea typeface="Aptos"/>
                <a:cs typeface="Aptos"/>
              </a:rPr>
              <a:t>ÉRETTSÉGI ÚT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2C4B00-0F36-42A0-B571-D5385CCCE5AC}"/>
              </a:ext>
            </a:extLst>
          </p:cNvPr>
          <p:cNvSpPr>
            <a:spLocks noGrp="1"/>
          </p:cNvSpPr>
          <p:nvPr/>
        </p:nvSpPr>
        <p:spPr>
          <a:xfrm>
            <a:off x="11144250" y="361950"/>
            <a:ext cx="36195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6E716A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1BD037-4AC8-4059-A177-F5B1880B173D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838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A javaslati üzem után kontrollált próbaüzem vezethet valódi vezérléshez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1E4E3AA-97BD-4447-88FB-F990D571DB01}"/>
              </a:ext>
            </a:extLst>
          </p:cNvPr>
          <p:cNvSpPr>
            <a:spLocks noGrp="1"/>
          </p:cNvSpPr>
          <p:nvPr/>
        </p:nvSpPr>
        <p:spPr>
          <a:xfrm>
            <a:off x="723900" y="2571750"/>
            <a:ext cx="781050" cy="781050"/>
          </a:xfrm>
          <a:prstGeom prst="ellipse">
            <a:avLst/>
          </a:prstGeom>
          <a:solidFill>
            <a:srgbClr val="66735B"/>
          </a:solidFill>
          <a:ln>
            <a:solidFill>
              <a:srgbClr val="667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965F58-B94B-4194-B398-AE3E0EB574B7}"/>
              </a:ext>
            </a:extLst>
          </p:cNvPr>
          <p:cNvSpPr>
            <a:spLocks noGrp="1"/>
          </p:cNvSpPr>
          <p:nvPr/>
        </p:nvSpPr>
        <p:spPr>
          <a:xfrm>
            <a:off x="962024" y="2771775"/>
            <a:ext cx="304800" cy="323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C9D901-682F-4680-AA93-B26724256547}"/>
              </a:ext>
            </a:extLst>
          </p:cNvPr>
          <p:cNvSpPr>
            <a:spLocks noGrp="1"/>
          </p:cNvSpPr>
          <p:nvPr/>
        </p:nvSpPr>
        <p:spPr>
          <a:xfrm>
            <a:off x="457200" y="3638550"/>
            <a:ext cx="180975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MONITOROZÁS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19CDA7-50B7-432C-A67D-87462179810D}"/>
              </a:ext>
            </a:extLst>
          </p:cNvPr>
          <p:cNvSpPr>
            <a:spLocks noGrp="1"/>
          </p:cNvSpPr>
          <p:nvPr/>
        </p:nvSpPr>
        <p:spPr>
          <a:xfrm>
            <a:off x="342900" y="4171950"/>
            <a:ext cx="2038349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adat + állapot</a:t>
            </a:r>
          </a:p>
        </p:txBody>
      </p:sp>
      <p:sp>
        <p:nvSpPr>
          <p:cNvPr id="10" name="Connector 9">
            <a:extLst>
              <a:ext uri="{FF2B5EF4-FFF2-40B4-BE49-F238E27FC236}">
                <a16:creationId xmlns:a16="http://schemas.microsoft.com/office/drawing/2014/main" id="{296CF1C1-DC5D-4A6B-94F4-18315F72A66D}"/>
              </a:ext>
            </a:extLst>
          </p:cNvPr>
          <p:cNvSpPr>
            <a:spLocks noGrp="1"/>
          </p:cNvSpPr>
          <p:nvPr/>
        </p:nvSpPr>
        <p:spPr>
          <a:xfrm>
            <a:off x="1504950" y="2962275"/>
            <a:ext cx="1657350" cy="0"/>
          </a:xfrm>
          <a:prstGeom prst="line">
            <a:avLst/>
          </a:prstGeom>
          <a:ln w="25400">
            <a:solidFill>
              <a:srgbClr val="C9C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3DE880C-107D-4316-A4DF-D72161810315}"/>
              </a:ext>
            </a:extLst>
          </p:cNvPr>
          <p:cNvSpPr>
            <a:spLocks noGrp="1"/>
          </p:cNvSpPr>
          <p:nvPr/>
        </p:nvSpPr>
        <p:spPr>
          <a:xfrm>
            <a:off x="3505200" y="2571750"/>
            <a:ext cx="781050" cy="781050"/>
          </a:xfrm>
          <a:prstGeom prst="ellipse">
            <a:avLst/>
          </a:prstGeom>
          <a:solidFill>
            <a:srgbClr val="F2B705"/>
          </a:solidFill>
          <a:ln>
            <a:solidFill>
              <a:srgbClr val="F2B7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5A40DE-B1EA-4D43-B359-C405AC0BFF06}"/>
              </a:ext>
            </a:extLst>
          </p:cNvPr>
          <p:cNvSpPr>
            <a:spLocks noGrp="1"/>
          </p:cNvSpPr>
          <p:nvPr/>
        </p:nvSpPr>
        <p:spPr>
          <a:xfrm>
            <a:off x="3743325" y="2771775"/>
            <a:ext cx="304800" cy="323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23EB7D-F845-4491-A629-CE40BDBD0B3A}"/>
              </a:ext>
            </a:extLst>
          </p:cNvPr>
          <p:cNvSpPr>
            <a:spLocks noGrp="1"/>
          </p:cNvSpPr>
          <p:nvPr/>
        </p:nvSpPr>
        <p:spPr>
          <a:xfrm>
            <a:off x="3238500" y="3638550"/>
            <a:ext cx="180975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DÖNTÉSI JAVASLAT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56B0F5-3E60-4D5D-83FC-CE6A63F23289}"/>
              </a:ext>
            </a:extLst>
          </p:cNvPr>
          <p:cNvSpPr>
            <a:spLocks noGrp="1"/>
          </p:cNvSpPr>
          <p:nvPr/>
        </p:nvSpPr>
        <p:spPr>
          <a:xfrm>
            <a:off x="3124200" y="4171950"/>
            <a:ext cx="2038349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observer — jelenleg</a:t>
            </a:r>
          </a:p>
        </p:txBody>
      </p:sp>
      <p:sp>
        <p:nvSpPr>
          <p:cNvPr id="15" name="Connector 14">
            <a:extLst>
              <a:ext uri="{FF2B5EF4-FFF2-40B4-BE49-F238E27FC236}">
                <a16:creationId xmlns:a16="http://schemas.microsoft.com/office/drawing/2014/main" id="{C14354CF-8918-4DD7-9DE1-B2ED4EE66C64}"/>
              </a:ext>
            </a:extLst>
          </p:cNvPr>
          <p:cNvSpPr>
            <a:spLocks noGrp="1"/>
          </p:cNvSpPr>
          <p:nvPr/>
        </p:nvSpPr>
        <p:spPr>
          <a:xfrm>
            <a:off x="4286250" y="2962275"/>
            <a:ext cx="1657350" cy="0"/>
          </a:xfrm>
          <a:prstGeom prst="line">
            <a:avLst/>
          </a:prstGeom>
          <a:ln w="25400">
            <a:solidFill>
              <a:srgbClr val="C9C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16469A-FC5A-45F3-BDD1-ABC4B5757C29}"/>
              </a:ext>
            </a:extLst>
          </p:cNvPr>
          <p:cNvSpPr>
            <a:spLocks noGrp="1"/>
          </p:cNvSpPr>
          <p:nvPr/>
        </p:nvSpPr>
        <p:spPr>
          <a:xfrm>
            <a:off x="6286500" y="2571750"/>
            <a:ext cx="781050" cy="781050"/>
          </a:xfrm>
          <a:prstGeom prst="ellipse">
            <a:avLst/>
          </a:prstGeom>
          <a:solidFill>
            <a:srgbClr val="C96845"/>
          </a:solidFill>
          <a:ln>
            <a:solidFill>
              <a:srgbClr val="C96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8BE61D-8850-4F9E-AF5A-6CC16E43B6EE}"/>
              </a:ext>
            </a:extLst>
          </p:cNvPr>
          <p:cNvSpPr>
            <a:spLocks noGrp="1"/>
          </p:cNvSpPr>
          <p:nvPr/>
        </p:nvSpPr>
        <p:spPr>
          <a:xfrm>
            <a:off x="6524625" y="2771775"/>
            <a:ext cx="304800" cy="323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79CFF6-FFAC-4790-A530-21C1C75D3A2A}"/>
              </a:ext>
            </a:extLst>
          </p:cNvPr>
          <p:cNvSpPr>
            <a:spLocks noGrp="1"/>
          </p:cNvSpPr>
          <p:nvPr/>
        </p:nvSpPr>
        <p:spPr>
          <a:xfrm>
            <a:off x="6019800" y="3638550"/>
            <a:ext cx="180975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PRÓBAÜZEM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090400-BDE8-4B42-B3DD-412A1A1CE4C9}"/>
              </a:ext>
            </a:extLst>
          </p:cNvPr>
          <p:cNvSpPr>
            <a:spLocks noGrp="1"/>
          </p:cNvSpPr>
          <p:nvPr/>
        </p:nvSpPr>
        <p:spPr>
          <a:xfrm>
            <a:off x="5905500" y="4171950"/>
            <a:ext cx="2038349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korlátozott végrehajtás</a:t>
            </a:r>
          </a:p>
        </p:txBody>
      </p:sp>
      <p:sp>
        <p:nvSpPr>
          <p:cNvPr id="20" name="Connector 19">
            <a:extLst>
              <a:ext uri="{FF2B5EF4-FFF2-40B4-BE49-F238E27FC236}">
                <a16:creationId xmlns:a16="http://schemas.microsoft.com/office/drawing/2014/main" id="{F75BFE42-FBBF-43B8-ACA6-4124508DDD90}"/>
              </a:ext>
            </a:extLst>
          </p:cNvPr>
          <p:cNvSpPr>
            <a:spLocks noGrp="1"/>
          </p:cNvSpPr>
          <p:nvPr/>
        </p:nvSpPr>
        <p:spPr>
          <a:xfrm>
            <a:off x="7067550" y="2962275"/>
            <a:ext cx="1657350" cy="0"/>
          </a:xfrm>
          <a:prstGeom prst="line">
            <a:avLst/>
          </a:prstGeom>
          <a:ln w="25400">
            <a:solidFill>
              <a:srgbClr val="C9C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942A5D6-D8CB-42F0-813B-C6A187319B15}"/>
              </a:ext>
            </a:extLst>
          </p:cNvPr>
          <p:cNvSpPr>
            <a:spLocks noGrp="1"/>
          </p:cNvSpPr>
          <p:nvPr/>
        </p:nvSpPr>
        <p:spPr>
          <a:xfrm>
            <a:off x="9067800" y="2571750"/>
            <a:ext cx="781050" cy="781050"/>
          </a:xfrm>
          <a:prstGeom prst="ellipse">
            <a:avLst/>
          </a:prstGeom>
          <a:solidFill>
            <a:srgbClr val="292A26"/>
          </a:solidFill>
          <a:ln>
            <a:solidFill>
              <a:srgbClr val="29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C7BB61-470E-4FE4-868F-536413368774}"/>
              </a:ext>
            </a:extLst>
          </p:cNvPr>
          <p:cNvSpPr>
            <a:spLocks noGrp="1"/>
          </p:cNvSpPr>
          <p:nvPr/>
        </p:nvSpPr>
        <p:spPr>
          <a:xfrm>
            <a:off x="9305925" y="2771775"/>
            <a:ext cx="304800" cy="323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3A43A8B-061D-4FB1-82B5-006C361C13AF}"/>
              </a:ext>
            </a:extLst>
          </p:cNvPr>
          <p:cNvSpPr>
            <a:spLocks noGrp="1"/>
          </p:cNvSpPr>
          <p:nvPr/>
        </p:nvSpPr>
        <p:spPr>
          <a:xfrm>
            <a:off x="8801100" y="3638550"/>
            <a:ext cx="180975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292A26"/>
                </a:solidFill>
                <a:latin typeface="Aptos Display"/>
                <a:ea typeface="Aptos Display"/>
                <a:cs typeface="Aptos Display"/>
              </a:rPr>
              <a:t>TÉNYLEGES VEZÉRLÉS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28F271A-A087-456F-B568-5D05BD8D7DDE}"/>
              </a:ext>
            </a:extLst>
          </p:cNvPr>
          <p:cNvSpPr>
            <a:spLocks noGrp="1"/>
          </p:cNvSpPr>
          <p:nvPr/>
        </p:nvSpPr>
        <p:spPr>
          <a:xfrm>
            <a:off x="8686800" y="4171950"/>
            <a:ext cx="2038349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jóváhagyott automatizmus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56EF47-073F-4520-8862-464FD5909F13}"/>
              </a:ext>
            </a:extLst>
          </p:cNvPr>
          <p:cNvSpPr>
            <a:spLocks noGrp="1"/>
          </p:cNvSpPr>
          <p:nvPr/>
        </p:nvSpPr>
        <p:spPr>
          <a:xfrm>
            <a:off x="723900" y="5010150"/>
            <a:ext cx="219075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C96845"/>
                </a:solidFill>
                <a:latin typeface="Aptos"/>
                <a:ea typeface="Aptos"/>
                <a:cs typeface="Aptos"/>
              </a:rPr>
              <a:t>VEZÉRLÉSI KAPUK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4D3F7A1-7FCC-46DB-82AC-906F4092B5F9}"/>
              </a:ext>
            </a:extLst>
          </p:cNvPr>
          <p:cNvSpPr>
            <a:spLocks noGrp="1"/>
          </p:cNvSpPr>
          <p:nvPr/>
        </p:nvSpPr>
        <p:spPr>
          <a:xfrm>
            <a:off x="3143250" y="5057775"/>
            <a:ext cx="133350" cy="133350"/>
          </a:xfrm>
          <a:prstGeom prst="ellipse">
            <a:avLst/>
          </a:prstGeom>
          <a:solidFill>
            <a:srgbClr val="C96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6ED57F6-3492-4566-8DAE-5738F66B7177}"/>
              </a:ext>
            </a:extLst>
          </p:cNvPr>
          <p:cNvSpPr>
            <a:spLocks noGrp="1"/>
          </p:cNvSpPr>
          <p:nvPr/>
        </p:nvSpPr>
        <p:spPr>
          <a:xfrm>
            <a:off x="3371850" y="5000625"/>
            <a:ext cx="1809750" cy="3619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292A26"/>
                </a:solidFill>
                <a:latin typeface="Aptos"/>
                <a:ea typeface="Aptos"/>
                <a:cs typeface="Aptos"/>
              </a:rPr>
              <a:t>állapot ismételt ellenőrzése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7536C09-C730-451F-8909-130089B8EC60}"/>
              </a:ext>
            </a:extLst>
          </p:cNvPr>
          <p:cNvSpPr>
            <a:spLocks noGrp="1"/>
          </p:cNvSpPr>
          <p:nvPr/>
        </p:nvSpPr>
        <p:spPr>
          <a:xfrm>
            <a:off x="5257800" y="5057775"/>
            <a:ext cx="133350" cy="133350"/>
          </a:xfrm>
          <a:prstGeom prst="ellipse">
            <a:avLst/>
          </a:prstGeom>
          <a:solidFill>
            <a:srgbClr val="C96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8EF8BBE-026E-484B-AD50-A9273971AA9F}"/>
              </a:ext>
            </a:extLst>
          </p:cNvPr>
          <p:cNvSpPr>
            <a:spLocks noGrp="1"/>
          </p:cNvSpPr>
          <p:nvPr/>
        </p:nvSpPr>
        <p:spPr>
          <a:xfrm>
            <a:off x="5486400" y="5000625"/>
            <a:ext cx="1809750" cy="3619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292A26"/>
                </a:solidFill>
                <a:latin typeface="Aptos"/>
                <a:ea typeface="Aptos"/>
                <a:cs typeface="Aptos"/>
              </a:rPr>
              <a:t>parancs végrehajtása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43A5C05-2C52-420B-9DFF-E2BF69C8FADD}"/>
              </a:ext>
            </a:extLst>
          </p:cNvPr>
          <p:cNvSpPr>
            <a:spLocks noGrp="1"/>
          </p:cNvSpPr>
          <p:nvPr/>
        </p:nvSpPr>
        <p:spPr>
          <a:xfrm>
            <a:off x="7372350" y="5057775"/>
            <a:ext cx="133350" cy="133350"/>
          </a:xfrm>
          <a:prstGeom prst="ellipse">
            <a:avLst/>
          </a:prstGeom>
          <a:solidFill>
            <a:srgbClr val="C96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C6E1A60-CA2A-4533-9CD9-22D49FF7EF20}"/>
              </a:ext>
            </a:extLst>
          </p:cNvPr>
          <p:cNvSpPr>
            <a:spLocks noGrp="1"/>
          </p:cNvSpPr>
          <p:nvPr/>
        </p:nvSpPr>
        <p:spPr>
          <a:xfrm>
            <a:off x="7600950" y="5000625"/>
            <a:ext cx="1809750" cy="3619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292A26"/>
                </a:solidFill>
                <a:latin typeface="Aptos"/>
                <a:ea typeface="Aptos"/>
                <a:cs typeface="Aptos"/>
              </a:rPr>
              <a:t>eredmény visszaolvasása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51E37F8-8F26-4ED4-AAAC-729570708124}"/>
              </a:ext>
            </a:extLst>
          </p:cNvPr>
          <p:cNvSpPr>
            <a:spLocks noGrp="1"/>
          </p:cNvSpPr>
          <p:nvPr/>
        </p:nvSpPr>
        <p:spPr>
          <a:xfrm>
            <a:off x="9486900" y="5057775"/>
            <a:ext cx="133350" cy="133350"/>
          </a:xfrm>
          <a:prstGeom prst="ellipse">
            <a:avLst/>
          </a:prstGeom>
          <a:solidFill>
            <a:srgbClr val="C96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8142CAD-1A6A-4BC3-806A-A789312A8CCA}"/>
              </a:ext>
            </a:extLst>
          </p:cNvPr>
          <p:cNvSpPr>
            <a:spLocks noGrp="1"/>
          </p:cNvSpPr>
          <p:nvPr/>
        </p:nvSpPr>
        <p:spPr>
          <a:xfrm>
            <a:off x="9715500" y="5000625"/>
            <a:ext cx="1809750" cy="3619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292A26"/>
                </a:solidFill>
                <a:latin typeface="Aptos"/>
                <a:ea typeface="Aptos"/>
                <a:cs typeface="Aptos"/>
              </a:rPr>
              <a:t>minden lépés auditnaplóban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BE39DEE-8C7F-41B3-9547-71E6C9439BD3}"/>
              </a:ext>
            </a:extLst>
          </p:cNvPr>
          <p:cNvSpPr>
            <a:spLocks noGrp="1"/>
          </p:cNvSpPr>
          <p:nvPr/>
        </p:nvSpPr>
        <p:spPr>
          <a:xfrm>
            <a:off x="1295400" y="5772150"/>
            <a:ext cx="96012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C96845"/>
                </a:solidFill>
                <a:latin typeface="Aptos Display"/>
                <a:ea typeface="Aptos Display"/>
                <a:cs typeface="Aptos Display"/>
              </a:rPr>
              <a:t>Az architektúra már a parancsvégrehajtást is kezeli — az automatizálás engedélyezése külön üzleti és biztonsági döntés.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3F6461A-4B6E-4BB4-8750-FB8C63259576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E716A"/>
                </a:solidFill>
                <a:latin typeface="Aptos"/>
                <a:ea typeface="Aptos"/>
                <a:cs typeface="Aptos"/>
              </a:rPr>
              <a:t>A próbaüzem célja a küszöbök, konfliktusok, minimális futási idők és visszaolvasási feltételek méréssel történő igazolása.</a:t>
            </a:r>
          </a:p>
        </p:txBody>
      </p:sp>
    </p:spTree>
    <p:extLst>
      <p:ext uri="{BB962C8B-B14F-4D97-AF65-F5344CB8AC3E}">
        <p14:creationId xmlns:p14="http://schemas.microsoft.com/office/powerpoint/2010/main" val="44759524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2039</Words>
  <Application>Microsoft Macintosh PowerPoint</Application>
  <DocSecurity>0</DocSecurity>
  <PresentationFormat>Widescreen</PresentationFormat>
  <Paragraphs>511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Peter Bajan</cp:lastModifiedBy>
  <cp:revision>8</cp:revision>
  <dcterms:created xsi:type="dcterms:W3CDTF">2026-09-18T14:12:56Z</dcterms:created>
  <dcterms:modified xsi:type="dcterms:W3CDTF">2026-10-09T06:14:14Z</dcterms:modified>
</cp:coreProperties>
</file>